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3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88" r:id="rId6"/>
    <p:sldId id="262" r:id="rId7"/>
    <p:sldId id="263" r:id="rId8"/>
    <p:sldId id="264" r:id="rId9"/>
    <p:sldId id="289" r:id="rId10"/>
    <p:sldId id="265" r:id="rId11"/>
    <p:sldId id="260" r:id="rId12"/>
    <p:sldId id="266" r:id="rId13"/>
    <p:sldId id="267" r:id="rId14"/>
    <p:sldId id="268" r:id="rId15"/>
    <p:sldId id="270" r:id="rId16"/>
    <p:sldId id="271" r:id="rId17"/>
    <p:sldId id="272" r:id="rId18"/>
    <p:sldId id="275" r:id="rId19"/>
    <p:sldId id="290" r:id="rId20"/>
    <p:sldId id="292" r:id="rId21"/>
    <p:sldId id="294" r:id="rId22"/>
    <p:sldId id="295" r:id="rId23"/>
    <p:sldId id="296" r:id="rId24"/>
    <p:sldId id="277" r:id="rId25"/>
    <p:sldId id="278" r:id="rId26"/>
    <p:sldId id="279" r:id="rId27"/>
    <p:sldId id="280" r:id="rId28"/>
    <p:sldId id="282" r:id="rId29"/>
    <p:sldId id="283" r:id="rId30"/>
    <p:sldId id="284" r:id="rId31"/>
    <p:sldId id="285" r:id="rId32"/>
    <p:sldId id="291" r:id="rId33"/>
    <p:sldId id="286" r:id="rId34"/>
  </p:sldIdLst>
  <p:sldSz cx="12192000" cy="6858000"/>
  <p:notesSz cx="6858000" cy="9144000"/>
  <p:embeddedFontLst>
    <p:embeddedFont>
      <p:font typeface="Noto Sans SC" panose="020B0200000000000000" pitchFamily="34" charset="-122"/>
      <p:regular r:id="rId36"/>
      <p:bold r:id="rId37"/>
    </p:embeddedFont>
    <p:embeddedFont>
      <p:font typeface="微软雅黑" panose="020B0503020204020204" pitchFamily="34" charset="-122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8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87" d="100"/>
          <a:sy n="87" d="100"/>
        </p:scale>
        <p:origin x="62" y="189"/>
      </p:cViewPr>
      <p:guideLst>
        <p:guide orient="horz" pos="2238"/>
        <p:guide pos="2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endParaRPr lang="en-US" sz="1100"/>
          </a:p>
          <a:p>
            <a:pPr algn="l"/>
            <a:r>
              <a:rPr lang="en-US" sz="900"/>
              <a:t>144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32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3" Type="http://schemas.openxmlformats.org/officeDocument/2006/relationships/tags" Target="../tags/tag22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image" Target="../media/image9.png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image" Target="../media/image2.png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notesSlide" Target="../notesSlides/notesSl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image" Target="../media/image2.png"/><Relationship Id="rId2" Type="http://schemas.openxmlformats.org/officeDocument/2006/relationships/tags" Target="../tags/tag4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image" Target="../media/image2.png"/><Relationship Id="rId2" Type="http://schemas.openxmlformats.org/officeDocument/2006/relationships/tags" Target="../tags/tag6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78.xml"/><Relationship Id="rId7" Type="http://schemas.openxmlformats.org/officeDocument/2006/relationships/image" Target="../media/image2.png"/><Relationship Id="rId12" Type="http://schemas.openxmlformats.org/officeDocument/2006/relationships/image" Target="../media/image14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3.png"/><Relationship Id="rId5" Type="http://schemas.openxmlformats.org/officeDocument/2006/relationships/tags" Target="../tags/tag80.xml"/><Relationship Id="rId10" Type="http://schemas.openxmlformats.org/officeDocument/2006/relationships/image" Target="../media/image12.png"/><Relationship Id="rId4" Type="http://schemas.openxmlformats.org/officeDocument/2006/relationships/tags" Target="../tags/tag79.xml"/><Relationship Id="rId9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6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18" Type="http://schemas.openxmlformats.org/officeDocument/2006/relationships/image" Target="../media/image31.png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image" Target="../media/image30.png"/><Relationship Id="rId2" Type="http://schemas.openxmlformats.org/officeDocument/2006/relationships/tags" Target="../tags/tag86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image" Target="../media/image2.png"/><Relationship Id="rId10" Type="http://schemas.openxmlformats.org/officeDocument/2006/relationships/tags" Target="../tags/tag94.xml"/><Relationship Id="rId19" Type="http://schemas.openxmlformats.org/officeDocument/2006/relationships/image" Target="../media/image32.png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image" Target="../media/image2.png"/><Relationship Id="rId2" Type="http://schemas.openxmlformats.org/officeDocument/2006/relationships/tags" Target="../tags/tag99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26" Type="http://schemas.openxmlformats.org/officeDocument/2006/relationships/tags" Target="../tags/tag138.xml"/><Relationship Id="rId3" Type="http://schemas.openxmlformats.org/officeDocument/2006/relationships/tags" Target="../tags/tag115.xml"/><Relationship Id="rId21" Type="http://schemas.openxmlformats.org/officeDocument/2006/relationships/tags" Target="../tags/tag133.xml"/><Relationship Id="rId34" Type="http://schemas.openxmlformats.org/officeDocument/2006/relationships/image" Target="../media/image2.png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5" Type="http://schemas.openxmlformats.org/officeDocument/2006/relationships/tags" Target="../tags/tag137.xml"/><Relationship Id="rId33" Type="http://schemas.openxmlformats.org/officeDocument/2006/relationships/slideLayout" Target="../slideLayouts/slideLayout7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0" Type="http://schemas.openxmlformats.org/officeDocument/2006/relationships/tags" Target="../tags/tag132.xml"/><Relationship Id="rId29" Type="http://schemas.openxmlformats.org/officeDocument/2006/relationships/tags" Target="../tags/tag141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24" Type="http://schemas.openxmlformats.org/officeDocument/2006/relationships/tags" Target="../tags/tag136.xml"/><Relationship Id="rId32" Type="http://schemas.openxmlformats.org/officeDocument/2006/relationships/tags" Target="../tags/tag144.xml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23" Type="http://schemas.openxmlformats.org/officeDocument/2006/relationships/tags" Target="../tags/tag135.xml"/><Relationship Id="rId28" Type="http://schemas.openxmlformats.org/officeDocument/2006/relationships/tags" Target="../tags/tag140.xml"/><Relationship Id="rId10" Type="http://schemas.openxmlformats.org/officeDocument/2006/relationships/tags" Target="../tags/tag122.xml"/><Relationship Id="rId19" Type="http://schemas.openxmlformats.org/officeDocument/2006/relationships/tags" Target="../tags/tag131.xml"/><Relationship Id="rId31" Type="http://schemas.openxmlformats.org/officeDocument/2006/relationships/tags" Target="../tags/tag143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Relationship Id="rId22" Type="http://schemas.openxmlformats.org/officeDocument/2006/relationships/tags" Target="../tags/tag134.xml"/><Relationship Id="rId27" Type="http://schemas.openxmlformats.org/officeDocument/2006/relationships/tags" Target="../tags/tag139.xml"/><Relationship Id="rId30" Type="http://schemas.openxmlformats.org/officeDocument/2006/relationships/tags" Target="../tags/tag142.xml"/><Relationship Id="rId8" Type="http://schemas.openxmlformats.org/officeDocument/2006/relationships/tags" Target="../tags/tag1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52.xml"/><Relationship Id="rId13" Type="http://schemas.openxmlformats.org/officeDocument/2006/relationships/tags" Target="../tags/tag157.xml"/><Relationship Id="rId18" Type="http://schemas.openxmlformats.org/officeDocument/2006/relationships/tags" Target="../tags/tag162.xml"/><Relationship Id="rId3" Type="http://schemas.openxmlformats.org/officeDocument/2006/relationships/tags" Target="../tags/tag147.xml"/><Relationship Id="rId21" Type="http://schemas.openxmlformats.org/officeDocument/2006/relationships/tags" Target="../tags/tag165.xml"/><Relationship Id="rId7" Type="http://schemas.openxmlformats.org/officeDocument/2006/relationships/tags" Target="../tags/tag151.xml"/><Relationship Id="rId12" Type="http://schemas.openxmlformats.org/officeDocument/2006/relationships/tags" Target="../tags/tag156.xml"/><Relationship Id="rId17" Type="http://schemas.openxmlformats.org/officeDocument/2006/relationships/tags" Target="../tags/tag161.xml"/><Relationship Id="rId2" Type="http://schemas.openxmlformats.org/officeDocument/2006/relationships/tags" Target="../tags/tag146.xml"/><Relationship Id="rId16" Type="http://schemas.openxmlformats.org/officeDocument/2006/relationships/tags" Target="../tags/tag160.xml"/><Relationship Id="rId20" Type="http://schemas.openxmlformats.org/officeDocument/2006/relationships/tags" Target="../tags/tag164.xml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1" Type="http://schemas.openxmlformats.org/officeDocument/2006/relationships/tags" Target="../tags/tag155.xml"/><Relationship Id="rId24" Type="http://schemas.openxmlformats.org/officeDocument/2006/relationships/image" Target="../media/image2.png"/><Relationship Id="rId5" Type="http://schemas.openxmlformats.org/officeDocument/2006/relationships/tags" Target="../tags/tag149.xml"/><Relationship Id="rId15" Type="http://schemas.openxmlformats.org/officeDocument/2006/relationships/tags" Target="../tags/tag159.xml"/><Relationship Id="rId23" Type="http://schemas.openxmlformats.org/officeDocument/2006/relationships/slideLayout" Target="../slideLayouts/slideLayout7.xml"/><Relationship Id="rId10" Type="http://schemas.openxmlformats.org/officeDocument/2006/relationships/tags" Target="../tags/tag154.xml"/><Relationship Id="rId19" Type="http://schemas.openxmlformats.org/officeDocument/2006/relationships/tags" Target="../tags/tag163.xml"/><Relationship Id="rId4" Type="http://schemas.openxmlformats.org/officeDocument/2006/relationships/tags" Target="../tags/tag148.xml"/><Relationship Id="rId9" Type="http://schemas.openxmlformats.org/officeDocument/2006/relationships/tags" Target="../tags/tag153.xml"/><Relationship Id="rId14" Type="http://schemas.openxmlformats.org/officeDocument/2006/relationships/tags" Target="../tags/tag158.xml"/><Relationship Id="rId22" Type="http://schemas.openxmlformats.org/officeDocument/2006/relationships/tags" Target="../tags/tag16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4594" y="1535197"/>
            <a:ext cx="8242813" cy="202916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智能门锁产品汇报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76600" y="3564358"/>
            <a:ext cx="2971799" cy="74498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 fontScale="92500"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 dirty="0" err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汇报人</a:t>
            </a:r>
            <a:r>
              <a:rPr lang="en-US" sz="2100" dirty="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r>
              <a:rPr lang="zh-CN" altLang="en-US" sz="2100" dirty="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万佳萌、王嘉安</a:t>
            </a:r>
            <a:endParaRPr lang="en-US" sz="2100" dirty="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45921" y="3682412"/>
            <a:ext cx="2259190" cy="50230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2025-07-23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632575" y="1117569"/>
            <a:ext cx="2417263" cy="830289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CONTENTS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7124" y="387399"/>
            <a:ext cx="2512947" cy="9772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17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 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8723" y="1175267"/>
            <a:ext cx="6788343" cy="512135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zh-CN" alt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功能概述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业务流程</a:t>
            </a: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人员结构与分工</a:t>
            </a: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古今对比</a:t>
            </a:r>
          </a:p>
        </p:txBody>
      </p:sp>
      <p:pic>
        <p:nvPicPr>
          <p:cNvPr id="64" name="图片 63"/>
          <p:cNvPicPr/>
          <p:nvPr/>
        </p:nvPicPr>
        <p:blipFill>
          <a:blip r:embed="rId3"/>
          <a:stretch>
            <a:fillRect/>
          </a:stretch>
        </p:blipFill>
        <p:spPr>
          <a:xfrm>
            <a:off x="228600" y="1143000"/>
            <a:ext cx="3028315" cy="5412740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3508375" y="12954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传统门锁：简单易用</a:t>
            </a:r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价格便宜</a:t>
            </a:r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安全性较低</a:t>
            </a:r>
          </a:p>
          <a:p>
            <a:pPr indent="457200"/>
            <a:r>
              <a:rPr lang="en-US" altLang="zh-CN"/>
              <a:t> 	    </a:t>
            </a:r>
            <a:r>
              <a:rPr lang="zh-CN" altLang="en-US"/>
              <a:t>不方便</a:t>
            </a:r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无记录</a:t>
            </a:r>
          </a:p>
        </p:txBody>
      </p:sp>
      <p:cxnSp>
        <p:nvCxnSpPr>
          <p:cNvPr id="66" name="直接连接符 65"/>
          <p:cNvCxnSpPr/>
          <p:nvPr/>
        </p:nvCxnSpPr>
        <p:spPr>
          <a:xfrm>
            <a:off x="3429000" y="3124200"/>
            <a:ext cx="3276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359785" y="373380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智能门锁：方便快捷</a:t>
            </a:r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有记录</a:t>
            </a:r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临时密码功能</a:t>
            </a:r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远程开锁</a:t>
            </a:r>
          </a:p>
        </p:txBody>
      </p:sp>
      <p:sp>
        <p:nvSpPr>
          <p:cNvPr id="68" name="弦形 67"/>
          <p:cNvSpPr/>
          <p:nvPr/>
        </p:nvSpPr>
        <p:spPr>
          <a:xfrm>
            <a:off x="6684010" y="2514600"/>
            <a:ext cx="914400" cy="914400"/>
          </a:xfrm>
          <a:prstGeom prst="chord">
            <a:avLst>
              <a:gd name="adj1" fmla="val 2156451"/>
              <a:gd name="adj2" fmla="val 1620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>
                    <a:lumMod val="90000"/>
                    <a:lumOff val="10000"/>
                  </a:schemeClr>
                </a:solidFill>
              </a:rPr>
              <a:t>调研</a:t>
            </a:r>
          </a:p>
        </p:txBody>
      </p:sp>
      <p:cxnSp>
        <p:nvCxnSpPr>
          <p:cNvPr id="69" name="肘形连接符 68"/>
          <p:cNvCxnSpPr>
            <a:stCxn id="68" idx="2"/>
          </p:cNvCxnSpPr>
          <p:nvPr/>
        </p:nvCxnSpPr>
        <p:spPr>
          <a:xfrm>
            <a:off x="7325995" y="2877185"/>
            <a:ext cx="3930015" cy="1237615"/>
          </a:xfrm>
          <a:prstGeom prst="bentConnector3">
            <a:avLst>
              <a:gd name="adj1" fmla="val 5346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467600" y="1295400"/>
            <a:ext cx="1826260" cy="1450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传统门锁存在安全隐患，易被破解，难以满足现代家庭安全需求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9525000" y="2819400"/>
            <a:ext cx="23901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智能家居市场快速增长，消费者对便捷、智能的门锁解决方案需求增加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7423785" y="3048000"/>
            <a:ext cx="1952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现有智能门锁品牌众多，但产品质量和用户体验参差不齐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97709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Connector 3"/>
          <p:cNvCxnSpPr/>
          <p:nvPr/>
        </p:nvCxnSpPr>
        <p:spPr>
          <a:xfrm>
            <a:off x="2387862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nector 4"/>
          <p:cNvCxnSpPr/>
          <p:nvPr/>
        </p:nvCxnSpPr>
        <p:spPr>
          <a:xfrm>
            <a:off x="3840592" y="1834831"/>
            <a:ext cx="0" cy="381712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Connector 5"/>
          <p:cNvCxnSpPr/>
          <p:nvPr/>
        </p:nvCxnSpPr>
        <p:spPr>
          <a:xfrm>
            <a:off x="5152947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>
            <a:off x="7383315" y="1834831"/>
            <a:ext cx="0" cy="3822812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nector 7"/>
          <p:cNvCxnSpPr/>
          <p:nvPr/>
        </p:nvCxnSpPr>
        <p:spPr>
          <a:xfrm>
            <a:off x="6323061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AutoShape 8"/>
          <p:cNvSpPr/>
          <p:nvPr/>
        </p:nvSpPr>
        <p:spPr>
          <a:xfrm rot="5400000">
            <a:off x="2312927" y="343003"/>
            <a:ext cx="3549418" cy="6597009"/>
          </a:xfrm>
          <a:prstGeom prst="trapezoid">
            <a:avLst>
              <a:gd name="adj" fmla="val 42242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64000">
                <a:schemeClr val="accent1">
                  <a:alpha val="10985"/>
                </a:schemeClr>
              </a:gs>
            </a:gsLst>
            <a:lin ang="16200000"/>
          </a:gradFill>
          <a:ln w="2540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9" name="AutoShape 9"/>
          <p:cNvSpPr/>
          <p:nvPr/>
        </p:nvSpPr>
        <p:spPr>
          <a:xfrm>
            <a:off x="830097" y="6015783"/>
            <a:ext cx="8068110" cy="511654"/>
          </a:xfrm>
          <a:prstGeom prst="homePlate">
            <a:avLst>
              <a:gd name="adj" fmla="val 500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11" name="TextBox 11"/>
          <p:cNvSpPr txBox="1"/>
          <p:nvPr/>
        </p:nvSpPr>
        <p:spPr>
          <a:xfrm>
            <a:off x="7934031" y="3388124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优势定位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34031" y="3695116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策略制定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286392" y="3350760"/>
            <a:ext cx="193846" cy="58149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379779" y="1847046"/>
            <a:ext cx="832812" cy="358892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2040706" y="2219897"/>
            <a:ext cx="694312" cy="284322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3563133" y="2556119"/>
            <a:ext cx="554919" cy="21707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4946167" y="2860919"/>
            <a:ext cx="413561" cy="15611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6187843" y="3106409"/>
            <a:ext cx="270436" cy="107019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 rot="16200000">
            <a:off x="3931023" y="-1645354"/>
            <a:ext cx="317454" cy="6587130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0" name="TextBox 20"/>
          <p:cNvSpPr txBox="1"/>
          <p:nvPr/>
        </p:nvSpPr>
        <p:spPr>
          <a:xfrm>
            <a:off x="6115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安全隐患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0097" y="6166138"/>
            <a:ext cx="7831249" cy="250889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传统门锁痛点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99687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安全需求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30097" y="5511745"/>
            <a:ext cx="152066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830097" y="5593849"/>
            <a:ext cx="152066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家庭用户群体</a:t>
            </a:r>
          </a:p>
        </p:txBody>
      </p:sp>
      <p:sp>
        <p:nvSpPr>
          <p:cNvPr id="25" name="AutoShape 25"/>
          <p:cNvSpPr/>
          <p:nvPr/>
        </p:nvSpPr>
        <p:spPr>
          <a:xfrm>
            <a:off x="2421022" y="5511745"/>
            <a:ext cx="1388846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6" name="TextBox 26"/>
          <p:cNvSpPr txBox="1"/>
          <p:nvPr/>
        </p:nvSpPr>
        <p:spPr>
          <a:xfrm flipH="1">
            <a:off x="2421022" y="5593849"/>
            <a:ext cx="138884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研发必要性</a:t>
            </a:r>
          </a:p>
        </p:txBody>
      </p:sp>
      <p:sp>
        <p:nvSpPr>
          <p:cNvPr id="27" name="AutoShape 27"/>
          <p:cNvSpPr/>
          <p:nvPr/>
        </p:nvSpPr>
        <p:spPr>
          <a:xfrm>
            <a:off x="3871687" y="5511745"/>
            <a:ext cx="1266774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3871687" y="5593849"/>
            <a:ext cx="1266774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研发目标</a:t>
            </a:r>
          </a:p>
        </p:txBody>
      </p:sp>
      <p:sp>
        <p:nvSpPr>
          <p:cNvPr id="29" name="AutoShape 29"/>
          <p:cNvSpPr/>
          <p:nvPr/>
        </p:nvSpPr>
        <p:spPr>
          <a:xfrm>
            <a:off x="5177973" y="5511745"/>
            <a:ext cx="1109783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5138461" y="5593849"/>
            <a:ext cx="1149295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需求调研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362537" y="5511745"/>
            <a:ext cx="99203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 flipH="1">
            <a:off x="6362537" y="5593849"/>
            <a:ext cx="99203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产品定位</a:t>
            </a:r>
          </a:p>
        </p:txBody>
      </p:sp>
      <p:sp>
        <p:nvSpPr>
          <p:cNvPr id="33" name="AutoShape 33"/>
          <p:cNvSpPr/>
          <p:nvPr/>
        </p:nvSpPr>
        <p:spPr>
          <a:xfrm>
            <a:off x="7420082" y="5511745"/>
            <a:ext cx="4408926" cy="334111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 flipH="1">
            <a:off x="7420082" y="5593849"/>
            <a:ext cx="440892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市场价值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540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提升安防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69013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技术与体验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144670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便捷生活</a:t>
            </a:r>
          </a:p>
        </p:txBody>
      </p:sp>
      <p:sp>
        <p:nvSpPr>
          <p:cNvPr id="38" name="Freeform 38"/>
          <p:cNvSpPr/>
          <p:nvPr/>
        </p:nvSpPr>
        <p:spPr>
          <a:xfrm rot="16200000">
            <a:off x="9497144" y="-524926"/>
            <a:ext cx="317454" cy="4346273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/>
        </p:nvSpPr>
        <p:spPr>
          <a:xfrm>
            <a:off x="830097" y="1162939"/>
            <a:ext cx="6524478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市场需求分析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80238" y="1162939"/>
            <a:ext cx="4348770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背景总结</a:t>
            </a:r>
          </a:p>
        </p:txBody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2" name="TextBox 42"/>
          <p:cNvSpPr txBox="1"/>
          <p:nvPr/>
        </p:nvSpPr>
        <p:spPr>
          <a:xfrm>
            <a:off x="7934031" y="457881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体系重构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34031" y="488581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技术引领</a:t>
            </a:r>
          </a:p>
        </p:txBody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5" name="TextBox 45"/>
          <p:cNvSpPr txBox="1"/>
          <p:nvPr/>
        </p:nvSpPr>
        <p:spPr>
          <a:xfrm>
            <a:off x="7934031" y="221058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技术升级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34031" y="251758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市场普及</a:t>
            </a:r>
          </a:p>
        </p:txBody>
      </p:sp>
      <p:sp>
        <p:nvSpPr>
          <p:cNvPr id="47" name="AutoShape 47"/>
          <p:cNvSpPr/>
          <p:nvPr/>
        </p:nvSpPr>
        <p:spPr>
          <a:xfrm rot="10800000">
            <a:off x="9162597" y="310551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48" name="TextBox 48"/>
          <p:cNvSpPr txBox="1"/>
          <p:nvPr/>
        </p:nvSpPr>
        <p:spPr>
          <a:xfrm>
            <a:off x="9683496" y="329307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通过市场分析，明确产品核心优势，制定差异化策略，最终实现智能门锁市场占有率的突破。</a:t>
            </a:r>
          </a:p>
        </p:txBody>
      </p:sp>
      <p:sp>
        <p:nvSpPr>
          <p:cNvPr id="49" name="AutoShape 49"/>
          <p:cNvSpPr/>
          <p:nvPr/>
        </p:nvSpPr>
        <p:spPr>
          <a:xfrm rot="10800000">
            <a:off x="9162597" y="429423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0" name="TextBox 50"/>
          <p:cNvSpPr txBox="1"/>
          <p:nvPr/>
        </p:nvSpPr>
        <p:spPr>
          <a:xfrm>
            <a:off x="9683496" y="448179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本项目将重构家庭安防体系，为消费者、行业及社会创造长期价值，引领智能门锁技术发展。</a:t>
            </a:r>
          </a:p>
        </p:txBody>
      </p:sp>
      <p:sp>
        <p:nvSpPr>
          <p:cNvPr id="51" name="AutoShape 51"/>
          <p:cNvSpPr/>
          <p:nvPr/>
        </p:nvSpPr>
        <p:spPr>
          <a:xfrm rot="10800000">
            <a:off x="9162597" y="1916798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2" name="TextBox 52"/>
          <p:cNvSpPr txBox="1"/>
          <p:nvPr/>
        </p:nvSpPr>
        <p:spPr>
          <a:xfrm>
            <a:off x="9683496" y="2104351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深入挖掘用户需求，为产品迭代提供依据，推动智能安防行业的技术升级与市场普及。</a:t>
            </a:r>
          </a:p>
        </p:txBody>
      </p:sp>
      <p:sp>
        <p:nvSpPr>
          <p:cNvPr id="53" name="AutoShape 53"/>
          <p:cNvSpPr/>
          <p:nvPr/>
        </p:nvSpPr>
        <p:spPr>
          <a:xfrm>
            <a:off x="6663404" y="20746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4" name="AutoShape 54"/>
          <p:cNvSpPr/>
          <p:nvPr/>
        </p:nvSpPr>
        <p:spPr>
          <a:xfrm>
            <a:off x="6663404" y="43883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5" name="AutoShape 55"/>
          <p:cNvSpPr/>
          <p:nvPr/>
        </p:nvSpPr>
        <p:spPr>
          <a:xfrm>
            <a:off x="6663404" y="48455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6" name="Freeform 56"/>
          <p:cNvSpPr/>
          <p:nvPr/>
        </p:nvSpPr>
        <p:spPr>
          <a:xfrm>
            <a:off x="6734094" y="4935613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7" name="Freeform 57"/>
          <p:cNvSpPr/>
          <p:nvPr/>
        </p:nvSpPr>
        <p:spPr>
          <a:xfrm>
            <a:off x="6735201" y="4479245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8" name="AutoShape 58"/>
          <p:cNvSpPr/>
          <p:nvPr/>
        </p:nvSpPr>
        <p:spPr>
          <a:xfrm>
            <a:off x="6663404" y="25318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9" name="Freeform 59"/>
          <p:cNvSpPr/>
          <p:nvPr/>
        </p:nvSpPr>
        <p:spPr>
          <a:xfrm>
            <a:off x="6735201" y="262864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0" name="Freeform 60"/>
          <p:cNvSpPr/>
          <p:nvPr/>
        </p:nvSpPr>
        <p:spPr>
          <a:xfrm>
            <a:off x="6735201" y="214662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研发背景与市场需求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功能概述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49118" y="3014472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3" name="Freeform 3"/>
          <p:cNvSpPr/>
          <p:nvPr/>
        </p:nvSpPr>
        <p:spPr>
          <a:xfrm flipH="1">
            <a:off x="8528780" y="2172462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4" name="Freeform 4"/>
          <p:cNvSpPr/>
          <p:nvPr/>
        </p:nvSpPr>
        <p:spPr>
          <a:xfrm>
            <a:off x="2022062" y="3044285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5" name="Freeform 5"/>
          <p:cNvSpPr/>
          <p:nvPr/>
        </p:nvSpPr>
        <p:spPr>
          <a:xfrm>
            <a:off x="2012347" y="2202275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6" name="Freeform 6"/>
          <p:cNvSpPr/>
          <p:nvPr/>
        </p:nvSpPr>
        <p:spPr>
          <a:xfrm>
            <a:off x="3717876" y="448957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884057" y="884057"/>
                </a:moveTo>
                <a:cubicBezTo>
                  <a:pt x="395823" y="884057"/>
                  <a:pt x="0" y="488234"/>
                  <a:pt x="0" y="0"/>
                </a:cubicBezTo>
              </a:path>
            </a:pathLst>
          </a:custGeom>
          <a:noFill/>
          <a:ln w="406948">
            <a:gradFill>
              <a:gsLst>
                <a:gs pos="900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900000"/>
            </a:gradFill>
            <a:prstDash val="solid"/>
          </a:ln>
        </p:spPr>
      </p:sp>
      <p:sp>
        <p:nvSpPr>
          <p:cNvPr id="7" name="Freeform 7"/>
          <p:cNvSpPr/>
          <p:nvPr/>
        </p:nvSpPr>
        <p:spPr>
          <a:xfrm>
            <a:off x="7586282" y="448957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884057" y="0"/>
                </a:moveTo>
                <a:cubicBezTo>
                  <a:pt x="884057" y="488234"/>
                  <a:pt x="488234" y="884057"/>
                  <a:pt x="0" y="884057"/>
                </a:cubicBezTo>
              </a:path>
            </a:pathLst>
          </a:custGeom>
          <a:noFill/>
          <a:ln w="406948">
            <a:gradFill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8" name="Freeform 8"/>
          <p:cNvSpPr/>
          <p:nvPr/>
        </p:nvSpPr>
        <p:spPr>
          <a:xfrm>
            <a:off x="7532108" y="146225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0" y="0"/>
                </a:moveTo>
                <a:cubicBezTo>
                  <a:pt x="488234" y="0"/>
                  <a:pt x="884057" y="395823"/>
                  <a:pt x="884057" y="884057"/>
                </a:cubicBezTo>
              </a:path>
            </a:pathLst>
          </a:custGeom>
          <a:noFill/>
          <a:ln w="406948">
            <a:gradFill>
              <a:gsLst>
                <a:gs pos="16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00000"/>
            </a:gradFill>
            <a:prstDash val="solid"/>
          </a:ln>
        </p:spPr>
      </p:sp>
      <p:sp>
        <p:nvSpPr>
          <p:cNvPr id="9" name="Freeform 9"/>
          <p:cNvSpPr/>
          <p:nvPr/>
        </p:nvSpPr>
        <p:spPr>
          <a:xfrm>
            <a:off x="3717876" y="146225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0" y="884057"/>
                </a:moveTo>
                <a:cubicBezTo>
                  <a:pt x="0" y="395823"/>
                  <a:pt x="395823" y="0"/>
                  <a:pt x="884057" y="0"/>
                </a:cubicBezTo>
              </a:path>
            </a:pathLst>
          </a:custGeom>
          <a:noFill/>
          <a:ln w="406948">
            <a:gradFill>
              <a:gsLst>
                <a:gs pos="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10" name="AutoShape 10"/>
          <p:cNvSpPr/>
          <p:nvPr/>
        </p:nvSpPr>
        <p:spPr>
          <a:xfrm>
            <a:off x="4961805" y="929494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4961805" y="4953953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4779688" y="2120005"/>
            <a:ext cx="2618226" cy="261822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7768549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9403108" y="1927701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9403108" y="3566749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9403108" y="2747225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9403108" y="438627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8" name="TextBox 18"/>
          <p:cNvSpPr txBox="1"/>
          <p:nvPr/>
        </p:nvSpPr>
        <p:spPr>
          <a:xfrm rot="3176463">
            <a:off x="7470350" y="1663500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WiFi模组</a:t>
            </a:r>
          </a:p>
        </p:txBody>
      </p:sp>
      <p:sp>
        <p:nvSpPr>
          <p:cNvPr id="19" name="TextBox 19"/>
          <p:cNvSpPr txBox="1"/>
          <p:nvPr/>
        </p:nvSpPr>
        <p:spPr>
          <a:xfrm rot="19495322">
            <a:off x="7533774" y="5015407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日志存储</a:t>
            </a:r>
          </a:p>
        </p:txBody>
      </p:sp>
      <p:sp>
        <p:nvSpPr>
          <p:cNvPr id="20" name="TextBox 20"/>
          <p:cNvSpPr txBox="1"/>
          <p:nvPr/>
        </p:nvSpPr>
        <p:spPr>
          <a:xfrm rot="19521600">
            <a:off x="3517600" y="1542329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云平台</a:t>
            </a:r>
          </a:p>
        </p:txBody>
      </p:sp>
      <p:sp>
        <p:nvSpPr>
          <p:cNvPr id="21" name="TextBox 21"/>
          <p:cNvSpPr txBox="1"/>
          <p:nvPr/>
        </p:nvSpPr>
        <p:spPr>
          <a:xfrm rot="3065617">
            <a:off x="3195029" y="4890314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本地缓存</a:t>
            </a:r>
          </a:p>
        </p:txBody>
      </p:sp>
      <p:sp>
        <p:nvSpPr>
          <p:cNvPr id="22" name="AutoShape 22"/>
          <p:cNvSpPr/>
          <p:nvPr/>
        </p:nvSpPr>
        <p:spPr>
          <a:xfrm>
            <a:off x="5745901" y="2031237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3" name="AutoShape 23"/>
          <p:cNvSpPr/>
          <p:nvPr/>
        </p:nvSpPr>
        <p:spPr>
          <a:xfrm rot="5400000">
            <a:off x="7013599" y="3261601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4" name="AutoShape 24"/>
          <p:cNvSpPr/>
          <p:nvPr/>
        </p:nvSpPr>
        <p:spPr>
          <a:xfrm rot="16200000" flipH="1">
            <a:off x="4510122" y="3261602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5" name="AutoShape 25"/>
          <p:cNvSpPr/>
          <p:nvPr/>
        </p:nvSpPr>
        <p:spPr>
          <a:xfrm flipV="1">
            <a:off x="5745901" y="4513569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6" name="TextBox 26"/>
          <p:cNvSpPr txBox="1"/>
          <p:nvPr/>
        </p:nvSpPr>
        <p:spPr>
          <a:xfrm>
            <a:off x="5240569" y="1106125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8F8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通信协议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20538" y="1461711"/>
            <a:ext cx="216408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7F7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MQTT传输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81836" y="5136093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4F4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固件升级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61805" y="5491679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OTA远程更新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29270" y="2971182"/>
            <a:ext cx="2516505" cy="6057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BF9F9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核心模块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73447" y="3503657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全球联网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57112" y="3422303"/>
            <a:ext cx="1183005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加密芯片</a:t>
            </a:r>
          </a:p>
        </p:txBody>
      </p:sp>
      <p:sp>
        <p:nvSpPr>
          <p:cNvPr id="33" name="AutoShape 33"/>
          <p:cNvSpPr/>
          <p:nvPr/>
        </p:nvSpPr>
        <p:spPr>
          <a:xfrm>
            <a:off x="1241067" y="193714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4" name="AutoShape 34"/>
          <p:cNvSpPr/>
          <p:nvPr/>
        </p:nvSpPr>
        <p:spPr>
          <a:xfrm>
            <a:off x="1241067" y="3576192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5" name="AutoShape 35"/>
          <p:cNvSpPr/>
          <p:nvPr/>
        </p:nvSpPr>
        <p:spPr>
          <a:xfrm>
            <a:off x="1241067" y="2756668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6" name="AutoShape 36"/>
          <p:cNvSpPr/>
          <p:nvPr/>
        </p:nvSpPr>
        <p:spPr>
          <a:xfrm>
            <a:off x="1241067" y="4395717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3026698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8" name="TextBox 38"/>
          <p:cNvSpPr txBox="1"/>
          <p:nvPr/>
        </p:nvSpPr>
        <p:spPr>
          <a:xfrm>
            <a:off x="3072326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主控板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24515" y="3411475"/>
            <a:ext cx="11830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ESP32芯片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41067" y="207564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指纹模组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1067" y="2919193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键盘</a:t>
            </a:r>
            <a:r>
              <a:rPr 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模块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41067" y="3737238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6F5F5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NFC读卡器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1067" y="4534216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B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备用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03108" y="2066201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手机存储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67529" y="2885725"/>
            <a:ext cx="1219200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身份编辑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03108" y="3705249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异常</a:t>
            </a:r>
            <a:r>
              <a:rPr 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报警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03108" y="452477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7F7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扩展接口</a:t>
            </a:r>
          </a:p>
        </p:txBody>
      </p:sp>
      <p:sp>
        <p:nvSpPr>
          <p:cNvPr id="48" name="AutoShape 48"/>
          <p:cNvSpPr/>
          <p:nvPr/>
        </p:nvSpPr>
        <p:spPr>
          <a:xfrm>
            <a:off x="369164" y="6014280"/>
            <a:ext cx="11459847" cy="503999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49" name="TextBox 49"/>
          <p:cNvSpPr txBox="1"/>
          <p:nvPr/>
        </p:nvSpPr>
        <p:spPr>
          <a:xfrm>
            <a:off x="818363" y="6010095"/>
            <a:ext cx="10565130" cy="4724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6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下一代产品将增加3D人脸识别和指静脉双模生物识别技术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792244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BFAFA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安全组件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硬件架构与组件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1"/>
            </p:custDataLst>
          </p:nvPr>
        </p:nvSpPr>
        <p:spPr>
          <a:xfrm>
            <a:off x="1297192" y="1308287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多层级权限管理</a:t>
            </a: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6865764" y="130828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异常</a:t>
            </a: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冻结</a:t>
            </a: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6865764" y="400037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指纹解锁</a:t>
            </a: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集成</a:t>
            </a: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1297192" y="4762018"/>
            <a:ext cx="4414526" cy="62484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OTA远程升级</a:t>
            </a: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1297192" y="3025846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实时日志记录</a:t>
            </a:r>
          </a:p>
        </p:txBody>
      </p:sp>
      <p:grpSp>
        <p:nvGrpSpPr>
          <p:cNvPr id="7" name="Group 7"/>
          <p:cNvGrpSpPr/>
          <p:nvPr>
            <p:custDataLst>
              <p:tags r:id="rId6"/>
            </p:custDataLst>
          </p:nvPr>
        </p:nvGrpSpPr>
        <p:grpSpPr>
          <a:xfrm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8" name="AutoShape 8"/>
            <p:cNvSpPr/>
            <p:nvPr>
              <p:custDataLst>
                <p:tags r:id="rId15"/>
              </p:custDataLst>
            </p:nvPr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9" name="AutoShape 9"/>
            <p:cNvSpPr/>
            <p:nvPr>
              <p:custDataLst>
                <p:tags r:id="rId16"/>
              </p:custDataLst>
            </p:nvPr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0" name="AutoShape 10"/>
            <p:cNvSpPr/>
            <p:nvPr>
              <p:custDataLst>
                <p:tags r:id="rId17"/>
              </p:custDataLst>
            </p:nvPr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cxnSp>
          <p:nvCxnSpPr>
            <p:cNvPr id="11" name="Connector 11"/>
            <p:cNvCxnSpPr/>
            <p:nvPr>
              <p:custDataLst>
                <p:tags r:id="rId18"/>
              </p:custDataLst>
            </p:nvPr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" name="TextBox 1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软件系统设计</a:t>
            </a: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6455568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455568" y="424149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5" name="Connector 15"/>
          <p:cNvCxnSpPr/>
          <p:nvPr>
            <p:custDataLst>
              <p:tags r:id="rId9"/>
            </p:custDataLst>
          </p:nvPr>
        </p:nvCxnSpPr>
        <p:spPr>
          <a:xfrm>
            <a:off x="6554162" y="1670999"/>
            <a:ext cx="0" cy="5208748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6"/>
          <p:cNvSpPr txBox="1"/>
          <p:nvPr>
            <p:custDataLst>
              <p:tags r:id="rId10"/>
            </p:custDataLst>
          </p:nvPr>
        </p:nvSpPr>
        <p:spPr>
          <a:xfrm>
            <a:off x="1297192" y="1804349"/>
            <a:ext cx="4486656" cy="1203960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支持管理员及临时用户权限分配，可通过APP动态调整开锁权限与使用时限。</a:t>
            </a:r>
          </a:p>
        </p:txBody>
      </p:sp>
      <p:sp>
        <p:nvSpPr>
          <p:cNvPr id="17" name="TextBox 17"/>
          <p:cNvSpPr txBox="1"/>
          <p:nvPr>
            <p:custDataLst>
              <p:tags r:id="rId11"/>
            </p:custDataLst>
          </p:nvPr>
        </p:nvSpPr>
        <p:spPr>
          <a:xfrm>
            <a:off x="1297192" y="354347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自动记录每次开锁事件（包括时间、方式及用户身份），并加密存储至云端，支持历史数据查询与导出。</a:t>
            </a:r>
          </a:p>
        </p:txBody>
      </p:sp>
      <p:sp>
        <p:nvSpPr>
          <p:cNvPr id="18" name="TextBox 18"/>
          <p:cNvSpPr txBox="1"/>
          <p:nvPr>
            <p:custDataLst>
              <p:tags r:id="rId12"/>
            </p:custDataLst>
          </p:nvPr>
        </p:nvSpPr>
        <p:spPr>
          <a:xfrm>
            <a:off x="1297192" y="5282464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采用差分升级技术，确保固件更新快速安全，支持漏洞修复与功能迭代，无需人工干预。</a:t>
            </a:r>
          </a:p>
        </p:txBody>
      </p:sp>
      <p:sp>
        <p:nvSpPr>
          <p:cNvPr id="19" name="TextBox 19"/>
          <p:cNvSpPr txBox="1"/>
          <p:nvPr>
            <p:custDataLst>
              <p:tags r:id="rId13"/>
            </p:custDataLst>
          </p:nvPr>
        </p:nvSpPr>
        <p:spPr>
          <a:xfrm>
            <a:off x="6865764" y="1804349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在一定的次数内，如果某种方式连续输入错误，则此种方式会被冻结，并通知</a:t>
            </a:r>
            <a:r>
              <a:rPr lang="en-US" altLang="zh-CN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</a:p>
        </p:txBody>
      </p:sp>
      <p:sp>
        <p:nvSpPr>
          <p:cNvPr id="20" name="TextBox 20"/>
          <p:cNvSpPr txBox="1"/>
          <p:nvPr>
            <p:custDataLst>
              <p:tags r:id="rId14"/>
            </p:custDataLst>
          </p:nvPr>
        </p:nvSpPr>
        <p:spPr>
          <a:xfrm>
            <a:off x="6865764" y="451800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含有指纹注册和指纹解锁功能，对于记忆力衰退的人群友好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6" descr="360ebb1bcd9d8c049e3b814fd3bcd9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635" y="635"/>
            <a:ext cx="1219200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数据安全与加密技术</a:t>
            </a:r>
          </a:p>
        </p:txBody>
      </p:sp>
      <p:pic>
        <p:nvPicPr>
          <p:cNvPr id="31" name="图片 5" descr="b4f7cb8f181259b1d2adab12f04de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24000"/>
            <a:ext cx="4222750" cy="400113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752600" y="5562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网络拓补图</a:t>
            </a:r>
          </a:p>
        </p:txBody>
      </p:sp>
      <p:sp>
        <p:nvSpPr>
          <p:cNvPr id="34" name="矩形 33"/>
          <p:cNvSpPr/>
          <p:nvPr/>
        </p:nvSpPr>
        <p:spPr>
          <a:xfrm>
            <a:off x="4876800" y="1524000"/>
            <a:ext cx="6324600" cy="40005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" descr="ea8885bfccf90a3facabd2e9d3931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19250"/>
            <a:ext cx="5520055" cy="377825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162800" y="5638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系统数据流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55860" y="1315917"/>
            <a:ext cx="4873570" cy="4873568"/>
          </a:xfrm>
          <a:prstGeom prst="donut">
            <a:avLst>
              <a:gd name="adj" fmla="val 15226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76000">
                <a:schemeClr val="accent3">
                  <a:alpha val="100000"/>
                </a:schemeClr>
              </a:gs>
            </a:gsLst>
            <a:lin ang="13500000"/>
          </a:gradFill>
        </p:spPr>
      </p:sp>
      <p:sp>
        <p:nvSpPr>
          <p:cNvPr id="3" name="AutoShape 3"/>
          <p:cNvSpPr/>
          <p:nvPr/>
        </p:nvSpPr>
        <p:spPr>
          <a:xfrm>
            <a:off x="5112039" y="2763758"/>
            <a:ext cx="1977974" cy="197797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4804261" y="2455979"/>
            <a:ext cx="2593530" cy="2593530"/>
          </a:xfrm>
          <a:prstGeom prst="ellipse">
            <a:avLst/>
          </a:prstGeom>
          <a:noFill/>
          <a:ln w="12700">
            <a:solidFill>
              <a:schemeClr val="lt1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>
            <a:off x="3709284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5234331" y="3440055"/>
            <a:ext cx="1739800" cy="520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旗舰型号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40544" y="1968807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</a:t>
            </a:r>
          </a:p>
        </p:txBody>
      </p:sp>
      <p:sp>
        <p:nvSpPr>
          <p:cNvPr id="8" name="AutoShape 8"/>
          <p:cNvSpPr/>
          <p:nvPr/>
        </p:nvSpPr>
        <p:spPr>
          <a:xfrm>
            <a:off x="7266783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7396776" y="1958301"/>
            <a:ext cx="95440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互联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266783" y="4753841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7397791" y="5197869"/>
            <a:ext cx="95237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可靠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709284" y="4734007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3840544" y="5187500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便捷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9161" y="2328234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毫米波雷达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09161" y="4889907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航空合金</a:t>
            </a:r>
          </a:p>
        </p:txBody>
      </p:sp>
      <p:sp>
        <p:nvSpPr>
          <p:cNvPr id="16" name="TextBox 16"/>
          <p:cNvSpPr txBox="1"/>
          <p:nvPr/>
        </p:nvSpPr>
        <p:spPr>
          <a:xfrm rot="5400000">
            <a:off x="6673245" y="3564462"/>
            <a:ext cx="1403032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机电一体</a:t>
            </a:r>
          </a:p>
        </p:txBody>
      </p:sp>
      <p:sp>
        <p:nvSpPr>
          <p:cNvPr id="17" name="TextBox 17"/>
          <p:cNvSpPr txBox="1"/>
          <p:nvPr/>
        </p:nvSpPr>
        <p:spPr>
          <a:xfrm rot="16200000">
            <a:off x="4071736" y="3582381"/>
            <a:ext cx="15068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国密芯片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42040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342040" y="1151159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TextBox 21"/>
          <p:cNvSpPr txBox="1"/>
          <p:nvPr/>
        </p:nvSpPr>
        <p:spPr>
          <a:xfrm>
            <a:off x="632650" y="2497560"/>
            <a:ext cx="2171700" cy="3841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多模态形式安全验证，不怕忘记密码、忘带钥匙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2805" y="4189895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指纹识别、密码开锁等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，识别速度≤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0.3秒，适应-20℃至60℃极端环境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2805" y="4996720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配备自适应扭矩电机，开关门噪音＜30分贝，使用寿命超20万次，兼容95%标准门体</a:t>
            </a:r>
          </a:p>
        </p:txBody>
      </p:sp>
      <p:sp>
        <p:nvSpPr>
          <p:cNvPr id="24" name="AutoShape 24"/>
          <p:cNvSpPr/>
          <p:nvPr/>
        </p:nvSpPr>
        <p:spPr>
          <a:xfrm>
            <a:off x="342040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5" name="TextBox 25"/>
          <p:cNvSpPr txBox="1"/>
          <p:nvPr/>
        </p:nvSpPr>
        <p:spPr>
          <a:xfrm>
            <a:off x="1251678" y="1238575"/>
            <a:ext cx="914400" cy="27686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安全</a:t>
            </a: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防护</a:t>
            </a:r>
          </a:p>
        </p:txBody>
      </p:sp>
      <p:sp>
        <p:nvSpPr>
          <p:cNvPr id="26" name="AutoShape 26"/>
          <p:cNvSpPr/>
          <p:nvPr/>
        </p:nvSpPr>
        <p:spPr>
          <a:xfrm>
            <a:off x="342040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7" name="TextBox 27"/>
          <p:cNvSpPr txBox="1"/>
          <p:nvPr/>
        </p:nvSpPr>
        <p:spPr>
          <a:xfrm>
            <a:off x="342040" y="5994222"/>
            <a:ext cx="2737265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无感通行体验</a:t>
            </a:r>
          </a:p>
        </p:txBody>
      </p:sp>
      <p:sp>
        <p:nvSpPr>
          <p:cNvPr id="28" name="AutoShape 28"/>
          <p:cNvSpPr/>
          <p:nvPr/>
        </p:nvSpPr>
        <p:spPr>
          <a:xfrm flipH="1">
            <a:off x="8998696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 flipH="1">
            <a:off x="8999220" y="1151255"/>
            <a:ext cx="2831465" cy="2225675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9397956" y="1981883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/>
              </a:rPr>
              <a:t>MQTT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等协议，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接口清晰，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可联动照明、安防等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多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类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电子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设备，实现离家自动布防</a:t>
            </a:r>
          </a:p>
        </p:txBody>
      </p:sp>
      <p:sp>
        <p:nvSpPr>
          <p:cNvPr id="32" name="TextBox 32"/>
          <p:cNvSpPr txBox="1"/>
          <p:nvPr/>
        </p:nvSpPr>
        <p:spPr>
          <a:xfrm flipH="1">
            <a:off x="9397956" y="4724248"/>
            <a:ext cx="2171700" cy="3841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用交流小电压设计，长期接通电源，从源头解决电量不足的问题</a:t>
            </a:r>
          </a:p>
        </p:txBody>
      </p:sp>
      <p:sp>
        <p:nvSpPr>
          <p:cNvPr id="34" name="AutoShape 34"/>
          <p:cNvSpPr/>
          <p:nvPr/>
        </p:nvSpPr>
        <p:spPr>
          <a:xfrm flipH="1">
            <a:off x="8998696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5" name="TextBox 35"/>
          <p:cNvSpPr txBox="1"/>
          <p:nvPr/>
        </p:nvSpPr>
        <p:spPr>
          <a:xfrm flipH="1">
            <a:off x="8998696" y="122936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全屋智能中枢</a:t>
            </a:r>
          </a:p>
        </p:txBody>
      </p:sp>
      <p:sp>
        <p:nvSpPr>
          <p:cNvPr id="36" name="AutoShape 36"/>
          <p:cNvSpPr/>
          <p:nvPr/>
        </p:nvSpPr>
        <p:spPr>
          <a:xfrm flipH="1">
            <a:off x="8998696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7" name="TextBox 37"/>
          <p:cNvSpPr txBox="1"/>
          <p:nvPr/>
        </p:nvSpPr>
        <p:spPr>
          <a:xfrm flipH="1">
            <a:off x="8998696" y="600374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超长续航保障</a:t>
            </a:r>
          </a:p>
        </p:txBody>
      </p:sp>
      <p:cxnSp>
        <p:nvCxnSpPr>
          <p:cNvPr id="38" name="Connector 38"/>
          <p:cNvCxnSpPr/>
          <p:nvPr/>
        </p:nvCxnSpPr>
        <p:spPr>
          <a:xfrm>
            <a:off x="3269974" y="136922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9" name="Connector 39"/>
          <p:cNvCxnSpPr/>
          <p:nvPr/>
        </p:nvCxnSpPr>
        <p:spPr>
          <a:xfrm flipV="1">
            <a:off x="3269974" y="594433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0" name="Connector 40"/>
          <p:cNvCxnSpPr/>
          <p:nvPr/>
        </p:nvCxnSpPr>
        <p:spPr>
          <a:xfrm flipH="1">
            <a:off x="8407561" y="1369674"/>
            <a:ext cx="476683" cy="27911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1" name="Connector 41"/>
          <p:cNvCxnSpPr/>
          <p:nvPr/>
        </p:nvCxnSpPr>
        <p:spPr>
          <a:xfrm flipH="1" flipV="1">
            <a:off x="8343585" y="5944552"/>
            <a:ext cx="458003" cy="22483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42" name="TextBox 4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核心功能与技术特点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主要业务流程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custDataLst>
              <p:tags r:id="rId1"/>
            </p:custDataLst>
          </p:nvPr>
        </p:nvSpPr>
        <p:spPr>
          <a:xfrm>
            <a:off x="460749" y="5043899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445920" y="3803495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460525" y="2458784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1295392" y="1511288"/>
            <a:ext cx="4405069" cy="112758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采用高精度生物识别技术，支持活体检测，确保指纹开锁的安全性和准确性，同时支持多组指纹录入，满足家庭多人使用需求。</a:t>
            </a: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1295392" y="116178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指纹识别开锁</a:t>
            </a: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1280787" y="4156759"/>
            <a:ext cx="4346229" cy="1164308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通过手机蓝牙或NFC功能实现无接触开锁，用户只需靠近门锁即可自动解锁，提升便捷性，同时支持加密传输防止信号劫持。</a:t>
            </a: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1295392" y="2778098"/>
            <a:ext cx="4346229" cy="116543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支持临时密码和永久密码两种模式，临时密码可设置有效期和次数限制，适用于访客或家政服务人员，永久密码则为家庭成员日常使用。</a:t>
            </a:r>
          </a:p>
        </p:txBody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355024" y="1239674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</a:p>
        </p:txBody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340419" y="387142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355024" y="251806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60525" y="116134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用户开锁流程</a:t>
            </a: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6023349" y="1197206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>
            <p:custDataLst>
              <p:tags r:id="rId13"/>
            </p:custDataLst>
          </p:nvPr>
        </p:nvSpPr>
        <p:spPr>
          <a:xfrm>
            <a:off x="1295616" y="5393845"/>
            <a:ext cx="4383960" cy="1112174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在电子功能失效时，可通过物理钥匙紧急开锁，钥匙孔采用隐蔽设计，兼顾安全性与应急需求。</a:t>
            </a:r>
          </a:p>
        </p:txBody>
      </p:sp>
      <p:sp>
        <p:nvSpPr>
          <p:cNvPr id="16" name="TextBox 16"/>
          <p:cNvSpPr txBox="1"/>
          <p:nvPr>
            <p:custDataLst>
              <p:tags r:id="rId14"/>
            </p:custDataLst>
          </p:nvPr>
        </p:nvSpPr>
        <p:spPr>
          <a:xfrm>
            <a:off x="6858216" y="1516520"/>
            <a:ext cx="4383960" cy="1150023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随机生成临时密码，自定义密码使用频率与时长，适合于常有人员来访的家庭</a:t>
            </a:r>
          </a:p>
        </p:txBody>
      </p:sp>
      <p:sp>
        <p:nvSpPr>
          <p:cNvPr id="17" name="TextBox 17"/>
          <p:cNvSpPr txBox="1"/>
          <p:nvPr>
            <p:custDataLst>
              <p:tags r:id="rId15"/>
            </p:custDataLst>
          </p:nvPr>
        </p:nvSpPr>
        <p:spPr>
          <a:xfrm>
            <a:off x="355248" y="5103181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</a:p>
        </p:txBody>
      </p:sp>
      <p:sp>
        <p:nvSpPr>
          <p:cNvPr id="18" name="TextBox 18"/>
          <p:cNvSpPr txBox="1"/>
          <p:nvPr>
            <p:custDataLst>
              <p:tags r:id="rId16"/>
            </p:custDataLst>
          </p:nvPr>
        </p:nvSpPr>
        <p:spPr>
          <a:xfrm>
            <a:off x="5917848" y="1256488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</a:p>
        </p:txBody>
      </p:sp>
      <p:sp>
        <p:nvSpPr>
          <p:cNvPr id="19" name="TextBox 19"/>
          <p:cNvSpPr txBox="1"/>
          <p:nvPr>
            <p:custDataLst>
              <p:tags r:id="rId17"/>
            </p:custDataLst>
          </p:nvPr>
        </p:nvSpPr>
        <p:spPr>
          <a:xfrm>
            <a:off x="1295616" y="502893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机械钥匙备用开锁</a:t>
            </a:r>
          </a:p>
        </p:txBody>
      </p:sp>
      <p:sp>
        <p:nvSpPr>
          <p:cNvPr id="20" name="TextBox 20"/>
          <p:cNvSpPr txBox="1"/>
          <p:nvPr>
            <p:custDataLst>
              <p:tags r:id="rId18"/>
            </p:custDataLst>
          </p:nvPr>
        </p:nvSpPr>
        <p:spPr>
          <a:xfrm>
            <a:off x="1295392" y="2438495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密码开锁</a:t>
            </a:r>
          </a:p>
        </p:txBody>
      </p:sp>
      <p:sp>
        <p:nvSpPr>
          <p:cNvPr id="21" name="TextBox 21"/>
          <p:cNvSpPr txBox="1"/>
          <p:nvPr>
            <p:custDataLst>
              <p:tags r:id="rId19"/>
            </p:custDataLst>
          </p:nvPr>
        </p:nvSpPr>
        <p:spPr>
          <a:xfrm>
            <a:off x="6858216" y="116151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临时密码</a:t>
            </a: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开锁</a:t>
            </a:r>
          </a:p>
        </p:txBody>
      </p:sp>
      <p:sp>
        <p:nvSpPr>
          <p:cNvPr id="22" name="TextBox 22"/>
          <p:cNvSpPr txBox="1"/>
          <p:nvPr>
            <p:custDataLst>
              <p:tags r:id="rId20"/>
            </p:custDataLst>
          </p:nvPr>
        </p:nvSpPr>
        <p:spPr>
          <a:xfrm>
            <a:off x="1280787" y="3807576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NFC近场开锁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0" y="2154555"/>
            <a:ext cx="5218430" cy="4203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97796" y="2675719"/>
            <a:ext cx="2236351" cy="2236351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159263" y="2904531"/>
            <a:ext cx="1854217" cy="1854217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6094045" y="1171975"/>
            <a:ext cx="5287891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 flipH="1">
            <a:off x="850006" y="1171975"/>
            <a:ext cx="5288400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6" name="AutoShape 6"/>
          <p:cNvSpPr/>
          <p:nvPr/>
        </p:nvSpPr>
        <p:spPr>
          <a:xfrm>
            <a:off x="1746454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 rot="5400000">
            <a:off x="1142235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 flipH="1">
            <a:off x="2497971" y="2044408"/>
            <a:ext cx="2752725" cy="1746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通过生物识别或动态密码确保远程操作安全性。</a:t>
            </a:r>
          </a:p>
        </p:txBody>
      </p:sp>
      <p:sp>
        <p:nvSpPr>
          <p:cNvPr id="9" name="TextBox 9"/>
          <p:cNvSpPr txBox="1"/>
          <p:nvPr/>
        </p:nvSpPr>
        <p:spPr>
          <a:xfrm flipH="1">
            <a:off x="2497973" y="1718106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用户验证</a:t>
            </a:r>
          </a:p>
        </p:txBody>
      </p:sp>
      <p:sp>
        <p:nvSpPr>
          <p:cNvPr id="10" name="AutoShape 10"/>
          <p:cNvSpPr/>
          <p:nvPr/>
        </p:nvSpPr>
        <p:spPr>
          <a:xfrm flipH="1">
            <a:off x="6489435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 rot="5400000">
            <a:off x="9868591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 flipH="1">
            <a:off x="6954024" y="2044408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完整记录所有远程操作事件，包括时间、用户及操作类型等详细信息。</a:t>
            </a:r>
          </a:p>
        </p:txBody>
      </p:sp>
      <p:sp>
        <p:nvSpPr>
          <p:cNvPr id="13" name="TextBox 13"/>
          <p:cNvSpPr txBox="1"/>
          <p:nvPr/>
        </p:nvSpPr>
        <p:spPr>
          <a:xfrm flipH="1">
            <a:off x="7013480" y="1718106"/>
            <a:ext cx="2700173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日志记录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24082" y="322611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 rot="5400000">
            <a:off x="319863" y="330964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6" name="TextBox 16"/>
          <p:cNvSpPr txBox="1"/>
          <p:nvPr/>
        </p:nvSpPr>
        <p:spPr>
          <a:xfrm flipH="1">
            <a:off x="1675599" y="3732517"/>
            <a:ext cx="2752725" cy="34988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管理员可设置临时密码、时效权限等远程访问策略。</a:t>
            </a:r>
          </a:p>
        </p:txBody>
      </p:sp>
      <p:sp>
        <p:nvSpPr>
          <p:cNvPr id="17" name="TextBox 17"/>
          <p:cNvSpPr txBox="1"/>
          <p:nvPr/>
        </p:nvSpPr>
        <p:spPr>
          <a:xfrm flipH="1">
            <a:off x="1675601" y="3406215"/>
            <a:ext cx="15716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权限管理</a:t>
            </a:r>
          </a:p>
        </p:txBody>
      </p:sp>
      <p:sp>
        <p:nvSpPr>
          <p:cNvPr id="18" name="AutoShape 18"/>
          <p:cNvSpPr/>
          <p:nvPr/>
        </p:nvSpPr>
        <p:spPr>
          <a:xfrm flipH="1">
            <a:off x="7326755" y="322611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 rot="5400000">
            <a:off x="10705910" y="330964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20" name="TextBox 20"/>
          <p:cNvSpPr txBox="1"/>
          <p:nvPr/>
        </p:nvSpPr>
        <p:spPr>
          <a:xfrm flipH="1">
            <a:off x="7694648" y="3732518"/>
            <a:ext cx="284797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通过无线网络远程推送固件更新，持续优化门锁安全性能。</a:t>
            </a:r>
          </a:p>
        </p:txBody>
      </p:sp>
      <p:sp>
        <p:nvSpPr>
          <p:cNvPr id="21" name="TextBox 21"/>
          <p:cNvSpPr txBox="1"/>
          <p:nvPr/>
        </p:nvSpPr>
        <p:spPr>
          <a:xfrm flipH="1">
            <a:off x="7778228" y="3406216"/>
            <a:ext cx="2771170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OTA升级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746454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3" name="AutoShape 23"/>
          <p:cNvSpPr/>
          <p:nvPr/>
        </p:nvSpPr>
        <p:spPr>
          <a:xfrm rot="5400000">
            <a:off x="1142235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2497971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与智能家居系统联动，实现离家自动上锁或异常报警功能。</a:t>
            </a:r>
          </a:p>
        </p:txBody>
      </p:sp>
      <p:sp>
        <p:nvSpPr>
          <p:cNvPr id="25" name="TextBox 25"/>
          <p:cNvSpPr txBox="1"/>
          <p:nvPr/>
        </p:nvSpPr>
        <p:spPr>
          <a:xfrm flipH="1">
            <a:off x="2497973" y="5092175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设备联动</a:t>
            </a:r>
          </a:p>
        </p:txBody>
      </p:sp>
      <p:sp>
        <p:nvSpPr>
          <p:cNvPr id="26" name="AutoShape 26"/>
          <p:cNvSpPr/>
          <p:nvPr/>
        </p:nvSpPr>
        <p:spPr>
          <a:xfrm flipH="1">
            <a:off x="6489435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 rot="5400000">
            <a:off x="9868591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6954024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实时监测门锁状态，遇暴力破解或离线时自动推送告警信息。</a:t>
            </a:r>
          </a:p>
        </p:txBody>
      </p:sp>
      <p:sp>
        <p:nvSpPr>
          <p:cNvPr id="29" name="TextBox 29"/>
          <p:cNvSpPr txBox="1"/>
          <p:nvPr/>
        </p:nvSpPr>
        <p:spPr>
          <a:xfrm flipH="1">
            <a:off x="7122336" y="5092175"/>
            <a:ext cx="2589742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</a:p>
        </p:txBody>
      </p:sp>
      <p:sp>
        <p:nvSpPr>
          <p:cNvPr id="30" name="TextBox 30"/>
          <p:cNvSpPr txBox="1"/>
          <p:nvPr/>
        </p:nvSpPr>
        <p:spPr>
          <a:xfrm flipH="1">
            <a:off x="4997796" y="1433390"/>
            <a:ext cx="2236351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指令传输</a:t>
            </a:r>
          </a:p>
        </p:txBody>
      </p:sp>
      <p:cxnSp>
        <p:nvCxnSpPr>
          <p:cNvPr id="31" name="Connector 31"/>
          <p:cNvCxnSpPr/>
          <p:nvPr/>
        </p:nvCxnSpPr>
        <p:spPr>
          <a:xfrm>
            <a:off x="6094045" y="1781155"/>
            <a:ext cx="0" cy="831982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2" name="Connector 32"/>
          <p:cNvCxnSpPr/>
          <p:nvPr/>
        </p:nvCxnSpPr>
        <p:spPr>
          <a:xfrm flipV="1">
            <a:off x="6094045" y="5074746"/>
            <a:ext cx="0" cy="922484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33" name="TextBox 33"/>
          <p:cNvSpPr txBox="1"/>
          <p:nvPr/>
        </p:nvSpPr>
        <p:spPr>
          <a:xfrm>
            <a:off x="5159263" y="3470045"/>
            <a:ext cx="1963073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100">
                <a:solidFill>
                  <a:srgbClr val="F3F4F2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APP远程管理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63378" y="398857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DFBFB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通过手机APP实现远程开锁、授权及状态监控功能。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远程控制与管理流程</a:t>
            </a:r>
          </a:p>
        </p:txBody>
      </p:sp>
      <p:sp>
        <p:nvSpPr>
          <p:cNvPr id="36" name="Freeform 36"/>
          <p:cNvSpPr/>
          <p:nvPr/>
        </p:nvSpPr>
        <p:spPr>
          <a:xfrm>
            <a:off x="1505268" y="1853004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7" name="Freeform 37"/>
          <p:cNvSpPr/>
          <p:nvPr/>
        </p:nvSpPr>
        <p:spPr>
          <a:xfrm>
            <a:off x="707787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8" name="Freeform 38"/>
          <p:cNvSpPr/>
          <p:nvPr/>
        </p:nvSpPr>
        <p:spPr>
          <a:xfrm>
            <a:off x="1530159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9" name="Freeform 39"/>
          <p:cNvSpPr/>
          <p:nvPr/>
        </p:nvSpPr>
        <p:spPr>
          <a:xfrm>
            <a:off x="11096459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0" name="Freeform 40"/>
          <p:cNvSpPr/>
          <p:nvPr/>
        </p:nvSpPr>
        <p:spPr>
          <a:xfrm>
            <a:off x="10231624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1" name="Freeform 41"/>
          <p:cNvSpPr/>
          <p:nvPr/>
        </p:nvSpPr>
        <p:spPr>
          <a:xfrm>
            <a:off x="10259139" y="1911150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2" name="TextBox 42"/>
          <p:cNvSpPr txBox="1"/>
          <p:nvPr/>
        </p:nvSpPr>
        <p:spPr>
          <a:xfrm flipH="1">
            <a:off x="4968196" y="6123130"/>
            <a:ext cx="223837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执行反馈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人员结构与分工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0145" name="AutoShape 2"/>
          <p:cNvSpPr/>
          <p:nvPr/>
        </p:nvSpPr>
        <p:spPr>
          <a:xfrm>
            <a:off x="9498526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4" name="AutoShape 3"/>
          <p:cNvSpPr/>
          <p:nvPr/>
        </p:nvSpPr>
        <p:spPr>
          <a:xfrm>
            <a:off x="7276689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3" name="AutoShape 4"/>
          <p:cNvSpPr/>
          <p:nvPr/>
        </p:nvSpPr>
        <p:spPr>
          <a:xfrm>
            <a:off x="5054853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1" name="AutoShape 5"/>
          <p:cNvSpPr/>
          <p:nvPr/>
        </p:nvSpPr>
        <p:spPr>
          <a:xfrm>
            <a:off x="611179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</p:sp>
      <p:sp>
        <p:nvSpPr>
          <p:cNvPr id="14400142" name="AutoShape 6"/>
          <p:cNvSpPr/>
          <p:nvPr/>
        </p:nvSpPr>
        <p:spPr>
          <a:xfrm>
            <a:off x="2833017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1" name="Freeform 7"/>
          <p:cNvSpPr/>
          <p:nvPr/>
        </p:nvSpPr>
        <p:spPr>
          <a:xfrm>
            <a:off x="725406" y="3063455"/>
            <a:ext cx="9804481" cy="2853309"/>
          </a:xfrm>
          <a:custGeom>
            <a:avLst/>
            <a:gdLst/>
            <a:ahLst/>
            <a:cxnLst/>
            <a:rect l="l" t="t" r="r" b="b"/>
            <a:pathLst>
              <a:path w="9807511" h="2853309">
                <a:moveTo>
                  <a:pt x="0" y="2853309"/>
                </a:moveTo>
                <a:cubicBezTo>
                  <a:pt x="1187958" y="2840355"/>
                  <a:pt x="2375916" y="2827401"/>
                  <a:pt x="3538728" y="2524125"/>
                </a:cubicBezTo>
                <a:cubicBezTo>
                  <a:pt x="4701540" y="2220849"/>
                  <a:pt x="6089904" y="1408557"/>
                  <a:pt x="6976872" y="1033653"/>
                </a:cubicBezTo>
                <a:cubicBezTo>
                  <a:pt x="7863840" y="658749"/>
                  <a:pt x="8391144" y="445389"/>
                  <a:pt x="8860536" y="274701"/>
                </a:cubicBezTo>
                <a:cubicBezTo>
                  <a:pt x="9329928" y="104013"/>
                  <a:pt x="9566338" y="56769"/>
                  <a:pt x="9807511" y="0"/>
                </a:cubicBez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  <a:effectLst>
            <a:outerShdw blurRad="50800" dist="127000" dir="5400000">
              <a:schemeClr val="accent1">
                <a:alpha val="15000"/>
              </a:schemeClr>
            </a:outerShdw>
          </a:effectLst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4400133" name="AutoShape 8"/>
          <p:cNvSpPr/>
          <p:nvPr/>
        </p:nvSpPr>
        <p:spPr>
          <a:xfrm>
            <a:off x="10491501" y="6434138"/>
            <a:ext cx="108014" cy="10801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4" name="TextBox 9"/>
          <p:cNvSpPr txBox="1"/>
          <p:nvPr/>
        </p:nvSpPr>
        <p:spPr>
          <a:xfrm>
            <a:off x="10615517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款</a:t>
            </a:r>
          </a:p>
        </p:txBody>
      </p:sp>
      <p:sp>
        <p:nvSpPr>
          <p:cNvPr id="14400136" name="AutoShape 10"/>
          <p:cNvSpPr/>
          <p:nvPr/>
        </p:nvSpPr>
        <p:spPr>
          <a:xfrm>
            <a:off x="11162443" y="6434138"/>
            <a:ext cx="108014" cy="10801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7" name="TextBox 11"/>
          <p:cNvSpPr txBox="1"/>
          <p:nvPr/>
        </p:nvSpPr>
        <p:spPr>
          <a:xfrm>
            <a:off x="11330274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例</a:t>
            </a:r>
          </a:p>
        </p:txBody>
      </p:sp>
      <p:sp>
        <p:nvSpPr>
          <p:cNvPr id="14400146" name="AutoShape 12"/>
          <p:cNvSpPr/>
          <p:nvPr/>
        </p:nvSpPr>
        <p:spPr>
          <a:xfrm>
            <a:off x="611180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7" name="AutoShape 13"/>
          <p:cNvSpPr/>
          <p:nvPr/>
        </p:nvSpPr>
        <p:spPr>
          <a:xfrm>
            <a:off x="2833016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8" name="AutoShape 14"/>
          <p:cNvSpPr/>
          <p:nvPr/>
        </p:nvSpPr>
        <p:spPr>
          <a:xfrm>
            <a:off x="5054852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9" name="AutoShape 15"/>
          <p:cNvSpPr/>
          <p:nvPr/>
        </p:nvSpPr>
        <p:spPr>
          <a:xfrm>
            <a:off x="7276688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0" name="AutoShape 16"/>
          <p:cNvSpPr/>
          <p:nvPr/>
        </p:nvSpPr>
        <p:spPr>
          <a:xfrm>
            <a:off x="9498524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1" name="TextBox 17"/>
          <p:cNvSpPr txBox="1"/>
          <p:nvPr/>
        </p:nvSpPr>
        <p:spPr>
          <a:xfrm>
            <a:off x="611180" y="2346374"/>
            <a:ext cx="2085975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需求分析</a:t>
            </a:r>
          </a:p>
        </p:txBody>
      </p:sp>
      <p:sp>
        <p:nvSpPr>
          <p:cNvPr id="14400152" name="TextBox 18"/>
          <p:cNvSpPr txBox="1"/>
          <p:nvPr/>
        </p:nvSpPr>
        <p:spPr>
          <a:xfrm>
            <a:off x="2833017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需求设计</a:t>
            </a:r>
          </a:p>
        </p:txBody>
      </p:sp>
      <p:sp>
        <p:nvSpPr>
          <p:cNvPr id="14400153" name="TextBox 19"/>
          <p:cNvSpPr txBox="1"/>
          <p:nvPr/>
        </p:nvSpPr>
        <p:spPr>
          <a:xfrm>
            <a:off x="5054853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Story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拆分</a:t>
            </a:r>
          </a:p>
        </p:txBody>
      </p:sp>
      <p:sp>
        <p:nvSpPr>
          <p:cNvPr id="14400154" name="TextBox 20"/>
          <p:cNvSpPr txBox="1"/>
          <p:nvPr/>
        </p:nvSpPr>
        <p:spPr>
          <a:xfrm>
            <a:off x="7276689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开发结束</a:t>
            </a:r>
          </a:p>
        </p:txBody>
      </p:sp>
      <p:sp>
        <p:nvSpPr>
          <p:cNvPr id="14400156" name="TextBox 21"/>
          <p:cNvSpPr txBox="1"/>
          <p:nvPr/>
        </p:nvSpPr>
        <p:spPr>
          <a:xfrm>
            <a:off x="9498526" y="2346374"/>
            <a:ext cx="208545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SIT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测试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611179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57" name="AutoShape 23"/>
          <p:cNvSpPr/>
          <p:nvPr/>
        </p:nvSpPr>
        <p:spPr>
          <a:xfrm>
            <a:off x="1071142" y="56276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58" name="TextBox 24"/>
          <p:cNvSpPr txBox="1"/>
          <p:nvPr/>
        </p:nvSpPr>
        <p:spPr>
          <a:xfrm>
            <a:off x="1233142" y="55600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X1</a:t>
            </a:r>
          </a:p>
        </p:txBody>
      </p:sp>
      <p:sp>
        <p:nvSpPr>
          <p:cNvPr id="14400159" name="AutoShape 25"/>
          <p:cNvSpPr/>
          <p:nvPr/>
        </p:nvSpPr>
        <p:spPr>
          <a:xfrm>
            <a:off x="1881448" y="545519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0" name="TextBox 26"/>
          <p:cNvSpPr txBox="1"/>
          <p:nvPr/>
        </p:nvSpPr>
        <p:spPr>
          <a:xfrm>
            <a:off x="204344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X2</a:t>
            </a:r>
          </a:p>
        </p:txBody>
      </p:sp>
      <p:sp>
        <p:nvSpPr>
          <p:cNvPr id="14400161" name="AutoShape 27"/>
          <p:cNvSpPr/>
          <p:nvPr/>
        </p:nvSpPr>
        <p:spPr>
          <a:xfrm>
            <a:off x="3050158" y="5455192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2" name="TextBox 28"/>
          <p:cNvSpPr txBox="1"/>
          <p:nvPr/>
        </p:nvSpPr>
        <p:spPr>
          <a:xfrm>
            <a:off x="321215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A酒店</a:t>
            </a:r>
          </a:p>
        </p:txBody>
      </p:sp>
      <p:sp>
        <p:nvSpPr>
          <p:cNvPr id="14400163" name="AutoShape 29"/>
          <p:cNvSpPr/>
          <p:nvPr/>
        </p:nvSpPr>
        <p:spPr>
          <a:xfrm>
            <a:off x="4000370" y="5803244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4" name="TextBox 30"/>
          <p:cNvSpPr txBox="1"/>
          <p:nvPr/>
        </p:nvSpPr>
        <p:spPr>
          <a:xfrm>
            <a:off x="4162370" y="5735640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B公寓</a:t>
            </a:r>
          </a:p>
        </p:txBody>
      </p:sp>
      <p:sp>
        <p:nvSpPr>
          <p:cNvPr id="14400165" name="TextBox 31"/>
          <p:cNvSpPr txBox="1"/>
          <p:nvPr/>
        </p:nvSpPr>
        <p:spPr>
          <a:xfrm>
            <a:off x="725406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分析系统需要实现的功能、实现的位置等一系列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6" name="TextBox 32"/>
          <p:cNvSpPr txBox="1"/>
          <p:nvPr/>
        </p:nvSpPr>
        <p:spPr>
          <a:xfrm>
            <a:off x="5169079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将需求设计拆分成若干</a:t>
            </a:r>
            <a:r>
              <a:rPr lang="en-US" altLang="zh-CN" sz="12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story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，方便开发分工，并行开发</a:t>
            </a:r>
          </a:p>
        </p:txBody>
      </p:sp>
      <p:sp>
        <p:nvSpPr>
          <p:cNvPr id="14400167" name="TextBox 33"/>
          <p:cNvSpPr txBox="1"/>
          <p:nvPr/>
        </p:nvSpPr>
        <p:spPr>
          <a:xfrm>
            <a:off x="9612752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测试系统的真实使用效果</a:t>
            </a:r>
          </a:p>
        </p:txBody>
      </p:sp>
      <p:sp>
        <p:nvSpPr>
          <p:cNvPr id="14400168" name="TextBox 34"/>
          <p:cNvSpPr txBox="1"/>
          <p:nvPr/>
        </p:nvSpPr>
        <p:spPr>
          <a:xfrm>
            <a:off x="2947243" y="3347576"/>
            <a:ext cx="1857375" cy="663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进行市场调研、数据分析、确定使用场景、开始设计需求以及系统架构等</a:t>
            </a:r>
          </a:p>
        </p:txBody>
      </p:sp>
      <p:sp>
        <p:nvSpPr>
          <p:cNvPr id="14400169" name="TextBox 35"/>
          <p:cNvSpPr txBox="1"/>
          <p:nvPr/>
        </p:nvSpPr>
        <p:spPr>
          <a:xfrm>
            <a:off x="7390915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软硬件基本成型</a:t>
            </a:r>
          </a:p>
        </p:txBody>
      </p:sp>
      <p:sp>
        <p:nvSpPr>
          <p:cNvPr id="14400172" name="AutoShape 36"/>
          <p:cNvSpPr/>
          <p:nvPr/>
        </p:nvSpPr>
        <p:spPr>
          <a:xfrm>
            <a:off x="6384032" y="4636586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3" name="TextBox 37"/>
          <p:cNvSpPr txBox="1"/>
          <p:nvPr/>
        </p:nvSpPr>
        <p:spPr>
          <a:xfrm>
            <a:off x="6546032" y="4568982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C社区</a:t>
            </a:r>
          </a:p>
        </p:txBody>
      </p:sp>
      <p:sp>
        <p:nvSpPr>
          <p:cNvPr id="14400174" name="AutoShape 38"/>
          <p:cNvSpPr/>
          <p:nvPr/>
        </p:nvSpPr>
        <p:spPr>
          <a:xfrm>
            <a:off x="5166033" y="52124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5" name="TextBox 39"/>
          <p:cNvSpPr txBox="1"/>
          <p:nvPr/>
        </p:nvSpPr>
        <p:spPr>
          <a:xfrm>
            <a:off x="5328033" y="51448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X3</a:t>
            </a:r>
          </a:p>
        </p:txBody>
      </p:sp>
      <p:sp>
        <p:nvSpPr>
          <p:cNvPr id="14400176" name="AutoShape 40"/>
          <p:cNvSpPr/>
          <p:nvPr/>
        </p:nvSpPr>
        <p:spPr>
          <a:xfrm>
            <a:off x="5786172" y="4939285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8" name="TextBox 41"/>
          <p:cNvSpPr txBox="1"/>
          <p:nvPr/>
        </p:nvSpPr>
        <p:spPr>
          <a:xfrm>
            <a:off x="5948172" y="4871681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X5</a:t>
            </a:r>
          </a:p>
        </p:txBody>
      </p:sp>
      <p:cxnSp>
        <p:nvCxnSpPr>
          <p:cNvPr id="42" name="Connector 42"/>
          <p:cNvCxnSpPr/>
          <p:nvPr/>
        </p:nvCxnSpPr>
        <p:spPr>
          <a:xfrm>
            <a:off x="2833017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or 43"/>
          <p:cNvCxnSpPr/>
          <p:nvPr/>
        </p:nvCxnSpPr>
        <p:spPr>
          <a:xfrm>
            <a:off x="5057841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or 44"/>
          <p:cNvCxnSpPr/>
          <p:nvPr/>
        </p:nvCxnSpPr>
        <p:spPr>
          <a:xfrm>
            <a:off x="7281172" y="6240877"/>
            <a:ext cx="2080800" cy="0"/>
          </a:xfrm>
          <a:prstGeom prst="line">
            <a:avLst/>
          </a:prstGeom>
          <a:ln w="15875">
            <a:solidFill>
              <a:schemeClr val="accent2"/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5" name="Connector 45"/>
          <p:cNvCxnSpPr/>
          <p:nvPr/>
        </p:nvCxnSpPr>
        <p:spPr>
          <a:xfrm>
            <a:off x="9504503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70" name="Freeform 46"/>
          <p:cNvSpPr/>
          <p:nvPr/>
        </p:nvSpPr>
        <p:spPr>
          <a:xfrm rot="4592817">
            <a:off x="10385839" y="2872857"/>
            <a:ext cx="271796" cy="381196"/>
          </a:xfrm>
          <a:custGeom>
            <a:avLst/>
            <a:gdLst/>
            <a:ahLst/>
            <a:cxnLst/>
            <a:rect l="l" t="t" r="r" b="b"/>
            <a:pathLst>
              <a:path w="5812" h="8163">
                <a:moveTo>
                  <a:pt x="5809" y="6108"/>
                </a:moveTo>
                <a:cubicBezTo>
                  <a:pt x="5733" y="5070"/>
                  <a:pt x="5240" y="4412"/>
                  <a:pt x="4840" y="4042"/>
                </a:cubicBezTo>
                <a:cubicBezTo>
                  <a:pt x="4793" y="3999"/>
                  <a:pt x="4748" y="3959"/>
                  <a:pt x="4702" y="3922"/>
                </a:cubicBezTo>
                <a:cubicBezTo>
                  <a:pt x="4702" y="2430"/>
                  <a:pt x="4227" y="1449"/>
                  <a:pt x="3828" y="888"/>
                </a:cubicBezTo>
                <a:cubicBezTo>
                  <a:pt x="3393" y="277"/>
                  <a:pt x="2962" y="24"/>
                  <a:pt x="2944" y="13"/>
                </a:cubicBezTo>
                <a:cubicBezTo>
                  <a:pt x="2920" y="0"/>
                  <a:pt x="2892" y="0"/>
                  <a:pt x="2868" y="13"/>
                </a:cubicBezTo>
                <a:cubicBezTo>
                  <a:pt x="2850" y="24"/>
                  <a:pt x="2419" y="277"/>
                  <a:pt x="1984" y="888"/>
                </a:cubicBezTo>
                <a:cubicBezTo>
                  <a:pt x="1585" y="1449"/>
                  <a:pt x="1110" y="2430"/>
                  <a:pt x="1110" y="3922"/>
                </a:cubicBezTo>
                <a:cubicBezTo>
                  <a:pt x="1064" y="3959"/>
                  <a:pt x="1019" y="3999"/>
                  <a:pt x="972" y="4042"/>
                </a:cubicBezTo>
                <a:cubicBezTo>
                  <a:pt x="572" y="4412"/>
                  <a:pt x="79" y="5070"/>
                  <a:pt x="3" y="6108"/>
                </a:cubicBezTo>
                <a:cubicBezTo>
                  <a:pt x="0" y="6142"/>
                  <a:pt x="12" y="6176"/>
                  <a:pt x="35" y="6200"/>
                </a:cubicBezTo>
                <a:cubicBezTo>
                  <a:pt x="58" y="6225"/>
                  <a:pt x="90" y="6239"/>
                  <a:pt x="124" y="6239"/>
                </a:cubicBezTo>
                <a:lnTo>
                  <a:pt x="1659" y="6239"/>
                </a:lnTo>
                <a:cubicBezTo>
                  <a:pt x="1747" y="6406"/>
                  <a:pt x="1837" y="6540"/>
                  <a:pt x="1926" y="6630"/>
                </a:cubicBezTo>
                <a:cubicBezTo>
                  <a:pt x="1940" y="6644"/>
                  <a:pt x="1959" y="6652"/>
                  <a:pt x="1980" y="6652"/>
                </a:cubicBezTo>
                <a:lnTo>
                  <a:pt x="2017" y="6652"/>
                </a:lnTo>
                <a:cubicBezTo>
                  <a:pt x="2073" y="7455"/>
                  <a:pt x="2714" y="8071"/>
                  <a:pt x="2743" y="8098"/>
                </a:cubicBezTo>
                <a:cubicBezTo>
                  <a:pt x="2788" y="8141"/>
                  <a:pt x="2847" y="8163"/>
                  <a:pt x="2906" y="8163"/>
                </a:cubicBezTo>
                <a:cubicBezTo>
                  <a:pt x="2965" y="8163"/>
                  <a:pt x="3024" y="8141"/>
                  <a:pt x="3069" y="8098"/>
                </a:cubicBezTo>
                <a:cubicBezTo>
                  <a:pt x="3098" y="8071"/>
                  <a:pt x="3738" y="7455"/>
                  <a:pt x="3795" y="6652"/>
                </a:cubicBezTo>
                <a:lnTo>
                  <a:pt x="3832" y="6652"/>
                </a:lnTo>
                <a:cubicBezTo>
                  <a:pt x="3853" y="6652"/>
                  <a:pt x="3872" y="6644"/>
                  <a:pt x="3886" y="6630"/>
                </a:cubicBezTo>
                <a:cubicBezTo>
                  <a:pt x="3975" y="6540"/>
                  <a:pt x="4065" y="6406"/>
                  <a:pt x="4153" y="6239"/>
                </a:cubicBezTo>
                <a:lnTo>
                  <a:pt x="5688" y="6239"/>
                </a:lnTo>
                <a:cubicBezTo>
                  <a:pt x="5721" y="6239"/>
                  <a:pt x="5754" y="6225"/>
                  <a:pt x="5777" y="6200"/>
                </a:cubicBezTo>
                <a:cubicBezTo>
                  <a:pt x="5800" y="6176"/>
                  <a:pt x="5812" y="6142"/>
                  <a:pt x="5809" y="6108"/>
                </a:cubicBezTo>
                <a:close/>
              </a:path>
              <a:path w="5812" h="8163">
                <a:moveTo>
                  <a:pt x="2906" y="2094"/>
                </a:moveTo>
                <a:cubicBezTo>
                  <a:pt x="3276" y="2094"/>
                  <a:pt x="3576" y="2394"/>
                  <a:pt x="3576" y="2764"/>
                </a:cubicBezTo>
                <a:cubicBezTo>
                  <a:pt x="3576" y="3134"/>
                  <a:pt x="3276" y="3434"/>
                  <a:pt x="2906" y="3434"/>
                </a:cubicBezTo>
                <a:cubicBezTo>
                  <a:pt x="2536" y="3434"/>
                  <a:pt x="2236" y="3134"/>
                  <a:pt x="2236" y="2764"/>
                </a:cubicBezTo>
                <a:cubicBezTo>
                  <a:pt x="2236" y="2394"/>
                  <a:pt x="2536" y="2094"/>
                  <a:pt x="2906" y="2094"/>
                </a:cubicBezTo>
                <a:close/>
              </a:path>
              <a:path w="5812" h="8163">
                <a:moveTo>
                  <a:pt x="2906" y="7567"/>
                </a:moveTo>
                <a:cubicBezTo>
                  <a:pt x="2749" y="7369"/>
                  <a:pt x="2531" y="7032"/>
                  <a:pt x="2494" y="6652"/>
                </a:cubicBezTo>
                <a:lnTo>
                  <a:pt x="3318" y="6652"/>
                </a:lnTo>
                <a:cubicBezTo>
                  <a:pt x="3281" y="7032"/>
                  <a:pt x="3063" y="7369"/>
                  <a:pt x="2906" y="7567"/>
                </a:cubicBezTo>
              </a:path>
            </a:pathLst>
          </a:custGeom>
          <a:solidFill>
            <a:schemeClr val="accent2">
              <a:alpha val="10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研发阶段关键节点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测试与优化过程</a:t>
            </a:r>
          </a:p>
        </p:txBody>
      </p:sp>
      <p:sp>
        <p:nvSpPr>
          <p:cNvPr id="5" name="TextBox 5"/>
          <p:cNvSpPr txBox="1"/>
          <p:nvPr>
            <p:custDataLst>
              <p:tags r:id="rId1"/>
            </p:custDataLst>
          </p:nvPr>
        </p:nvSpPr>
        <p:spPr>
          <a:xfrm>
            <a:off x="475297" y="1828943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开锁时长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</a:t>
            </a:r>
          </a:p>
        </p:txBody>
      </p:sp>
      <p:sp>
        <p:nvSpPr>
          <p:cNvPr id="6" name="TextBox 6"/>
          <p:cNvSpPr txBox="1"/>
          <p:nvPr>
            <p:custDataLst>
              <p:tags r:id="rId2"/>
            </p:custDataLst>
          </p:nvPr>
        </p:nvSpPr>
        <p:spPr>
          <a:xfrm>
            <a:off x="457517" y="2189302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针对指纹识别模块进行万次重复测试，降低误识别率至0.001%以下，并增强防电磁干扰能力。</a:t>
            </a:r>
          </a:p>
        </p:txBody>
      </p:sp>
      <p:sp>
        <p:nvSpPr>
          <p:cNvPr id="7" name="TextBox 7"/>
          <p:cNvSpPr txBox="1"/>
          <p:nvPr>
            <p:custDataLst>
              <p:tags r:id="rId3"/>
            </p:custDataLst>
          </p:nvPr>
        </p:nvSpPr>
        <p:spPr>
          <a:xfrm>
            <a:off x="476557" y="2895851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用户体验优化</a:t>
            </a:r>
          </a:p>
        </p:txBody>
      </p:sp>
      <p:sp>
        <p:nvSpPr>
          <p:cNvPr id="8" name="TextBox 8"/>
          <p:cNvSpPr txBox="1"/>
          <p:nvPr>
            <p:custDataLst>
              <p:tags r:id="rId4"/>
            </p:custDataLst>
          </p:nvPr>
        </p:nvSpPr>
        <p:spPr>
          <a:xfrm>
            <a:off x="457507" y="32765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通过焦点小组反馈调整APP界面布局，简化配对流程，增加语音提示功能以提升老年用户友好度。</a:t>
            </a:r>
          </a:p>
        </p:txBody>
      </p:sp>
      <p:sp>
        <p:nvSpPr>
          <p:cNvPr id="11" name="TextBox 11"/>
          <p:cNvSpPr txBox="1"/>
          <p:nvPr>
            <p:custDataLst>
              <p:tags r:id="rId5"/>
            </p:custDataLst>
          </p:nvPr>
        </p:nvSpPr>
        <p:spPr>
          <a:xfrm>
            <a:off x="476456" y="3886451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兼容性测试</a:t>
            </a:r>
          </a:p>
        </p:txBody>
      </p:sp>
      <p:sp>
        <p:nvSpPr>
          <p:cNvPr id="12" name="TextBox 12"/>
          <p:cNvSpPr txBox="1"/>
          <p:nvPr>
            <p:custDataLst>
              <p:tags r:id="rId6"/>
            </p:custDataLst>
          </p:nvPr>
        </p:nvSpPr>
        <p:spPr>
          <a:xfrm>
            <a:off x="476456" y="42671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验证与主流智能家居平台（如HomeKit、米家）的互联互通，确保协议适配无冲突。</a:t>
            </a:r>
          </a:p>
        </p:txBody>
      </p:sp>
      <p:sp>
        <p:nvSpPr>
          <p:cNvPr id="13" name="Freeform 2"/>
          <p:cNvSpPr/>
          <p:nvPr/>
        </p:nvSpPr>
        <p:spPr>
          <a:xfrm rot="10800000">
            <a:off x="8213376" y="3854101"/>
            <a:ext cx="2377916" cy="1756791"/>
          </a:xfrm>
          <a:custGeom>
            <a:avLst/>
            <a:gdLst/>
            <a:ahLst/>
            <a:cxnLst/>
            <a:rect l="l" t="t" r="r" b="b"/>
            <a:pathLst>
              <a:path w="2117988" h="1564812">
                <a:moveTo>
                  <a:pt x="1058994" y="1564812"/>
                </a:moveTo>
                <a:lnTo>
                  <a:pt x="532623" y="787025"/>
                </a:lnTo>
                <a:lnTo>
                  <a:pt x="532623" y="787025"/>
                </a:lnTo>
                <a:lnTo>
                  <a:pt x="0" y="0"/>
                </a:lnTo>
                <a:lnTo>
                  <a:pt x="2117988" y="0"/>
                </a:lnTo>
                <a:lnTo>
                  <a:pt x="1585365" y="787025"/>
                </a:lnTo>
                <a:lnTo>
                  <a:pt x="1585365" y="787025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14" name="Freeform 3"/>
          <p:cNvSpPr/>
          <p:nvPr/>
        </p:nvSpPr>
        <p:spPr>
          <a:xfrm>
            <a:off x="8213376" y="2075402"/>
            <a:ext cx="2377916" cy="883634"/>
          </a:xfrm>
          <a:custGeom>
            <a:avLst/>
            <a:gdLst/>
            <a:ahLst/>
            <a:cxnLst/>
            <a:rect l="l" t="t" r="r" b="b"/>
            <a:pathLst>
              <a:path w="2895946" h="1485783">
                <a:moveTo>
                  <a:pt x="0" y="0"/>
                </a:moveTo>
                <a:lnTo>
                  <a:pt x="2895946" y="0"/>
                </a:lnTo>
                <a:lnTo>
                  <a:pt x="2167685" y="1485783"/>
                </a:lnTo>
                <a:lnTo>
                  <a:pt x="728261" y="1485783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5" name="Freeform 4"/>
          <p:cNvSpPr/>
          <p:nvPr/>
        </p:nvSpPr>
        <p:spPr>
          <a:xfrm rot="10800000">
            <a:off x="7620254" y="5632704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6" name="TextBox 5"/>
          <p:cNvSpPr txBox="1"/>
          <p:nvPr/>
        </p:nvSpPr>
        <p:spPr>
          <a:xfrm rot="-3311339" flipH="1">
            <a:off x="7649963" y="4442893"/>
            <a:ext cx="1447479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老客</a:t>
            </a:r>
          </a:p>
        </p:txBody>
      </p:sp>
      <p:sp>
        <p:nvSpPr>
          <p:cNvPr id="17" name="TextBox 6"/>
          <p:cNvSpPr txBox="1"/>
          <p:nvPr/>
        </p:nvSpPr>
        <p:spPr>
          <a:xfrm rot="-3434185" flipH="1">
            <a:off x="6997946" y="5521290"/>
            <a:ext cx="124461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数据</a:t>
            </a:r>
          </a:p>
        </p:txBody>
      </p:sp>
      <p:cxnSp>
        <p:nvCxnSpPr>
          <p:cNvPr id="18" name="Connector 7"/>
          <p:cNvCxnSpPr/>
          <p:nvPr/>
        </p:nvCxnSpPr>
        <p:spPr>
          <a:xfrm>
            <a:off x="10269953" y="2470068"/>
            <a:ext cx="1398954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nector 8"/>
          <p:cNvCxnSpPr/>
          <p:nvPr/>
        </p:nvCxnSpPr>
        <p:spPr>
          <a:xfrm>
            <a:off x="10790978" y="5951770"/>
            <a:ext cx="877929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nector 9"/>
          <p:cNvCxnSpPr/>
          <p:nvPr/>
        </p:nvCxnSpPr>
        <p:spPr>
          <a:xfrm>
            <a:off x="9718529" y="3327932"/>
            <a:ext cx="1950378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nector 10"/>
          <p:cNvCxnSpPr/>
          <p:nvPr/>
        </p:nvCxnSpPr>
        <p:spPr>
          <a:xfrm>
            <a:off x="10024276" y="4789250"/>
            <a:ext cx="1644631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Freeform 52"/>
          <p:cNvSpPr/>
          <p:nvPr/>
        </p:nvSpPr>
        <p:spPr>
          <a:xfrm>
            <a:off x="7620254" y="1177100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53" name="Freeform 53"/>
          <p:cNvSpPr/>
          <p:nvPr/>
        </p:nvSpPr>
        <p:spPr>
          <a:xfrm>
            <a:off x="8811355" y="2980849"/>
            <a:ext cx="1181957" cy="873252"/>
          </a:xfrm>
          <a:custGeom>
            <a:avLst/>
            <a:gdLst/>
            <a:ahLst/>
            <a:cxnLst/>
            <a:rect l="l" t="t" r="r" b="b"/>
            <a:pathLst>
              <a:path w="1439424" h="1468343">
                <a:moveTo>
                  <a:pt x="0" y="0"/>
                </a:moveTo>
                <a:lnTo>
                  <a:pt x="1439424" y="0"/>
                </a:lnTo>
                <a:lnTo>
                  <a:pt x="719712" y="1468343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cxnSp>
        <p:nvCxnSpPr>
          <p:cNvPr id="54" name="Connector 54"/>
          <p:cNvCxnSpPr/>
          <p:nvPr/>
        </p:nvCxnSpPr>
        <p:spPr>
          <a:xfrm>
            <a:off x="7320173" y="1220833"/>
            <a:ext cx="1721025" cy="2543056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55" name="Connector 55"/>
          <p:cNvCxnSpPr/>
          <p:nvPr/>
        </p:nvCxnSpPr>
        <p:spPr>
          <a:xfrm flipV="1">
            <a:off x="7367978" y="3930708"/>
            <a:ext cx="1712158" cy="2529953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56" name="TextBox 56"/>
          <p:cNvSpPr txBox="1"/>
          <p:nvPr/>
        </p:nvSpPr>
        <p:spPr>
          <a:xfrm rot="3325093" flipH="1">
            <a:off x="6846665" y="1886732"/>
            <a:ext cx="14708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渠道</a:t>
            </a:r>
          </a:p>
        </p:txBody>
      </p:sp>
      <p:sp>
        <p:nvSpPr>
          <p:cNvPr id="57" name="TextBox 57"/>
          <p:cNvSpPr txBox="1"/>
          <p:nvPr/>
        </p:nvSpPr>
        <p:spPr>
          <a:xfrm rot="3325093" flipH="1">
            <a:off x="7638240" y="3154536"/>
            <a:ext cx="158424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转化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757599" y="2361247"/>
            <a:ext cx="1320427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需求挖掘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953087" y="4696015"/>
            <a:ext cx="898398" cy="2769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激活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213376" y="5915501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行为分析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953087" y="3054953"/>
            <a:ext cx="898398" cy="4616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跟进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213376" y="1481709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宣传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研发团队组成</a:t>
            </a: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2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负责智能门锁的电路设计、传感器选型及机械结构优化，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以及各种硬件接线与硬件模块。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确保产品在物理层面的稳定性和耐用性。</a:t>
            </a: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硬件工程师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如斯太木</a:t>
            </a: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>
            <p:custDataLst>
              <p:tags r:id="rId5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250" dirty="0">
                <a:solidFill>
                  <a:schemeClr val="dk1">
                    <a:alpha val="100000"/>
                  </a:schemeClr>
                </a:solidFill>
                <a:ea typeface="Noto Sans SC" panose="020B0200000000000000" charset="-122"/>
              </a:rPr>
              <a:t>设计智能门锁日志系统的三层架构，包含数据库存储、</a:t>
            </a:r>
            <a:r>
              <a:rPr lang="en-US" altLang="zh-CN" sz="1250" dirty="0">
                <a:solidFill>
                  <a:schemeClr val="dk1">
                    <a:alpha val="100000"/>
                  </a:schemeClr>
                </a:solidFill>
                <a:ea typeface="Noto Sans SC" panose="020B0200000000000000" charset="-122"/>
              </a:rPr>
              <a:t>MQTT</a:t>
            </a:r>
            <a:r>
              <a:rPr lang="zh-CN" altLang="en-US" sz="1250" dirty="0">
                <a:solidFill>
                  <a:schemeClr val="dk1">
                    <a:alpha val="100000"/>
                  </a:schemeClr>
                </a:solidFill>
                <a:ea typeface="Noto Sans SC" panose="020B0200000000000000" charset="-122"/>
              </a:rPr>
              <a:t>通信、多维度查询统计、数据生命周期管理等核心功能，确保系统稳定可扩展</a:t>
            </a:r>
            <a:r>
              <a:rPr lang="zh-CN" altLang="en-US" sz="1400" dirty="0"/>
              <a:t>。</a:t>
            </a:r>
            <a:endParaRPr lang="zh-CN" altLang="en-US" sz="1250" dirty="0">
              <a:solidFill>
                <a:schemeClr val="dk1">
                  <a:alpha val="100000"/>
                </a:schemeClr>
              </a:solidFill>
              <a:ea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6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系统设计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杜睿茵</a:t>
            </a: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8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统筹研发进度，协调跨部门需求，定义产品功能优先级，并负责市场调研与竞品分析。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设计用户友好的操作界面和交互流程，优化解锁体验，兼顾美观性与实用性。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9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产品经理+UI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设计师</a:t>
            </a:r>
            <a:r>
              <a:rPr lang="en-US" altLang="zh-CN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</a:t>
            </a: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1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设计系统整体架构，包括文件代码等存储位置、过程文档等存储位置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</a:p>
        </p:txBody>
      </p:sp>
      <p:sp>
        <p:nvSpPr>
          <p:cNvPr id="14" name="TextBox 14"/>
          <p:cNvSpPr txBox="1"/>
          <p:nvPr>
            <p:custDataLst>
              <p:tags r:id="rId12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系统架构师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陈润生</a:t>
            </a: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4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制定严格的测试方案，覆盖功能测试、压力测试及兼容性测试，确保产品在不同环境下稳定运行。</a:t>
            </a:r>
          </a:p>
        </p:txBody>
      </p:sp>
      <p:sp>
        <p:nvSpPr>
          <p:cNvPr id="17" name="TextBox 17"/>
          <p:cNvSpPr txBox="1"/>
          <p:nvPr>
            <p:custDataLst>
              <p:tags r:id="rId15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测试工程师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王嘉安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软件开发人员分工</a:t>
            </a: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2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首页前端代码的编写；密码管理与指纹管理</a:t>
            </a:r>
            <a:r>
              <a:rPr lang="en-US" altLang="zh-CN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页面代码的补充完善，以及</a:t>
            </a:r>
            <a:r>
              <a:rPr lang="en-US" altLang="zh-CN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RFID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卡管理页面的编写；应用端密码修改同步到锁端代码编写</a:t>
            </a: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张朴平</a:t>
            </a: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5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编写密码管理和指纹管理页面的前端，并从数据库中读取所有密码和指纹，展示供选择。修改密码和指纹身份信息后保存到数据库。</a:t>
            </a:r>
          </a:p>
        </p:txBody>
      </p:sp>
      <p:sp>
        <p:nvSpPr>
          <p:cNvPr id="8" name="TextBox 8"/>
          <p:cNvSpPr txBox="1"/>
          <p:nvPr>
            <p:custDataLst>
              <p:tags r:id="rId6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张智祥</a:t>
            </a: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8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9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张俊辉</a:t>
            </a: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1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2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聂圣博</a:t>
            </a: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4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5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杨晨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</a:p>
        </p:txBody>
      </p:sp>
      <p:sp>
        <p:nvSpPr>
          <p:cNvPr id="5" name="TextBox 5"/>
          <p:cNvSpPr txBox="1"/>
          <p:nvPr>
            <p:custDataLst>
              <p:tags r:id="rId1"/>
            </p:custDataLst>
          </p:nvPr>
        </p:nvSpPr>
        <p:spPr>
          <a:xfrm>
            <a:off x="35827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</a:t>
            </a: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3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4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5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1371600"/>
            <a:ext cx="6294755" cy="447929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0400" y="1371600"/>
            <a:ext cx="2057400" cy="228981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780" y="3810000"/>
            <a:ext cx="2065020" cy="6324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780" y="4635500"/>
            <a:ext cx="2064385" cy="58674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0400" y="5376545"/>
            <a:ext cx="2057400" cy="47244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296400" y="13538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产品经理</a:t>
            </a:r>
          </a:p>
          <a:p>
            <a:r>
              <a:rPr lang="en-US" altLang="zh-CN"/>
              <a:t>UI</a:t>
            </a:r>
            <a:r>
              <a:rPr lang="zh-CN" altLang="en-US"/>
              <a:t>设计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296400" y="22098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产品需求文档</a:t>
            </a:r>
          </a:p>
          <a:p>
            <a:r>
              <a:rPr lang="zh-CN" altLang="en-US" dirty="0"/>
              <a:t>界面设计</a:t>
            </a:r>
          </a:p>
          <a:p>
            <a:r>
              <a:rPr lang="zh-CN" altLang="en-US" dirty="0"/>
              <a:t>交互逻辑图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</a:p>
        </p:txBody>
      </p:sp>
      <p:sp>
        <p:nvSpPr>
          <p:cNvPr id="5" name="TextBox 5"/>
          <p:cNvSpPr txBox="1"/>
          <p:nvPr>
            <p:custDataLst>
              <p:tags r:id="rId1"/>
            </p:custDataLst>
          </p:nvPr>
        </p:nvSpPr>
        <p:spPr>
          <a:xfrm>
            <a:off x="53353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张智祥</a:t>
            </a:r>
          </a:p>
        </p:txBody>
      </p:sp>
      <p:pic>
        <p:nvPicPr>
          <p:cNvPr id="3" name="图片 2" descr="密码管理页面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2259965" cy="4879975"/>
          </a:xfrm>
          <a:prstGeom prst="rect">
            <a:avLst/>
          </a:prstGeom>
        </p:spPr>
      </p:pic>
      <p:pic>
        <p:nvPicPr>
          <p:cNvPr id="4" name="图片 3" descr="编辑密码身份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1372235"/>
            <a:ext cx="2258695" cy="4879340"/>
          </a:xfrm>
          <a:prstGeom prst="rect">
            <a:avLst/>
          </a:prstGeom>
        </p:spPr>
      </p:pic>
      <p:pic>
        <p:nvPicPr>
          <p:cNvPr id="8" name="图片 7" descr="指纹管理页面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372235"/>
            <a:ext cx="2258695" cy="4878705"/>
          </a:xfrm>
          <a:prstGeom prst="rect">
            <a:avLst/>
          </a:prstGeom>
        </p:spPr>
      </p:pic>
      <p:pic>
        <p:nvPicPr>
          <p:cNvPr id="9" name="图片 8" descr="编辑指纹身份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800" y="1371600"/>
            <a:ext cx="2259330" cy="48793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361930" y="1371600"/>
            <a:ext cx="1798320" cy="2529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密码和指纹管理</a:t>
            </a:r>
          </a:p>
          <a:p>
            <a:r>
              <a:rPr lang="zh-CN" altLang="en-US"/>
              <a:t>页面前端、从数据库中读取所有密码和指纹并展示、编辑密码和指纹信息后保存到数据库。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</a:p>
        </p:txBody>
      </p:sp>
      <p:sp>
        <p:nvSpPr>
          <p:cNvPr id="5" name="TextBox 5"/>
          <p:cNvSpPr txBox="1"/>
          <p:nvPr>
            <p:custDataLst>
              <p:tags r:id="rId1"/>
            </p:custDataLst>
          </p:nvPr>
        </p:nvSpPr>
        <p:spPr>
          <a:xfrm>
            <a:off x="53353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张朴平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363200" y="-76200"/>
            <a:ext cx="1798320" cy="2529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  <a:sym typeface="+mn-ea"/>
              </a:rPr>
              <a:t>1.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开发</a:t>
            </a:r>
            <a:r>
              <a:rPr lang="en-US" altLang="zh-CN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APP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端页面</a:t>
            </a:r>
            <a:endParaRPr lang="zh-CN" altLang="en-US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2.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密码修改与锁端同步</a:t>
            </a:r>
            <a:endParaRPr lang="zh-CN" altLang="en-US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1295400"/>
            <a:ext cx="2195830" cy="4385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295400"/>
            <a:ext cx="2134235" cy="43929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630" y="1295400"/>
            <a:ext cx="2077085" cy="43853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3715" y="1295400"/>
            <a:ext cx="2097405" cy="44500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7800" y="1295400"/>
            <a:ext cx="2122805" cy="44303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</a:p>
        </p:txBody>
      </p:sp>
      <p:sp>
        <p:nvSpPr>
          <p:cNvPr id="5" name="TextBox 5"/>
          <p:cNvSpPr txBox="1"/>
          <p:nvPr>
            <p:custDataLst>
              <p:tags r:id="rId1"/>
            </p:custDataLst>
          </p:nvPr>
        </p:nvSpPr>
        <p:spPr>
          <a:xfrm>
            <a:off x="53353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 dirty="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杜睿茵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71" y="1475197"/>
            <a:ext cx="2001177" cy="432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84" y="1475197"/>
            <a:ext cx="2001177" cy="432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097" y="1475197"/>
            <a:ext cx="2001177" cy="4320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860" y="1475197"/>
            <a:ext cx="2001177" cy="43200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623" y="1475197"/>
            <a:ext cx="2001177" cy="4320000"/>
          </a:xfrm>
          <a:prstGeom prst="rect">
            <a:avLst/>
          </a:prstGeom>
        </p:spPr>
      </p:pic>
      <p:sp>
        <p:nvSpPr>
          <p:cNvPr id="26" name="TextBox 5"/>
          <p:cNvSpPr txBox="1"/>
          <p:nvPr>
            <p:custDataLst>
              <p:tags r:id="rId2"/>
            </p:custDataLst>
          </p:nvPr>
        </p:nvSpPr>
        <p:spPr>
          <a:xfrm>
            <a:off x="10684800" y="1371600"/>
            <a:ext cx="1507200" cy="16764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1</a:t>
            </a:r>
            <a:r>
              <a:rPr lang="zh-CN" altLang="en-US" dirty="0"/>
              <a:t>、日志同步</a:t>
            </a:r>
            <a:endParaRPr lang="en-US" altLang="zh-CN" dirty="0"/>
          </a:p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2</a:t>
            </a:r>
            <a:r>
              <a:rPr lang="zh-CN" altLang="en-US" dirty="0"/>
              <a:t>、日志存储</a:t>
            </a:r>
            <a:endParaRPr lang="en-US" altLang="zh-CN" dirty="0"/>
          </a:p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3</a:t>
            </a:r>
            <a:r>
              <a:rPr lang="zh-CN" altLang="en-US" dirty="0"/>
              <a:t>、日志查看</a:t>
            </a:r>
            <a:endParaRPr lang="en-US" altLang="zh-CN" dirty="0"/>
          </a:p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4</a:t>
            </a:r>
            <a:r>
              <a:rPr lang="zh-CN" altLang="en-US" dirty="0"/>
              <a:t>、日志过滤</a:t>
            </a:r>
            <a:endParaRPr lang="en-US" altLang="zh-CN" dirty="0"/>
          </a:p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5</a:t>
            </a:r>
            <a:r>
              <a:rPr lang="zh-CN" altLang="en-US" dirty="0"/>
              <a:t>、日志删除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协作与沟通机制</a:t>
            </a:r>
          </a:p>
        </p:txBody>
      </p:sp>
      <p:cxnSp>
        <p:nvCxnSpPr>
          <p:cNvPr id="16" name="Connector 16"/>
          <p:cNvCxnSpPr/>
          <p:nvPr>
            <p:custDataLst>
              <p:tags r:id="rId1"/>
            </p:custDataLst>
          </p:nvPr>
        </p:nvCxnSpPr>
        <p:spPr>
          <a:xfrm flipH="1">
            <a:off x="1267386" y="2002593"/>
            <a:ext cx="1" cy="2981501"/>
          </a:xfrm>
          <a:prstGeom prst="line">
            <a:avLst/>
          </a:prstGeom>
          <a:ln w="12700">
            <a:solidFill>
              <a:schemeClr val="dk1"/>
            </a:solidFill>
            <a:prstDash val="dash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7" name="TextBox 17"/>
          <p:cNvSpPr txBox="1"/>
          <p:nvPr>
            <p:custDataLst>
              <p:tags r:id="rId2"/>
            </p:custDataLst>
          </p:nvPr>
        </p:nvSpPr>
        <p:spPr>
          <a:xfrm>
            <a:off x="1708499" y="1627518"/>
            <a:ext cx="18135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感受（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Feeling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</a:p>
        </p:txBody>
      </p:sp>
      <p:sp>
        <p:nvSpPr>
          <p:cNvPr id="18" name="TextBox 18"/>
          <p:cNvSpPr txBox="1"/>
          <p:nvPr>
            <p:custDataLst>
              <p:tags r:id="rId3"/>
            </p:custDataLst>
          </p:nvPr>
        </p:nvSpPr>
        <p:spPr>
          <a:xfrm>
            <a:off x="1689449" y="2012251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完整的感受产品从立项到交付的流程，明白多个职位的工作内容与不同职位间的合作</a:t>
            </a:r>
          </a:p>
        </p:txBody>
      </p:sp>
      <p:sp>
        <p:nvSpPr>
          <p:cNvPr id="19" name="AutoShape 19"/>
          <p:cNvSpPr/>
          <p:nvPr>
            <p:custDataLst>
              <p:tags r:id="rId4"/>
            </p:custDataLst>
          </p:nvPr>
        </p:nvSpPr>
        <p:spPr>
          <a:xfrm>
            <a:off x="1003268" y="1551718"/>
            <a:ext cx="524542" cy="52454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0" name="TextBox 20"/>
          <p:cNvSpPr txBox="1"/>
          <p:nvPr>
            <p:custDataLst>
              <p:tags r:id="rId5"/>
            </p:custDataLst>
          </p:nvPr>
        </p:nvSpPr>
        <p:spPr>
          <a:xfrm>
            <a:off x="1653826" y="3148965"/>
            <a:ext cx="15341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事实（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Fact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</a:p>
        </p:txBody>
      </p:sp>
      <p:sp>
        <p:nvSpPr>
          <p:cNvPr id="21" name="TextBox 21"/>
          <p:cNvSpPr txBox="1"/>
          <p:nvPr>
            <p:custDataLst>
              <p:tags r:id="rId6"/>
            </p:custDataLst>
          </p:nvPr>
        </p:nvSpPr>
        <p:spPr>
          <a:xfrm>
            <a:off x="1689449" y="3550063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所有计划均按时结束、没有延期情况。为后期修补完善提供了足够时间。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2" name="AutoShape 22"/>
          <p:cNvSpPr/>
          <p:nvPr>
            <p:custDataLst>
              <p:tags r:id="rId7"/>
            </p:custDataLst>
          </p:nvPr>
        </p:nvSpPr>
        <p:spPr>
          <a:xfrm>
            <a:off x="1003268" y="3089624"/>
            <a:ext cx="524542" cy="52454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3" name="TextBox 23"/>
          <p:cNvSpPr txBox="1"/>
          <p:nvPr>
            <p:custDataLst>
              <p:tags r:id="rId8"/>
            </p:custDataLst>
          </p:nvPr>
        </p:nvSpPr>
        <p:spPr>
          <a:xfrm>
            <a:off x="1689449" y="4873416"/>
            <a:ext cx="2012315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对比（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Compare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</a:p>
        </p:txBody>
      </p:sp>
      <p:sp>
        <p:nvSpPr>
          <p:cNvPr id="24" name="TextBox 24"/>
          <p:cNvSpPr txBox="1"/>
          <p:nvPr>
            <p:custDataLst>
              <p:tags r:id="rId9"/>
            </p:custDataLst>
          </p:nvPr>
        </p:nvSpPr>
        <p:spPr>
          <a:xfrm>
            <a:off x="1689449" y="5326193"/>
            <a:ext cx="3630930" cy="1005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通过横向对比突出协作成果，例如：“...相较传统开发模式，本次并行开发周期缩短了40%。”</a:t>
            </a:r>
          </a:p>
        </p:txBody>
      </p:sp>
      <p:sp>
        <p:nvSpPr>
          <p:cNvPr id="25" name="AutoShape 25"/>
          <p:cNvSpPr/>
          <p:nvPr>
            <p:custDataLst>
              <p:tags r:id="rId10"/>
            </p:custDataLst>
          </p:nvPr>
        </p:nvSpPr>
        <p:spPr>
          <a:xfrm>
            <a:off x="1003268" y="4767739"/>
            <a:ext cx="524542" cy="524542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6" name="TextBox 26"/>
          <p:cNvSpPr txBox="1"/>
          <p:nvPr>
            <p:custDataLst>
              <p:tags r:id="rId11"/>
            </p:custDataLst>
          </p:nvPr>
        </p:nvSpPr>
        <p:spPr>
          <a:xfrm>
            <a:off x="971264" y="1633252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</a:p>
        </p:txBody>
      </p:sp>
      <p:sp>
        <p:nvSpPr>
          <p:cNvPr id="27" name="TextBox 27"/>
          <p:cNvSpPr txBox="1"/>
          <p:nvPr>
            <p:custDataLst>
              <p:tags r:id="rId12"/>
            </p:custDataLst>
          </p:nvPr>
        </p:nvSpPr>
        <p:spPr>
          <a:xfrm>
            <a:off x="971264" y="3171158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</a:p>
        </p:txBody>
      </p:sp>
      <p:sp>
        <p:nvSpPr>
          <p:cNvPr id="28" name="TextBox 28"/>
          <p:cNvSpPr txBox="1"/>
          <p:nvPr>
            <p:custDataLst>
              <p:tags r:id="rId13"/>
            </p:custDataLst>
          </p:nvPr>
        </p:nvSpPr>
        <p:spPr>
          <a:xfrm>
            <a:off x="971264" y="4861370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0" y="381000"/>
            <a:ext cx="3936365" cy="295148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4000" y="3332480"/>
            <a:ext cx="3913505" cy="293433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7505" y="381000"/>
            <a:ext cx="2944495" cy="220853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60840" y="2545715"/>
            <a:ext cx="2964180" cy="222313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89085" y="4767580"/>
            <a:ext cx="304038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7500"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产品文档与说明书</a:t>
            </a:r>
          </a:p>
        </p:txBody>
      </p:sp>
      <p:sp>
        <p:nvSpPr>
          <p:cNvPr id="3" name="TextBox 3"/>
          <p:cNvSpPr txBox="1"/>
          <p:nvPr>
            <p:custDataLst>
              <p:tags r:id="rId1"/>
            </p:custDataLst>
          </p:nvPr>
        </p:nvSpPr>
        <p:spPr>
          <a:xfrm>
            <a:off x="515104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功能详解文档</a:t>
            </a:r>
          </a:p>
        </p:txBody>
      </p:sp>
      <p:sp>
        <p:nvSpPr>
          <p:cNvPr id="4" name="TextBox 4"/>
          <p:cNvSpPr txBox="1"/>
          <p:nvPr>
            <p:custDataLst>
              <p:tags r:id="rId2"/>
            </p:custDataLst>
          </p:nvPr>
        </p:nvSpPr>
        <p:spPr>
          <a:xfrm>
            <a:off x="4278857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安装指南</a:t>
            </a: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8042611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故障排查手册</a:t>
            </a:r>
          </a:p>
        </p:txBody>
      </p:sp>
      <p:sp>
        <p:nvSpPr>
          <p:cNvPr id="6" name="TextBox 6"/>
          <p:cNvSpPr txBox="1"/>
          <p:nvPr>
            <p:custDataLst>
              <p:tags r:id="rId4"/>
            </p:custDataLst>
          </p:nvPr>
        </p:nvSpPr>
        <p:spPr>
          <a:xfrm>
            <a:off x="2395390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安全使用规范</a:t>
            </a:r>
          </a:p>
        </p:txBody>
      </p:sp>
      <p:sp>
        <p:nvSpPr>
          <p:cNvPr id="7" name="TextBox 7"/>
          <p:cNvSpPr txBox="1"/>
          <p:nvPr>
            <p:custDataLst>
              <p:tags r:id="rId5"/>
            </p:custDataLst>
          </p:nvPr>
        </p:nvSpPr>
        <p:spPr>
          <a:xfrm>
            <a:off x="6159144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多语言版本支持</a:t>
            </a: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515104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7"/>
            </p:custDataLst>
          </p:nvPr>
        </p:nvSpPr>
        <p:spPr>
          <a:xfrm>
            <a:off x="740613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详细描述了智能门锁的核心功能，包括指纹识别、密码解锁、远程控制等，确保用户能够全面了解产品特性。</a:t>
            </a: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4278857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9"/>
            </p:custDataLst>
          </p:nvPr>
        </p:nvSpPr>
        <p:spPr>
          <a:xfrm>
            <a:off x="4504366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提供了图文并茂的安装步骤说明，涵盖不同门型的适配方案，帮助用户或技术人员快速完成安装。</a:t>
            </a: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8042611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1"/>
            </p:custDataLst>
          </p:nvPr>
        </p:nvSpPr>
        <p:spPr>
          <a:xfrm>
            <a:off x="8268120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列出了常见问题及解决方案，如电池更换、网络连接异常等，便于用户自主解决简单问题。</a:t>
            </a: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2395390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5" name="TextBox 15"/>
          <p:cNvSpPr txBox="1"/>
          <p:nvPr>
            <p:custDataLst>
              <p:tags r:id="rId13"/>
            </p:custDataLst>
          </p:nvPr>
        </p:nvSpPr>
        <p:spPr>
          <a:xfrm>
            <a:off x="2620899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强调了智能门锁的安全注意事项，例如定期更换密码、避免指纹残留等，确保用户使用过程中的安全性。</a:t>
            </a: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6159144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7" name="TextBox 17"/>
          <p:cNvSpPr txBox="1"/>
          <p:nvPr>
            <p:custDataLst>
              <p:tags r:id="rId15"/>
            </p:custDataLst>
          </p:nvPr>
        </p:nvSpPr>
        <p:spPr>
          <a:xfrm>
            <a:off x="6384653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产品说明书支持多种语言，满足不同地区用户的需求，提升产品的国际化适用性。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212980">
            <a:off x="5994460" y="3861620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 flipH="1">
            <a:off x="4442002" y="1595566"/>
            <a:ext cx="3307996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4698933" y="1661079"/>
            <a:ext cx="2878455" cy="26289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故障排查</a:t>
            </a:r>
          </a:p>
        </p:txBody>
      </p:sp>
      <p:sp>
        <p:nvSpPr>
          <p:cNvPr id="5" name="Freeform 5"/>
          <p:cNvSpPr/>
          <p:nvPr/>
        </p:nvSpPr>
        <p:spPr>
          <a:xfrm rot="3387019" flipH="1">
            <a:off x="3186932" y="3861621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 rot="3387019">
            <a:off x="3372217" y="3906760"/>
            <a:ext cx="2566503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需求匹配</a:t>
            </a:r>
          </a:p>
        </p:txBody>
      </p:sp>
      <p:sp>
        <p:nvSpPr>
          <p:cNvPr id="7" name="AutoShape 7"/>
          <p:cNvSpPr/>
          <p:nvPr/>
        </p:nvSpPr>
        <p:spPr>
          <a:xfrm rot="10800000">
            <a:off x="3684482" y="2043249"/>
            <a:ext cx="4781840" cy="820428"/>
          </a:xfrm>
          <a:prstGeom prst="trapezoid">
            <a:avLst>
              <a:gd name="adj" fmla="val 63339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 rot="10800000">
            <a:off x="4203937" y="2863561"/>
            <a:ext cx="3743753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90000"/>
            </a:schemeClr>
          </a:solidFill>
        </p:spPr>
      </p:sp>
      <p:sp>
        <p:nvSpPr>
          <p:cNvPr id="9" name="AutoShape 9"/>
          <p:cNvSpPr/>
          <p:nvPr/>
        </p:nvSpPr>
        <p:spPr>
          <a:xfrm rot="10800000">
            <a:off x="4725031" y="3636381"/>
            <a:ext cx="2701561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80000"/>
            </a:schemeClr>
          </a:solidFill>
        </p:spPr>
      </p:sp>
      <p:sp>
        <p:nvSpPr>
          <p:cNvPr id="10" name="AutoShape 10"/>
          <p:cNvSpPr/>
          <p:nvPr/>
        </p:nvSpPr>
        <p:spPr>
          <a:xfrm rot="10800000">
            <a:off x="5247652" y="4412732"/>
            <a:ext cx="1656001" cy="993767"/>
          </a:xfrm>
          <a:prstGeom prst="trapezoid">
            <a:avLst>
              <a:gd name="adj" fmla="val 65905"/>
            </a:avLst>
          </a:prstGeom>
          <a:solidFill>
            <a:schemeClr val="accent1">
              <a:alpha val="7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7942586" y="173719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5706366" y="531687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5874785" y="5514660"/>
            <a:ext cx="423932" cy="35825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HarmonyOS Sans SC Medium"/>
                <a:ea typeface="HarmonyOS Sans SC Medium"/>
                <a:cs typeface="HarmonyOS Sans SC Medium"/>
              </a:rPr>
              <a:t>企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302151" y="1561230"/>
            <a:ext cx="1147326" cy="1147326"/>
          </a:xfrm>
          <a:prstGeom prst="ellipse">
            <a:avLst/>
          </a:prstGeom>
          <a:solidFill>
            <a:schemeClr val="accent5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/>
        </p:nvSpPr>
        <p:spPr>
          <a:xfrm>
            <a:off x="4799840" y="2250248"/>
            <a:ext cx="2624114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开锁速度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35468" y="2988859"/>
            <a:ext cx="2152858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识别精度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71430" y="3795029"/>
            <a:ext cx="2038080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防撬报警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89304" y="4555858"/>
            <a:ext cx="1180360" cy="3382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用户评分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738227" y="1561230"/>
            <a:ext cx="1147326" cy="114732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0" name="AutoShape 20"/>
          <p:cNvSpPr/>
          <p:nvPr/>
        </p:nvSpPr>
        <p:spPr>
          <a:xfrm>
            <a:off x="5522337" y="5087683"/>
            <a:ext cx="1147326" cy="11473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1" name="TextBox 21"/>
          <p:cNvSpPr txBox="1"/>
          <p:nvPr/>
        </p:nvSpPr>
        <p:spPr>
          <a:xfrm>
            <a:off x="3520292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测试定位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6368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算法升级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40478" y="5341906"/>
            <a:ext cx="706755" cy="681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数据监控</a:t>
            </a:r>
          </a:p>
        </p:txBody>
      </p:sp>
      <p:sp>
        <p:nvSpPr>
          <p:cNvPr id="24" name="TextBox 24"/>
          <p:cNvSpPr txBox="1"/>
          <p:nvPr/>
        </p:nvSpPr>
        <p:spPr>
          <a:xfrm rot="18212980" flipH="1">
            <a:off x="6225071" y="3927217"/>
            <a:ext cx="2545080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安全与便捷平衡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96647" y="2166282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采用3D结构光技术实现0.01秒极速识别，误识率低于0.0001%行业领先水平。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60421" y="1714256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生物识别优化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4147" y="213531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依据行业标准制定测试方案，覆盖极端环境下的开锁成功率、误识率等核心指标。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6023" y="1714256"/>
            <a:ext cx="2228850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测试标准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81633" y="557098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通过云端监控平台实时追踪10万次开锁数据，自动触发电池低电量等异常预警机制。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54880" y="5134444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</a:p>
        </p:txBody>
      </p:sp>
      <p:sp>
        <p:nvSpPr>
          <p:cNvPr id="31" name="AutoShape 31"/>
          <p:cNvSpPr/>
          <p:nvPr/>
        </p:nvSpPr>
        <p:spPr>
          <a:xfrm>
            <a:off x="960737" y="4554068"/>
            <a:ext cx="2051845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>
            <a:off x="960737" y="4667429"/>
            <a:ext cx="204109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高温测试</a:t>
            </a:r>
          </a:p>
        </p:txBody>
      </p:sp>
      <p:sp>
        <p:nvSpPr>
          <p:cNvPr id="33" name="AutoShape 33"/>
          <p:cNvSpPr/>
          <p:nvPr/>
        </p:nvSpPr>
        <p:spPr>
          <a:xfrm>
            <a:off x="960738" y="5205231"/>
            <a:ext cx="2051843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>
            <a:off x="960737" y="5318592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潮湿测试</a:t>
            </a:r>
          </a:p>
        </p:txBody>
      </p:sp>
      <p:sp>
        <p:nvSpPr>
          <p:cNvPr id="35" name="AutoShape 35"/>
          <p:cNvSpPr/>
          <p:nvPr/>
        </p:nvSpPr>
        <p:spPr>
          <a:xfrm>
            <a:off x="960737" y="5856397"/>
            <a:ext cx="2051844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/>
        </p:nvSpPr>
        <p:spPr>
          <a:xfrm>
            <a:off x="960737" y="5969758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暴力测试</a:t>
            </a:r>
          </a:p>
        </p:txBody>
      </p:sp>
      <p:cxnSp>
        <p:nvCxnSpPr>
          <p:cNvPr id="37" name="Connector 37"/>
          <p:cNvCxnSpPr/>
          <p:nvPr/>
        </p:nvCxnSpPr>
        <p:spPr>
          <a:xfrm>
            <a:off x="3098940" y="5686162"/>
            <a:ext cx="2337039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TextBox 38"/>
          <p:cNvSpPr txBox="1"/>
          <p:nvPr/>
        </p:nvSpPr>
        <p:spPr>
          <a:xfrm>
            <a:off x="3488602" y="5442221"/>
            <a:ext cx="1371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策略优化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96647" y="2890991"/>
            <a:ext cx="2390775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实测视频展示-20℃低温环境下指纹识别通过率仍达99.7%。</a:t>
            </a:r>
          </a:p>
        </p:txBody>
      </p:sp>
      <p:sp>
        <p:nvSpPr>
          <p:cNvPr id="40" name="AutoShape 40"/>
          <p:cNvSpPr/>
          <p:nvPr/>
        </p:nvSpPr>
        <p:spPr>
          <a:xfrm>
            <a:off x="9196647" y="1773732"/>
            <a:ext cx="188825" cy="188825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1" name="AutoShape 41"/>
          <p:cNvSpPr/>
          <p:nvPr/>
        </p:nvSpPr>
        <p:spPr>
          <a:xfrm>
            <a:off x="2813006" y="1773732"/>
            <a:ext cx="188825" cy="188825"/>
          </a:xfrm>
          <a:prstGeom prst="rect">
            <a:avLst/>
          </a:prstGeom>
          <a:solidFill>
            <a:schemeClr val="accent5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7384473" y="5198576"/>
            <a:ext cx="188825" cy="188825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3" name="TextBox 4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测试报告与性能数据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7500"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>
            <p:custDataLst>
              <p:tags r:id="rId1"/>
            </p:custDataLst>
          </p:nvPr>
        </p:nvSpPr>
        <p:spPr>
          <a:xfrm>
            <a:off x="4677172" y="2606336"/>
            <a:ext cx="2786856" cy="2786856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2108736" y="1364966"/>
            <a:ext cx="7911028" cy="103639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4" name="Freeform 4"/>
          <p:cNvSpPr/>
          <p:nvPr>
            <p:custDataLst>
              <p:tags r:id="rId3"/>
            </p:custDataLst>
          </p:nvPr>
        </p:nvSpPr>
        <p:spPr>
          <a:xfrm>
            <a:off x="7009566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5" name="Freeform 5"/>
          <p:cNvSpPr/>
          <p:nvPr>
            <p:custDataLst>
              <p:tags r:id="rId4"/>
            </p:custDataLst>
          </p:nvPr>
        </p:nvSpPr>
        <p:spPr>
          <a:xfrm>
            <a:off x="7159096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6" name="Freeform 6"/>
          <p:cNvSpPr/>
          <p:nvPr>
            <p:custDataLst>
              <p:tags r:id="rId5"/>
            </p:custDataLst>
          </p:nvPr>
        </p:nvSpPr>
        <p:spPr>
          <a:xfrm>
            <a:off x="2832598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7" name="Freeform 7"/>
          <p:cNvSpPr/>
          <p:nvPr>
            <p:custDataLst>
              <p:tags r:id="rId6"/>
            </p:custDataLst>
          </p:nvPr>
        </p:nvSpPr>
        <p:spPr>
          <a:xfrm>
            <a:off x="2982128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2241550" y="5841389"/>
            <a:ext cx="7658100" cy="419100"/>
          </a:xfrm>
          <a:prstGeom prst="roundRect">
            <a:avLst>
              <a:gd name="adj" fmla="val 5000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01219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8382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01219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8382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10121900" y="450788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38200" y="4514977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5" name="Freeform 15"/>
          <p:cNvSpPr/>
          <p:nvPr>
            <p:custDataLst>
              <p:tags r:id="rId8"/>
            </p:custDataLst>
          </p:nvPr>
        </p:nvSpPr>
        <p:spPr>
          <a:xfrm>
            <a:off x="49403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6" name="Freeform 16"/>
          <p:cNvSpPr/>
          <p:nvPr>
            <p:custDataLst>
              <p:tags r:id="rId9"/>
            </p:custDataLst>
          </p:nvPr>
        </p:nvSpPr>
        <p:spPr>
          <a:xfrm>
            <a:off x="72009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7" name="Freeform 17"/>
          <p:cNvSpPr/>
          <p:nvPr>
            <p:custDataLst>
              <p:tags r:id="rId10"/>
            </p:custDataLst>
          </p:nvPr>
        </p:nvSpPr>
        <p:spPr>
          <a:xfrm>
            <a:off x="2373898" y="3971422"/>
            <a:ext cx="347129" cy="380784"/>
          </a:xfrm>
          <a:custGeom>
            <a:avLst/>
            <a:gdLst/>
            <a:ahLst/>
            <a:cxnLst/>
            <a:rect l="l" t="t" r="r" b="b"/>
            <a:pathLst>
              <a:path w="347129" h="380784">
                <a:moveTo>
                  <a:pt x="347129" y="294538"/>
                </a:moveTo>
                <a:lnTo>
                  <a:pt x="347129" y="86265"/>
                </a:lnTo>
                <a:lnTo>
                  <a:pt x="260344" y="86265"/>
                </a:lnTo>
                <a:lnTo>
                  <a:pt x="260344" y="0"/>
                </a:lnTo>
                <a:lnTo>
                  <a:pt x="0" y="190392"/>
                </a:lnTo>
                <a:lnTo>
                  <a:pt x="260344" y="380784"/>
                </a:lnTo>
                <a:lnTo>
                  <a:pt x="260344" y="294538"/>
                </a:lnTo>
                <a:lnTo>
                  <a:pt x="347129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10800000"/>
          </a:gradFill>
        </p:spPr>
      </p:sp>
      <p:sp>
        <p:nvSpPr>
          <p:cNvPr id="18" name="Freeform 18"/>
          <p:cNvSpPr/>
          <p:nvPr>
            <p:custDataLst>
              <p:tags r:id="rId11"/>
            </p:custDataLst>
          </p:nvPr>
        </p:nvSpPr>
        <p:spPr>
          <a:xfrm>
            <a:off x="9464443" y="3971422"/>
            <a:ext cx="347154" cy="380784"/>
          </a:xfrm>
          <a:custGeom>
            <a:avLst/>
            <a:gdLst/>
            <a:ahLst/>
            <a:cxnLst/>
            <a:rect l="l" t="t" r="r" b="b"/>
            <a:pathLst>
              <a:path w="347154" h="380784">
                <a:moveTo>
                  <a:pt x="0" y="294538"/>
                </a:moveTo>
                <a:lnTo>
                  <a:pt x="0" y="86265"/>
                </a:lnTo>
                <a:lnTo>
                  <a:pt x="86805" y="86265"/>
                </a:lnTo>
                <a:lnTo>
                  <a:pt x="86805" y="0"/>
                </a:lnTo>
                <a:lnTo>
                  <a:pt x="347155" y="190392"/>
                </a:lnTo>
                <a:lnTo>
                  <a:pt x="86805" y="380784"/>
                </a:lnTo>
                <a:lnTo>
                  <a:pt x="86805" y="294538"/>
                </a:lnTo>
                <a:lnTo>
                  <a:pt x="0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0"/>
          </a:gradFill>
        </p:spPr>
      </p:sp>
      <p:sp>
        <p:nvSpPr>
          <p:cNvPr id="19" name="TextBox 19"/>
          <p:cNvSpPr txBox="1"/>
          <p:nvPr>
            <p:custDataLst>
              <p:tags r:id="rId12"/>
            </p:custDataLst>
          </p:nvPr>
        </p:nvSpPr>
        <p:spPr>
          <a:xfrm>
            <a:off x="3200219" y="3687612"/>
            <a:ext cx="147637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安全意识</a:t>
            </a:r>
          </a:p>
        </p:txBody>
      </p:sp>
      <p:sp>
        <p:nvSpPr>
          <p:cNvPr id="20" name="TextBox 20"/>
          <p:cNvSpPr txBox="1"/>
          <p:nvPr>
            <p:custDataLst>
              <p:tags r:id="rId13"/>
            </p:custDataLst>
          </p:nvPr>
        </p:nvSpPr>
        <p:spPr>
          <a:xfrm>
            <a:off x="3200219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生物识别需求增长200%，临时密码功能使用率超预期</a:t>
            </a:r>
          </a:p>
        </p:txBody>
      </p:sp>
      <p:sp>
        <p:nvSpPr>
          <p:cNvPr id="21" name="TextBox 21"/>
          <p:cNvSpPr txBox="1"/>
          <p:nvPr>
            <p:custDataLst>
              <p:tags r:id="rId14"/>
            </p:custDataLst>
          </p:nvPr>
        </p:nvSpPr>
        <p:spPr>
          <a:xfrm>
            <a:off x="7479027" y="3687612"/>
            <a:ext cx="149542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敏捷开发</a:t>
            </a:r>
          </a:p>
        </p:txBody>
      </p:sp>
      <p:sp>
        <p:nvSpPr>
          <p:cNvPr id="22" name="TextBox 22"/>
          <p:cNvSpPr txBox="1"/>
          <p:nvPr>
            <p:custDataLst>
              <p:tags r:id="rId15"/>
            </p:custDataLst>
          </p:nvPr>
        </p:nvSpPr>
        <p:spPr>
          <a:xfrm>
            <a:off x="7479027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年销量突破50万台，渠道复购率达65%，成功进入高端市场</a:t>
            </a:r>
          </a:p>
        </p:txBody>
      </p:sp>
      <p:sp>
        <p:nvSpPr>
          <p:cNvPr id="23" name="TextBox 23"/>
          <p:cNvSpPr txBox="1"/>
          <p:nvPr>
            <p:custDataLst>
              <p:tags r:id="rId16"/>
            </p:custDataLst>
          </p:nvPr>
        </p:nvSpPr>
        <p:spPr>
          <a:xfrm>
            <a:off x="2832598" y="5965206"/>
            <a:ext cx="1752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流程优化</a:t>
            </a:r>
          </a:p>
        </p:txBody>
      </p:sp>
      <p:sp>
        <p:nvSpPr>
          <p:cNvPr id="24" name="TextBox 24"/>
          <p:cNvSpPr txBox="1"/>
          <p:nvPr>
            <p:custDataLst>
              <p:tags r:id="rId17"/>
            </p:custDataLst>
          </p:nvPr>
        </p:nvSpPr>
        <p:spPr>
          <a:xfrm>
            <a:off x="5176582" y="5965206"/>
            <a:ext cx="164782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模式创新</a:t>
            </a:r>
          </a:p>
        </p:txBody>
      </p:sp>
      <p:sp>
        <p:nvSpPr>
          <p:cNvPr id="25" name="TextBox 25"/>
          <p:cNvSpPr txBox="1"/>
          <p:nvPr>
            <p:custDataLst>
              <p:tags r:id="rId18"/>
            </p:custDataLst>
          </p:nvPr>
        </p:nvSpPr>
        <p:spPr>
          <a:xfrm>
            <a:off x="7464028" y="5965206"/>
            <a:ext cx="151447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可视化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4920" y="349480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安防需求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1864" y="4075831"/>
            <a:ext cx="7620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远程管理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4921" y="4663944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应急供电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55101" y="3521330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销量增长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55101" y="4075831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渠道拓展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55103" y="465685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高端突破</a:t>
            </a:r>
          </a:p>
        </p:txBody>
      </p:sp>
      <p:sp>
        <p:nvSpPr>
          <p:cNvPr id="32" name="AutoShape 32"/>
          <p:cNvSpPr/>
          <p:nvPr>
            <p:custDataLst>
              <p:tags r:id="rId19"/>
            </p:custDataLst>
          </p:nvPr>
        </p:nvSpPr>
        <p:spPr>
          <a:xfrm>
            <a:off x="4818053" y="2744042"/>
            <a:ext cx="2511444" cy="251144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33" name="TextBox 33"/>
          <p:cNvSpPr txBox="1"/>
          <p:nvPr>
            <p:custDataLst>
              <p:tags r:id="rId20"/>
            </p:custDataLst>
          </p:nvPr>
        </p:nvSpPr>
        <p:spPr>
          <a:xfrm>
            <a:off x="5027052" y="3504589"/>
            <a:ext cx="213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2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核心成果</a:t>
            </a:r>
          </a:p>
        </p:txBody>
      </p:sp>
      <p:sp>
        <p:nvSpPr>
          <p:cNvPr id="34" name="TextBox 34"/>
          <p:cNvSpPr txBox="1"/>
          <p:nvPr>
            <p:custDataLst>
              <p:tags r:id="rId21"/>
            </p:custDataLst>
          </p:nvPr>
        </p:nvSpPr>
        <p:spPr>
          <a:xfrm>
            <a:off x="5322887" y="409868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形成5大产品系列20款SKU</a:t>
            </a:r>
          </a:p>
        </p:txBody>
      </p:sp>
      <p:sp>
        <p:nvSpPr>
          <p:cNvPr id="35" name="TextBox 35"/>
          <p:cNvSpPr txBox="1"/>
          <p:nvPr>
            <p:custDataLst>
              <p:tags r:id="rId22"/>
            </p:custDataLst>
          </p:nvPr>
        </p:nvSpPr>
        <p:spPr>
          <a:xfrm>
            <a:off x="2951038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软著已投</a:t>
            </a:r>
          </a:p>
        </p:txBody>
      </p:sp>
      <p:sp>
        <p:nvSpPr>
          <p:cNvPr id="36" name="TextBox 36"/>
          <p:cNvSpPr txBox="1"/>
          <p:nvPr>
            <p:custDataLst>
              <p:tags r:id="rId23"/>
            </p:custDataLst>
          </p:nvPr>
        </p:nvSpPr>
        <p:spPr>
          <a:xfrm>
            <a:off x="5476141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专利在撰写</a:t>
            </a:r>
          </a:p>
        </p:txBody>
      </p:sp>
      <p:sp>
        <p:nvSpPr>
          <p:cNvPr id="37" name="TextBox 37"/>
          <p:cNvSpPr txBox="1"/>
          <p:nvPr>
            <p:custDataLst>
              <p:tags r:id="rId24"/>
            </p:custDataLst>
          </p:nvPr>
        </p:nvSpPr>
        <p:spPr>
          <a:xfrm>
            <a:off x="8036243" y="1760608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系统一套</a:t>
            </a:r>
          </a:p>
        </p:txBody>
      </p:sp>
      <p:sp>
        <p:nvSpPr>
          <p:cNvPr id="38" name="Freeform 38"/>
          <p:cNvSpPr/>
          <p:nvPr>
            <p:custDataLst>
              <p:tags r:id="rId25"/>
            </p:custDataLst>
          </p:nvPr>
        </p:nvSpPr>
        <p:spPr>
          <a:xfrm flipH="1">
            <a:off x="4613980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39" name="Freeform 39"/>
          <p:cNvSpPr/>
          <p:nvPr>
            <p:custDataLst>
              <p:tags r:id="rId26"/>
            </p:custDataLst>
          </p:nvPr>
        </p:nvSpPr>
        <p:spPr>
          <a:xfrm flipH="1">
            <a:off x="7160075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项目成果与经验总结</a:t>
            </a:r>
          </a:p>
        </p:txBody>
      </p:sp>
      <p:sp>
        <p:nvSpPr>
          <p:cNvPr id="41" name="AutoShape 41"/>
          <p:cNvSpPr/>
          <p:nvPr>
            <p:custDataLst>
              <p:tags r:id="rId27"/>
            </p:custDataLst>
          </p:nvPr>
        </p:nvSpPr>
        <p:spPr>
          <a:xfrm>
            <a:off x="491280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2" name="AutoShape 42"/>
          <p:cNvSpPr/>
          <p:nvPr>
            <p:custDataLst>
              <p:tags r:id="rId28"/>
            </p:custDataLst>
          </p:nvPr>
        </p:nvSpPr>
        <p:spPr>
          <a:xfrm>
            <a:off x="748855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3" name="AutoShape 43"/>
          <p:cNvSpPr/>
          <p:nvPr>
            <p:custDataLst>
              <p:tags r:id="rId29"/>
            </p:custDataLst>
          </p:nvPr>
        </p:nvSpPr>
        <p:spPr>
          <a:xfrm>
            <a:off x="2385632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4" name="Freeform 44"/>
          <p:cNvSpPr/>
          <p:nvPr>
            <p:custDataLst>
              <p:tags r:id="rId30"/>
            </p:custDataLst>
          </p:nvPr>
        </p:nvSpPr>
        <p:spPr>
          <a:xfrm>
            <a:off x="2583053" y="1702133"/>
            <a:ext cx="259070" cy="3260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5" name="Freeform 45"/>
          <p:cNvSpPr/>
          <p:nvPr>
            <p:custDataLst>
              <p:tags r:id="rId31"/>
            </p:custDataLst>
          </p:nvPr>
        </p:nvSpPr>
        <p:spPr>
          <a:xfrm>
            <a:off x="7696200" y="1709525"/>
            <a:ext cx="242988" cy="30584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6" name="Freeform 46"/>
          <p:cNvSpPr/>
          <p:nvPr>
            <p:custDataLst>
              <p:tags r:id="rId32"/>
            </p:custDataLst>
          </p:nvPr>
        </p:nvSpPr>
        <p:spPr>
          <a:xfrm>
            <a:off x="5091113" y="1711835"/>
            <a:ext cx="263652" cy="33185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3449955" y="2133029"/>
            <a:ext cx="3245644" cy="3385185"/>
          </a:xfrm>
          <a:custGeom>
            <a:avLst/>
            <a:gdLst/>
            <a:ahLst/>
            <a:cxnLst/>
            <a:rect l="l" t="t" r="r" b="b"/>
            <a:pathLst>
              <a:path w="3402972" h="3183330">
                <a:moveTo>
                  <a:pt x="3402972" y="2951292"/>
                </a:moveTo>
                <a:lnTo>
                  <a:pt x="3401339" y="2946878"/>
                </a:lnTo>
                <a:lnTo>
                  <a:pt x="3401913" y="2946879"/>
                </a:lnTo>
                <a:lnTo>
                  <a:pt x="3400314" y="2944104"/>
                </a:lnTo>
                <a:lnTo>
                  <a:pt x="3394198" y="2927568"/>
                </a:lnTo>
                <a:lnTo>
                  <a:pt x="3387149" y="2921261"/>
                </a:lnTo>
                <a:lnTo>
                  <a:pt x="1703616" y="0"/>
                </a:lnTo>
                <a:lnTo>
                  <a:pt x="0" y="2937942"/>
                </a:lnTo>
                <a:lnTo>
                  <a:pt x="9186" y="2937966"/>
                </a:lnTo>
                <a:lnTo>
                  <a:pt x="4258" y="2951292"/>
                </a:lnTo>
                <a:cubicBezTo>
                  <a:pt x="4258" y="3079443"/>
                  <a:pt x="765086" y="3183330"/>
                  <a:pt x="1703615" y="3183330"/>
                </a:cubicBezTo>
                <a:cubicBezTo>
                  <a:pt x="2642144" y="3183330"/>
                  <a:pt x="3402972" y="3079443"/>
                  <a:pt x="3402972" y="2951292"/>
                </a:cubicBezTo>
              </a:path>
            </a:pathLst>
          </a:custGeom>
          <a:gradFill>
            <a:gsLst>
              <a:gs pos="10000">
                <a:schemeClr val="lt1">
                  <a:alpha val="100000"/>
                </a:schemeClr>
              </a:gs>
              <a:gs pos="38000">
                <a:schemeClr val="accent1">
                  <a:alpha val="100000"/>
                </a:schemeClr>
              </a:gs>
            </a:gsLst>
            <a:lin ang="16140000"/>
          </a:gradFill>
        </p:spPr>
      </p:sp>
      <p:sp>
        <p:nvSpPr>
          <p:cNvPr id="3" name="Freeform 3"/>
          <p:cNvSpPr/>
          <p:nvPr/>
        </p:nvSpPr>
        <p:spPr>
          <a:xfrm>
            <a:off x="5640419" y="1926050"/>
            <a:ext cx="2928938" cy="3799237"/>
          </a:xfrm>
          <a:custGeom>
            <a:avLst/>
            <a:gdLst/>
            <a:ahLst/>
            <a:cxnLst/>
            <a:rect l="l" t="t" r="r" b="b"/>
            <a:pathLst>
              <a:path w="3183330" h="3402972">
                <a:moveTo>
                  <a:pt x="2951292" y="0"/>
                </a:moveTo>
                <a:cubicBezTo>
                  <a:pt x="3079443" y="0"/>
                  <a:pt x="3183330" y="760828"/>
                  <a:pt x="3183330" y="1699357"/>
                </a:cubicBezTo>
                <a:cubicBezTo>
                  <a:pt x="3183330" y="2637886"/>
                  <a:pt x="3079443" y="3398714"/>
                  <a:pt x="2951292" y="3398714"/>
                </a:cubicBezTo>
                <a:lnTo>
                  <a:pt x="2937966" y="3393786"/>
                </a:lnTo>
                <a:lnTo>
                  <a:pt x="2937942" y="3402972"/>
                </a:lnTo>
                <a:lnTo>
                  <a:pt x="0" y="1699356"/>
                </a:lnTo>
                <a:lnTo>
                  <a:pt x="2921261" y="15823"/>
                </a:lnTo>
                <a:lnTo>
                  <a:pt x="2927568" y="8774"/>
                </a:lnTo>
                <a:lnTo>
                  <a:pt x="2944104" y="2658"/>
                </a:lnTo>
                <a:lnTo>
                  <a:pt x="2946879" y="1059"/>
                </a:lnTo>
                <a:lnTo>
                  <a:pt x="2946878" y="1633"/>
                </a:lnTo>
              </a:path>
            </a:pathLst>
          </a:cu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/>
          </a:gra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flipV="1">
            <a:off x="3460202" y="3842118"/>
            <a:ext cx="3262396" cy="2320470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5" name="Connector 5"/>
          <p:cNvCxnSpPr/>
          <p:nvPr/>
        </p:nvCxnSpPr>
        <p:spPr>
          <a:xfrm flipH="1" flipV="1">
            <a:off x="5582919" y="3914924"/>
            <a:ext cx="3144747" cy="2247664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6" name="TextBox 6"/>
          <p:cNvSpPr txBox="1"/>
          <p:nvPr/>
        </p:nvSpPr>
        <p:spPr>
          <a:xfrm flipH="1">
            <a:off x="4191476" y="157844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</a:p>
        </p:txBody>
      </p:sp>
      <p:sp>
        <p:nvSpPr>
          <p:cNvPr id="7" name="TextBox 7"/>
          <p:cNvSpPr txBox="1"/>
          <p:nvPr/>
        </p:nvSpPr>
        <p:spPr>
          <a:xfrm flipH="1">
            <a:off x="4191476" y="563469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91476" y="5858933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ENHANCE CORE TECH</a:t>
            </a:r>
          </a:p>
        </p:txBody>
      </p:sp>
      <p:sp>
        <p:nvSpPr>
          <p:cNvPr id="9" name="AutoShape 9"/>
          <p:cNvSpPr/>
          <p:nvPr/>
        </p:nvSpPr>
        <p:spPr>
          <a:xfrm rot="10800000">
            <a:off x="5747076" y="209018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0" name="TextBox 10"/>
          <p:cNvSpPr txBox="1"/>
          <p:nvPr/>
        </p:nvSpPr>
        <p:spPr>
          <a:xfrm>
            <a:off x="4191476" y="1801250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SOLVE PAIN POINTS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747076" y="4434211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2" name="AutoShape 12"/>
          <p:cNvSpPr/>
          <p:nvPr/>
        </p:nvSpPr>
        <p:spPr>
          <a:xfrm>
            <a:off x="8803664" y="148021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803665" y="148359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920151" y="193869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03664" y="156193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75560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75561" y="515796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TextBox 18"/>
          <p:cNvSpPr txBox="1"/>
          <p:nvPr/>
        </p:nvSpPr>
        <p:spPr>
          <a:xfrm>
            <a:off x="492047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5560" y="522636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803664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803665" y="515796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920151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03664" y="523630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</a:p>
        </p:txBody>
      </p:sp>
      <p:sp>
        <p:nvSpPr>
          <p:cNvPr id="24" name="AutoShape 24"/>
          <p:cNvSpPr/>
          <p:nvPr/>
        </p:nvSpPr>
        <p:spPr>
          <a:xfrm>
            <a:off x="375562" y="27262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75563" y="273314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" name="TextBox 26"/>
          <p:cNvSpPr txBox="1"/>
          <p:nvPr/>
        </p:nvSpPr>
        <p:spPr>
          <a:xfrm>
            <a:off x="492049" y="3188242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部分型号电池续航时间未达行业标准，频繁充电增加用户负担。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5560" y="2788920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问题2.续航不足</a:t>
            </a:r>
          </a:p>
        </p:txBody>
      </p:sp>
      <p:sp>
        <p:nvSpPr>
          <p:cNvPr id="28" name="AutoShape 28"/>
          <p:cNvSpPr/>
          <p:nvPr/>
        </p:nvSpPr>
        <p:spPr>
          <a:xfrm>
            <a:off x="375562" y="3940431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375563" y="3943809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0" name="TextBox 30"/>
          <p:cNvSpPr txBox="1"/>
          <p:nvPr/>
        </p:nvSpPr>
        <p:spPr>
          <a:xfrm>
            <a:off x="492049" y="439890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传统机械锁体改造需专业工具，普通用户自主安装成功率不足60%。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5560" y="401288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问题3.安装复杂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8803664" y="270500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803665" y="270838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920151" y="3163485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03664" y="278672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</a:p>
        </p:txBody>
      </p:sp>
      <p:sp>
        <p:nvSpPr>
          <p:cNvPr id="36" name="AutoShape 36"/>
          <p:cNvSpPr/>
          <p:nvPr/>
        </p:nvSpPr>
        <p:spPr>
          <a:xfrm>
            <a:off x="8803664" y="3940432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803665" y="3943810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920151" y="4398908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03664" y="402215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改进建议与优化方向</a:t>
            </a:r>
          </a:p>
        </p:txBody>
      </p:sp>
      <p:sp>
        <p:nvSpPr>
          <p:cNvPr id="41" name="AutoShape 41"/>
          <p:cNvSpPr/>
          <p:nvPr/>
        </p:nvSpPr>
        <p:spPr>
          <a:xfrm>
            <a:off x="375571" y="1512094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75571" y="1515523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3" name="TextBox 43"/>
          <p:cNvSpPr txBox="1"/>
          <p:nvPr/>
        </p:nvSpPr>
        <p:spPr>
          <a:xfrm>
            <a:off x="492061" y="197062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人脸识别功能在弱光环境下准确率下降明显，影响用户体验。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75560" y="158400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问题1.识别率波动</a:t>
            </a:r>
          </a:p>
        </p:txBody>
      </p:sp>
      <p:cxnSp>
        <p:nvCxnSpPr>
          <p:cNvPr id="45" name="Connector 45"/>
          <p:cNvCxnSpPr/>
          <p:nvPr/>
        </p:nvCxnSpPr>
        <p:spPr>
          <a:xfrm>
            <a:off x="3460202" y="1514912"/>
            <a:ext cx="3280788" cy="2326252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46" name="Connector 46"/>
          <p:cNvCxnSpPr/>
          <p:nvPr/>
        </p:nvCxnSpPr>
        <p:spPr>
          <a:xfrm flipH="1">
            <a:off x="5452951" y="1490258"/>
            <a:ext cx="3274715" cy="2355153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47" name="AutoShape 47"/>
          <p:cNvSpPr/>
          <p:nvPr/>
        </p:nvSpPr>
        <p:spPr>
          <a:xfrm>
            <a:off x="6996303" y="3354229"/>
            <a:ext cx="962120" cy="9332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优化方案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4191476" y="3244787"/>
            <a:ext cx="1077849" cy="11521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现存问题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344" y="4175232"/>
            <a:ext cx="9197874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品牌是一种商业用语，品牌注册后形成商标，企业即获得法律保护拥有其专用权；品牌是企业长期努力经营的结果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9344" y="1817644"/>
            <a:ext cx="3302482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品牌体现了生产者的某些价值感</a:t>
            </a: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8438362" y="4742819"/>
            <a:ext cx="2728834" cy="1439997"/>
          </a:xfrm>
          <a:prstGeom prst="rect">
            <a:avLst/>
          </a:prstGeom>
          <a:solidFill>
            <a:schemeClr val="accent4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 rot="5400000">
            <a:off x="10716724" y="5183766"/>
            <a:ext cx="1439995" cy="558100"/>
          </a:xfrm>
          <a:prstGeom prst="triangle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353489" y="4742813"/>
            <a:ext cx="2700000" cy="1439997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053489" y="4742813"/>
            <a:ext cx="2700000" cy="1439997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5743389" y="4742813"/>
            <a:ext cx="2700000" cy="1439997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5"/>
            </p:custDataLst>
          </p:nvPr>
        </p:nvSpPr>
        <p:spPr>
          <a:xfrm>
            <a:off x="650861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优化用户运营体系，客户留存率提升至75%，产品故障率降至0.5%以下</a:t>
            </a: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00278" y="5004721"/>
            <a:ext cx="2002631" cy="328136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7"/>
            </p:custDataLst>
          </p:nvPr>
        </p:nvSpPr>
        <p:spPr>
          <a:xfrm>
            <a:off x="1075658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精耕细作</a:t>
            </a: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747998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13" name="Freeform 13"/>
          <p:cNvSpPr/>
          <p:nvPr>
            <p:custDataLst>
              <p:tags r:id="rId9"/>
            </p:custDataLst>
          </p:nvPr>
        </p:nvSpPr>
        <p:spPr>
          <a:xfrm rot="2700000">
            <a:off x="843725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>
            <p:custDataLst>
              <p:tags r:id="rId10"/>
            </p:custDataLst>
          </p:nvPr>
        </p:nvSpPr>
        <p:spPr>
          <a:xfrm>
            <a:off x="5935783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DFAFA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研发掌静脉识别技术，探索无感通行解决方案，构建家居安全中台</a:t>
            </a:r>
          </a:p>
        </p:txBody>
      </p:sp>
      <p:sp>
        <p:nvSpPr>
          <p:cNvPr id="15" name="TextBox 15"/>
          <p:cNvSpPr txBox="1"/>
          <p:nvPr>
            <p:custDataLst>
              <p:tags r:id="rId11"/>
            </p:custDataLst>
          </p:nvPr>
        </p:nvSpPr>
        <p:spPr>
          <a:xfrm>
            <a:off x="3316569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布局海外市场及商用领域，开发3D结构光技术，建立AI安全防护体系</a:t>
            </a:r>
          </a:p>
        </p:txBody>
      </p:sp>
      <p:sp>
        <p:nvSpPr>
          <p:cNvPr id="16" name="TextBox 16"/>
          <p:cNvSpPr txBox="1"/>
          <p:nvPr>
            <p:custDataLst>
              <p:tags r:id="rId12"/>
            </p:custDataLst>
          </p:nvPr>
        </p:nvSpPr>
        <p:spPr>
          <a:xfrm>
            <a:off x="8643249" y="5398899"/>
            <a:ext cx="1964055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形成完整智能安防生态链，专利储备超500项，年营收突破50亿元</a:t>
            </a:r>
          </a:p>
        </p:txBody>
      </p:sp>
      <p:sp>
        <p:nvSpPr>
          <p:cNvPr id="17" name="Freeform 17"/>
          <p:cNvSpPr/>
          <p:nvPr/>
        </p:nvSpPr>
        <p:spPr>
          <a:xfrm>
            <a:off x="537123" y="1802150"/>
            <a:ext cx="253043" cy="253043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</a:path>
              <a:path w="64" h="64"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</a:path>
              <a:path w="64" h="64"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</a:path>
              <a:path w="64" h="64"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</a:path>
              <a:path w="64" h="64"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</a:path>
              <a:path w="64" h="64"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</a:path>
              <a:path w="64" h="64"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</a:path>
              <a:path w="64" h="64"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Freeform 18"/>
          <p:cNvSpPr/>
          <p:nvPr/>
        </p:nvSpPr>
        <p:spPr>
          <a:xfrm>
            <a:off x="489918" y="4159360"/>
            <a:ext cx="251221" cy="225735"/>
          </a:xfrm>
          <a:custGeom>
            <a:avLst/>
            <a:gdLst/>
            <a:ahLst/>
            <a:cxnLst/>
            <a:rect l="l" t="t" r="r" b="b"/>
            <a:pathLst>
              <a:path w="64" h="57">
                <a:moveTo>
                  <a:pt x="23" y="39"/>
                </a:moveTo>
                <a:cubicBezTo>
                  <a:pt x="23" y="40"/>
                  <a:pt x="22" y="41"/>
                  <a:pt x="21" y="41"/>
                </a:cubicBezTo>
                <a:cubicBezTo>
                  <a:pt x="21" y="41"/>
                  <a:pt x="21" y="41"/>
                  <a:pt x="20" y="41"/>
                </a:cubicBezTo>
                <a:cubicBezTo>
                  <a:pt x="20" y="41"/>
                  <a:pt x="19" y="41"/>
                  <a:pt x="19" y="40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0" y="20"/>
                  <a:pt x="0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1" y="0"/>
                </a:cubicBezTo>
                <a:cubicBezTo>
                  <a:pt x="22" y="1"/>
                  <a:pt x="23" y="1"/>
                  <a:pt x="23" y="2"/>
                </a:cubicBezTo>
                <a:cubicBezTo>
                  <a:pt x="23" y="5"/>
                  <a:pt x="23" y="5"/>
                  <a:pt x="23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0"/>
                  <a:pt x="8" y="21"/>
                  <a:pt x="8" y="22"/>
                </a:cubicBezTo>
                <a:cubicBezTo>
                  <a:pt x="23" y="36"/>
                  <a:pt x="23" y="36"/>
                  <a:pt x="23" y="36"/>
                </a:cubicBezTo>
                <a:lnTo>
                  <a:pt x="23" y="39"/>
                </a:lnTo>
                <a:close/>
              </a:path>
              <a:path w="64" h="57">
                <a:moveTo>
                  <a:pt x="58" y="57"/>
                </a:moveTo>
                <a:cubicBezTo>
                  <a:pt x="58" y="57"/>
                  <a:pt x="57" y="57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6" y="57"/>
                  <a:pt x="56" y="56"/>
                  <a:pt x="56" y="56"/>
                </a:cubicBezTo>
                <a:cubicBezTo>
                  <a:pt x="57" y="46"/>
                  <a:pt x="56" y="40"/>
                  <a:pt x="52" y="36"/>
                </a:cubicBezTo>
                <a:cubicBezTo>
                  <a:pt x="49" y="32"/>
                  <a:pt x="44" y="31"/>
                  <a:pt x="36" y="3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1"/>
                  <a:pt x="35" y="41"/>
                </a:cubicBezTo>
                <a:cubicBezTo>
                  <a:pt x="35" y="41"/>
                  <a:pt x="34" y="41"/>
                  <a:pt x="34" y="41"/>
                </a:cubicBezTo>
                <a:cubicBezTo>
                  <a:pt x="33" y="41"/>
                  <a:pt x="33" y="41"/>
                  <a:pt x="32" y="40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1"/>
                  <a:pt x="13" y="20"/>
                  <a:pt x="14" y="19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4" y="0"/>
                  <a:pt x="35" y="0"/>
                </a:cubicBezTo>
                <a:cubicBezTo>
                  <a:pt x="36" y="1"/>
                  <a:pt x="36" y="1"/>
                  <a:pt x="36" y="2"/>
                </a:cubicBezTo>
                <a:cubicBezTo>
                  <a:pt x="36" y="12"/>
                  <a:pt x="36" y="12"/>
                  <a:pt x="36" y="12"/>
                </a:cubicBezTo>
                <a:cubicBezTo>
                  <a:pt x="46" y="12"/>
                  <a:pt x="53" y="15"/>
                  <a:pt x="58" y="20"/>
                </a:cubicBezTo>
                <a:cubicBezTo>
                  <a:pt x="63" y="25"/>
                  <a:pt x="64" y="33"/>
                  <a:pt x="64" y="38"/>
                </a:cubicBezTo>
                <a:cubicBezTo>
                  <a:pt x="64" y="45"/>
                  <a:pt x="58" y="56"/>
                  <a:pt x="58" y="57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>
            <a:off x="365433" y="3590108"/>
            <a:ext cx="10223060" cy="1008000"/>
          </a:xfrm>
          <a:custGeom>
            <a:avLst/>
            <a:gdLst/>
            <a:ahLst/>
            <a:cxnLst/>
            <a:rect l="l" t="t" r="r" b="b"/>
            <a:pathLst>
              <a:path w="10223060" h="1008000">
                <a:moveTo>
                  <a:pt x="0" y="0"/>
                </a:moveTo>
                <a:lnTo>
                  <a:pt x="9784687" y="0"/>
                </a:lnTo>
                <a:lnTo>
                  <a:pt x="10223060" y="504000"/>
                </a:lnTo>
                <a:lnTo>
                  <a:pt x="9784687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0" name="Freeform 20"/>
          <p:cNvSpPr/>
          <p:nvPr/>
        </p:nvSpPr>
        <p:spPr>
          <a:xfrm>
            <a:off x="353489" y="2413198"/>
            <a:ext cx="9088228" cy="1008000"/>
          </a:xfrm>
          <a:custGeom>
            <a:avLst/>
            <a:gdLst/>
            <a:ahLst/>
            <a:cxnLst/>
            <a:rect l="l" t="t" r="r" b="b"/>
            <a:pathLst>
              <a:path w="9088228" h="1008000">
                <a:moveTo>
                  <a:pt x="0" y="0"/>
                </a:moveTo>
                <a:lnTo>
                  <a:pt x="8649855" y="0"/>
                </a:lnTo>
                <a:lnTo>
                  <a:pt x="9088228" y="504000"/>
                </a:lnTo>
                <a:lnTo>
                  <a:pt x="8649855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1" name="Freeform 21"/>
          <p:cNvSpPr/>
          <p:nvPr/>
        </p:nvSpPr>
        <p:spPr>
          <a:xfrm>
            <a:off x="360337" y="1284698"/>
            <a:ext cx="8083052" cy="1008000"/>
          </a:xfrm>
          <a:custGeom>
            <a:avLst/>
            <a:gdLst/>
            <a:ahLst/>
            <a:cxnLst/>
            <a:rect l="l" t="t" r="r" b="b"/>
            <a:pathLst>
              <a:path w="8083052" h="1008000">
                <a:moveTo>
                  <a:pt x="0" y="0"/>
                </a:moveTo>
                <a:lnTo>
                  <a:pt x="7644679" y="0"/>
                </a:lnTo>
                <a:lnTo>
                  <a:pt x="8083052" y="504000"/>
                </a:lnTo>
                <a:lnTo>
                  <a:pt x="7644679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2" name="TextBox 22"/>
          <p:cNvSpPr txBox="1"/>
          <p:nvPr/>
        </p:nvSpPr>
        <p:spPr>
          <a:xfrm flipH="1">
            <a:off x="747639" y="3763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生态爆发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260" y="4133078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接入主流智能家居平台，推出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AIoT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套装产品，年销量增长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80%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，建立云服务平台</a:t>
            </a:r>
          </a:p>
        </p:txBody>
      </p:sp>
      <p:sp>
        <p:nvSpPr>
          <p:cNvPr id="24" name="TextBox 24"/>
          <p:cNvSpPr txBox="1"/>
          <p:nvPr/>
        </p:nvSpPr>
        <p:spPr>
          <a:xfrm flipH="1">
            <a:off x="747639" y="2641550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市场扩张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260" y="2917198"/>
            <a:ext cx="6088380" cy="4533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实现全国300城渠道覆盖，推出5款SKU，市占率达15%，建立500家线下体验店</a:t>
            </a:r>
          </a:p>
        </p:txBody>
      </p:sp>
      <p:sp>
        <p:nvSpPr>
          <p:cNvPr id="26" name="TextBox 26"/>
          <p:cNvSpPr txBox="1"/>
          <p:nvPr/>
        </p:nvSpPr>
        <p:spPr>
          <a:xfrm flipH="1">
            <a:off x="747639" y="1477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技术筑基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260" y="1847079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完成生物识别算法优化与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NB-IoT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模组研发，建立供应链体系，年产能突破200万台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944580" y="1318293"/>
            <a:ext cx="901817" cy="9018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0573" y="8675"/>
                </a:moveTo>
                <a:cubicBezTo>
                  <a:pt x="19576" y="7884"/>
                  <a:pt x="19068" y="6656"/>
                  <a:pt x="19213" y="5391"/>
                </a:cubicBezTo>
                <a:cubicBezTo>
                  <a:pt x="19309" y="4564"/>
                  <a:pt x="19026" y="3752"/>
                  <a:pt x="18437" y="3163"/>
                </a:cubicBezTo>
                <a:cubicBezTo>
                  <a:pt x="17848" y="2574"/>
                  <a:pt x="17036" y="2291"/>
                  <a:pt x="16208" y="2387"/>
                </a:cubicBezTo>
                <a:cubicBezTo>
                  <a:pt x="14943" y="2532"/>
                  <a:pt x="13716" y="2024"/>
                  <a:pt x="12925" y="1027"/>
                </a:cubicBezTo>
                <a:cubicBezTo>
                  <a:pt x="12407" y="374"/>
                  <a:pt x="11633" y="0"/>
                  <a:pt x="10800" y="0"/>
                </a:cubicBezTo>
                <a:cubicBezTo>
                  <a:pt x="9967" y="0"/>
                  <a:pt x="9193" y="374"/>
                  <a:pt x="8675" y="1027"/>
                </a:cubicBezTo>
                <a:cubicBezTo>
                  <a:pt x="7884" y="2024"/>
                  <a:pt x="6657" y="2532"/>
                  <a:pt x="5392" y="2387"/>
                </a:cubicBezTo>
                <a:cubicBezTo>
                  <a:pt x="4564" y="2291"/>
                  <a:pt x="3752" y="2574"/>
                  <a:pt x="3163" y="3163"/>
                </a:cubicBezTo>
                <a:cubicBezTo>
                  <a:pt x="2574" y="3752"/>
                  <a:pt x="2291" y="4564"/>
                  <a:pt x="2387" y="5392"/>
                </a:cubicBezTo>
                <a:cubicBezTo>
                  <a:pt x="2532" y="6656"/>
                  <a:pt x="2024" y="7884"/>
                  <a:pt x="1026" y="8675"/>
                </a:cubicBezTo>
                <a:cubicBezTo>
                  <a:pt x="374" y="9193"/>
                  <a:pt x="0" y="9967"/>
                  <a:pt x="0" y="10800"/>
                </a:cubicBezTo>
                <a:cubicBezTo>
                  <a:pt x="0" y="11633"/>
                  <a:pt x="374" y="12407"/>
                  <a:pt x="1026" y="12925"/>
                </a:cubicBezTo>
                <a:cubicBezTo>
                  <a:pt x="2024" y="13716"/>
                  <a:pt x="2532" y="14944"/>
                  <a:pt x="2387" y="16209"/>
                </a:cubicBezTo>
                <a:cubicBezTo>
                  <a:pt x="2291" y="17036"/>
                  <a:pt x="2574" y="17848"/>
                  <a:pt x="3163" y="18437"/>
                </a:cubicBezTo>
                <a:cubicBezTo>
                  <a:pt x="3752" y="19026"/>
                  <a:pt x="4565" y="19309"/>
                  <a:pt x="5392" y="19213"/>
                </a:cubicBezTo>
                <a:cubicBezTo>
                  <a:pt x="6656" y="19068"/>
                  <a:pt x="7884" y="19576"/>
                  <a:pt x="8675" y="20573"/>
                </a:cubicBezTo>
                <a:cubicBezTo>
                  <a:pt x="9193" y="21226"/>
                  <a:pt x="9967" y="21600"/>
                  <a:pt x="10800" y="21600"/>
                </a:cubicBezTo>
                <a:cubicBezTo>
                  <a:pt x="11633" y="21600"/>
                  <a:pt x="12407" y="21226"/>
                  <a:pt x="12925" y="20573"/>
                </a:cubicBezTo>
                <a:cubicBezTo>
                  <a:pt x="13716" y="19576"/>
                  <a:pt x="14943" y="19068"/>
                  <a:pt x="16208" y="19213"/>
                </a:cubicBezTo>
                <a:cubicBezTo>
                  <a:pt x="17036" y="19308"/>
                  <a:pt x="17848" y="19026"/>
                  <a:pt x="18437" y="18437"/>
                </a:cubicBezTo>
                <a:cubicBezTo>
                  <a:pt x="19026" y="17848"/>
                  <a:pt x="19309" y="17036"/>
                  <a:pt x="19213" y="16208"/>
                </a:cubicBezTo>
                <a:cubicBezTo>
                  <a:pt x="19068" y="14944"/>
                  <a:pt x="19576" y="13716"/>
                  <a:pt x="20574" y="12925"/>
                </a:cubicBezTo>
                <a:cubicBezTo>
                  <a:pt x="21226" y="12407"/>
                  <a:pt x="21600" y="11633"/>
                  <a:pt x="21600" y="10800"/>
                </a:cubicBezTo>
                <a:cubicBezTo>
                  <a:pt x="21600" y="9967"/>
                  <a:pt x="21226" y="9193"/>
                  <a:pt x="20573" y="8675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9835867" y="2505758"/>
            <a:ext cx="2033849" cy="5790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智能门锁未来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3-5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年技术路线与市场拓展规划，涵盖产品迭代、渠道建设及生态布局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未来发展规划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172223" y="1604671"/>
            <a:ext cx="425254" cy="3309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1518" y="97841"/>
                </a:moveTo>
                <a:cubicBezTo>
                  <a:pt x="249460" y="74143"/>
                  <a:pt x="230657" y="55340"/>
                  <a:pt x="207655" y="43605"/>
                </a:cubicBezTo>
                <a:lnTo>
                  <a:pt x="206959" y="43282"/>
                </a:lnTo>
                <a:lnTo>
                  <a:pt x="186538" y="84277"/>
                </a:lnTo>
                <a:cubicBezTo>
                  <a:pt x="201292" y="91802"/>
                  <a:pt x="212998" y="103508"/>
                  <a:pt x="220323" y="117834"/>
                </a:cubicBezTo>
                <a:lnTo>
                  <a:pt x="220523" y="118262"/>
                </a:lnTo>
                <a:lnTo>
                  <a:pt x="261518" y="97841"/>
                </a:lnTo>
                <a:close/>
              </a:path>
              <a:path w="304800" h="304800">
                <a:moveTo>
                  <a:pt x="261518" y="206959"/>
                </a:moveTo>
                <a:lnTo>
                  <a:pt x="220523" y="186538"/>
                </a:lnTo>
                <a:cubicBezTo>
                  <a:pt x="212998" y="201292"/>
                  <a:pt x="201292" y="212998"/>
                  <a:pt x="186966" y="220323"/>
                </a:cubicBezTo>
                <a:lnTo>
                  <a:pt x="186538" y="220523"/>
                </a:lnTo>
                <a:lnTo>
                  <a:pt x="206959" y="261518"/>
                </a:lnTo>
                <a:cubicBezTo>
                  <a:pt x="230657" y="249460"/>
                  <a:pt x="249460" y="230657"/>
                  <a:pt x="261195" y="207655"/>
                </a:cubicBezTo>
                <a:lnTo>
                  <a:pt x="261518" y="206959"/>
                </a:lnTo>
                <a:close/>
              </a:path>
              <a:path w="304800" h="304800">
                <a:moveTo>
                  <a:pt x="97841" y="43282"/>
                </a:moveTo>
                <a:cubicBezTo>
                  <a:pt x="74143" y="55340"/>
                  <a:pt x="55340" y="74143"/>
                  <a:pt x="43605" y="97145"/>
                </a:cubicBezTo>
                <a:lnTo>
                  <a:pt x="43282" y="97841"/>
                </a:lnTo>
                <a:lnTo>
                  <a:pt x="84277" y="118262"/>
                </a:lnTo>
                <a:cubicBezTo>
                  <a:pt x="91802" y="103508"/>
                  <a:pt x="103508" y="91802"/>
                  <a:pt x="117834" y="84477"/>
                </a:cubicBezTo>
                <a:lnTo>
                  <a:pt x="118262" y="84277"/>
                </a:lnTo>
                <a:lnTo>
                  <a:pt x="97841" y="43282"/>
                </a:lnTo>
                <a:close/>
              </a:path>
              <a:path w="304800" h="304800">
                <a:moveTo>
                  <a:pt x="43282" y="206959"/>
                </a:moveTo>
                <a:cubicBezTo>
                  <a:pt x="55340" y="230657"/>
                  <a:pt x="74143" y="249460"/>
                  <a:pt x="97145" y="261195"/>
                </a:cubicBezTo>
                <a:lnTo>
                  <a:pt x="97841" y="261518"/>
                </a:lnTo>
                <a:lnTo>
                  <a:pt x="118262" y="220523"/>
                </a:lnTo>
                <a:cubicBezTo>
                  <a:pt x="103508" y="212998"/>
                  <a:pt x="91802" y="201292"/>
                  <a:pt x="84477" y="186966"/>
                </a:cubicBezTo>
                <a:lnTo>
                  <a:pt x="84277" y="186538"/>
                </a:lnTo>
                <a:lnTo>
                  <a:pt x="43282" y="206959"/>
                </a:lnTo>
                <a:close/>
              </a:path>
              <a:path w="304800" h="304800">
                <a:moveTo>
                  <a:pt x="152400" y="304800"/>
                </a:moveTo>
                <a:cubicBezTo>
                  <a:pt x="68228" y="304800"/>
                  <a:pt x="0" y="236572"/>
                  <a:pt x="0" y="152400"/>
                </a:cubicBezTo>
                <a:cubicBezTo>
                  <a:pt x="0" y="68228"/>
                  <a:pt x="68228" y="0"/>
                  <a:pt x="152400" y="0"/>
                </a:cubicBezTo>
                <a:lnTo>
                  <a:pt x="152400" y="0"/>
                </a:lnTo>
                <a:cubicBezTo>
                  <a:pt x="236572" y="0"/>
                  <a:pt x="304800" y="68228"/>
                  <a:pt x="304800" y="152400"/>
                </a:cubicBezTo>
                <a:cubicBezTo>
                  <a:pt x="304800" y="236572"/>
                  <a:pt x="236572" y="304800"/>
                  <a:pt x="152400" y="304800"/>
                </a:cubicBezTo>
                <a:lnTo>
                  <a:pt x="152400" y="304800"/>
                </a:lnTo>
                <a:close/>
              </a:path>
              <a:path w="304800" h="304800">
                <a:moveTo>
                  <a:pt x="152400" y="198120"/>
                </a:moveTo>
                <a:cubicBezTo>
                  <a:pt x="177651" y="198120"/>
                  <a:pt x="198120" y="177651"/>
                  <a:pt x="198120" y="152400"/>
                </a:cubicBezTo>
                <a:cubicBezTo>
                  <a:pt x="198120" y="127149"/>
                  <a:pt x="177651" y="106680"/>
                  <a:pt x="152400" y="106680"/>
                </a:cubicBezTo>
                <a:lnTo>
                  <a:pt x="152400" y="106680"/>
                </a:lnTo>
                <a:cubicBezTo>
                  <a:pt x="127149" y="106680"/>
                  <a:pt x="106680" y="127149"/>
                  <a:pt x="106680" y="152400"/>
                </a:cubicBezTo>
                <a:cubicBezTo>
                  <a:pt x="106680" y="177651"/>
                  <a:pt x="127149" y="198120"/>
                  <a:pt x="152400" y="198120"/>
                </a:cubicBezTo>
                <a:lnTo>
                  <a:pt x="152400" y="198120"/>
                </a:lnTo>
              </a:path>
            </a:pathLst>
          </a:custGeom>
          <a:solidFill>
            <a:srgbClr val="F7F7F9">
              <a:alpha val="100000"/>
            </a:srgbClr>
          </a:solidFill>
        </p:spPr>
      </p:sp>
      <p:sp>
        <p:nvSpPr>
          <p:cNvPr id="32" name="Freeform 32"/>
          <p:cNvSpPr/>
          <p:nvPr/>
        </p:nvSpPr>
        <p:spPr>
          <a:xfrm>
            <a:off x="9776292" y="3942287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3" name="Freeform 33"/>
          <p:cNvSpPr/>
          <p:nvPr/>
        </p:nvSpPr>
        <p:spPr>
          <a:xfrm>
            <a:off x="8643249" y="2725187"/>
            <a:ext cx="348943" cy="38402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304800" y="152400"/>
                </a:lnTo>
                <a:lnTo>
                  <a:pt x="152400" y="304800"/>
                </a:lnTo>
                <a:lnTo>
                  <a:pt x="0" y="152400"/>
                </a:lnTo>
                <a:lnTo>
                  <a:pt x="152400" y="0"/>
                </a:lnTo>
                <a:close/>
              </a:path>
              <a:path w="304800" h="304800">
                <a:moveTo>
                  <a:pt x="91440" y="152400"/>
                </a:moveTo>
                <a:lnTo>
                  <a:pt x="91440" y="198120"/>
                </a:lnTo>
                <a:lnTo>
                  <a:pt x="121920" y="198120"/>
                </a:lnTo>
                <a:lnTo>
                  <a:pt x="121920" y="152400"/>
                </a:lnTo>
                <a:lnTo>
                  <a:pt x="167640" y="152400"/>
                </a:lnTo>
                <a:lnTo>
                  <a:pt x="167640" y="198120"/>
                </a:lnTo>
                <a:lnTo>
                  <a:pt x="228600" y="137160"/>
                </a:lnTo>
                <a:lnTo>
                  <a:pt x="167640" y="76200"/>
                </a:lnTo>
                <a:lnTo>
                  <a:pt x="167640" y="121920"/>
                </a:lnTo>
                <a:lnTo>
                  <a:pt x="121920" y="121920"/>
                </a:lnTo>
                <a:cubicBezTo>
                  <a:pt x="105089" y="121920"/>
                  <a:pt x="91440" y="135569"/>
                  <a:pt x="91440" y="152400"/>
                </a:cubicBezTo>
                <a:lnTo>
                  <a:pt x="91440" y="1524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4" name="Freeform 34"/>
          <p:cNvSpPr/>
          <p:nvPr>
            <p:custDataLst>
              <p:tags r:id="rId13"/>
            </p:custDataLst>
          </p:nvPr>
        </p:nvSpPr>
        <p:spPr>
          <a:xfrm>
            <a:off x="11012428" y="5303016"/>
            <a:ext cx="319591" cy="3195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5" name="Freeform 35"/>
          <p:cNvSpPr/>
          <p:nvPr/>
        </p:nvSpPr>
        <p:spPr>
          <a:xfrm>
            <a:off x="7634637" y="1584699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>
            <p:custDataLst>
              <p:tags r:id="rId14"/>
            </p:custDataLst>
          </p:nvPr>
        </p:nvSpPr>
        <p:spPr>
          <a:xfrm>
            <a:off x="3741420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战略转型</a:t>
            </a:r>
          </a:p>
        </p:txBody>
      </p:sp>
      <p:sp>
        <p:nvSpPr>
          <p:cNvPr id="37" name="AutoShape 37"/>
          <p:cNvSpPr/>
          <p:nvPr>
            <p:custDataLst>
              <p:tags r:id="rId15"/>
            </p:custDataLst>
          </p:nvPr>
        </p:nvSpPr>
        <p:spPr>
          <a:xfrm>
            <a:off x="3420510" y="5061871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38" name="Freeform 38"/>
          <p:cNvSpPr/>
          <p:nvPr>
            <p:custDataLst>
              <p:tags r:id="rId16"/>
            </p:custDataLst>
          </p:nvPr>
        </p:nvSpPr>
        <p:spPr>
          <a:xfrm rot="2700000">
            <a:off x="3509486" y="511397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2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>
            <p:custDataLst>
              <p:tags r:id="rId17"/>
            </p:custDataLst>
          </p:nvPr>
        </p:nvSpPr>
        <p:spPr>
          <a:xfrm>
            <a:off x="6360605" y="5082445"/>
            <a:ext cx="15430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BFCFD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技术革命</a:t>
            </a:r>
          </a:p>
        </p:txBody>
      </p:sp>
      <p:sp>
        <p:nvSpPr>
          <p:cNvPr id="40" name="AutoShape 40"/>
          <p:cNvSpPr/>
          <p:nvPr>
            <p:custDataLst>
              <p:tags r:id="rId18"/>
            </p:custDataLst>
          </p:nvPr>
        </p:nvSpPr>
        <p:spPr>
          <a:xfrm>
            <a:off x="6032945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1" name="Freeform 41"/>
          <p:cNvSpPr/>
          <p:nvPr>
            <p:custDataLst>
              <p:tags r:id="rId19"/>
            </p:custDataLst>
          </p:nvPr>
        </p:nvSpPr>
        <p:spPr>
          <a:xfrm rot="2700000">
            <a:off x="6128671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42" name="TextBox 42"/>
          <p:cNvSpPr txBox="1"/>
          <p:nvPr>
            <p:custDataLst>
              <p:tags r:id="rId20"/>
            </p:custDataLst>
          </p:nvPr>
        </p:nvSpPr>
        <p:spPr>
          <a:xfrm>
            <a:off x="9068086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生态共赢</a:t>
            </a:r>
          </a:p>
        </p:txBody>
      </p:sp>
      <p:sp>
        <p:nvSpPr>
          <p:cNvPr id="43" name="AutoShape 43"/>
          <p:cNvSpPr/>
          <p:nvPr>
            <p:custDataLst>
              <p:tags r:id="rId21"/>
            </p:custDataLst>
          </p:nvPr>
        </p:nvSpPr>
        <p:spPr>
          <a:xfrm>
            <a:off x="8744081" y="505291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4" name="Freeform 44"/>
          <p:cNvSpPr/>
          <p:nvPr>
            <p:custDataLst>
              <p:tags r:id="rId22"/>
            </p:custDataLst>
          </p:nvPr>
        </p:nvSpPr>
        <p:spPr>
          <a:xfrm rot="2700000">
            <a:off x="8836152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4">
                <a:alpha val="10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utoShape 20"/>
          <p:cNvSpPr/>
          <p:nvPr/>
        </p:nvSpPr>
        <p:spPr>
          <a:xfrm>
            <a:off x="8727464" y="55044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 flipH="1">
            <a:off x="4190841" y="111362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</a:p>
        </p:txBody>
      </p:sp>
      <p:sp>
        <p:nvSpPr>
          <p:cNvPr id="7" name="TextBox 7"/>
          <p:cNvSpPr txBox="1"/>
          <p:nvPr/>
        </p:nvSpPr>
        <p:spPr>
          <a:xfrm flipH="1">
            <a:off x="4267041" y="608173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</a:p>
        </p:txBody>
      </p:sp>
      <p:sp>
        <p:nvSpPr>
          <p:cNvPr id="9" name="AutoShape 9"/>
          <p:cNvSpPr/>
          <p:nvPr/>
        </p:nvSpPr>
        <p:spPr>
          <a:xfrm rot="10800000">
            <a:off x="5746441" y="144121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1" name="AutoShape 11"/>
          <p:cNvSpPr/>
          <p:nvPr/>
        </p:nvSpPr>
        <p:spPr>
          <a:xfrm>
            <a:off x="5747076" y="4974596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12" name="AutoShape 12"/>
          <p:cNvSpPr/>
          <p:nvPr/>
        </p:nvSpPr>
        <p:spPr>
          <a:xfrm>
            <a:off x="8763024" y="111382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763025" y="111720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879511" y="157230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63024" y="119554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05075" y="449609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05076" y="4470262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421562" y="4954570"/>
            <a:ext cx="2695575" cy="38145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00" dirty="0">
                <a:latin typeface="OPPOSans R"/>
              </a:rPr>
              <a:t>设计智能门锁日志系统，实现数据存储、通信、查询和管理功能</a:t>
            </a:r>
            <a:endParaRPr lang="en-US" sz="1000" dirty="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37982" y="4524540"/>
            <a:ext cx="538609" cy="215444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杜睿茵</a:t>
            </a:r>
            <a:endParaRPr lang="en-US" sz="1400" dirty="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86824" y="446688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686825" y="447026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803311" y="492536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86824" y="454860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</a:p>
        </p:txBody>
      </p:sp>
      <p:sp>
        <p:nvSpPr>
          <p:cNvPr id="24" name="AutoShape 24"/>
          <p:cNvSpPr/>
          <p:nvPr/>
        </p:nvSpPr>
        <p:spPr>
          <a:xfrm>
            <a:off x="305077" y="222652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05078" y="222641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421564" y="2681512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1.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软件页面的开发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2.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数据库与前端的结合。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7475" y="2282190"/>
            <a:ext cx="533400" cy="21526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张智祥</a:t>
            </a:r>
          </a:p>
        </p:txBody>
      </p:sp>
      <p:sp>
        <p:nvSpPr>
          <p:cNvPr id="28" name="AutoShape 28"/>
          <p:cNvSpPr/>
          <p:nvPr/>
        </p:nvSpPr>
        <p:spPr>
          <a:xfrm>
            <a:off x="305077" y="3354326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AutoShape 29"/>
          <p:cNvSpPr/>
          <p:nvPr/>
        </p:nvSpPr>
        <p:spPr>
          <a:xfrm>
            <a:off x="305078" y="335770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21564" y="3812802"/>
            <a:ext cx="2695575" cy="38145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1.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开发</a:t>
            </a: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APP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端页面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2.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密码修改与锁端同步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6870" y="3426460"/>
            <a:ext cx="699135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1400" dirty="0">
                <a:solidFill>
                  <a:srgbClr val="FFFFFF">
                    <a:alpha val="100000"/>
                  </a:srgbClr>
                </a:solidFill>
                <a:latin typeface="OPPOSans M"/>
              </a:rPr>
              <a:t>张朴平</a:t>
            </a:r>
          </a:p>
        </p:txBody>
      </p:sp>
      <p:sp>
        <p:nvSpPr>
          <p:cNvPr id="32" name="AutoShape 32"/>
          <p:cNvSpPr/>
          <p:nvPr/>
        </p:nvSpPr>
        <p:spPr>
          <a:xfrm>
            <a:off x="8727464" y="222685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727465" y="223023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843951" y="2685330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27464" y="230857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</a:p>
        </p:txBody>
      </p:sp>
      <p:sp>
        <p:nvSpPr>
          <p:cNvPr id="36" name="AutoShape 36"/>
          <p:cNvSpPr/>
          <p:nvPr/>
        </p:nvSpPr>
        <p:spPr>
          <a:xfrm>
            <a:off x="8691904" y="3353057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691905" y="3356435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808391" y="3811533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691904" y="3434777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个人心得</a:t>
            </a:r>
          </a:p>
        </p:txBody>
      </p:sp>
      <p:sp>
        <p:nvSpPr>
          <p:cNvPr id="41" name="AutoShape 41"/>
          <p:cNvSpPr/>
          <p:nvPr/>
        </p:nvSpPr>
        <p:spPr>
          <a:xfrm>
            <a:off x="356521" y="1124109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05075" y="1137504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438086" y="1521682"/>
            <a:ext cx="2695575" cy="6000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 dirty="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1.pixso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原型设计软件以及</a:t>
            </a: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UI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设计软件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2.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产品原型文档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组织内部协同开发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38425" y="1166178"/>
            <a:ext cx="533400" cy="21526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万佳萌</a:t>
            </a:r>
          </a:p>
        </p:txBody>
      </p:sp>
      <p:sp>
        <p:nvSpPr>
          <p:cNvPr id="47" name="AutoShape 47"/>
          <p:cNvSpPr/>
          <p:nvPr/>
        </p:nvSpPr>
        <p:spPr>
          <a:xfrm>
            <a:off x="7848600" y="3357880"/>
            <a:ext cx="597535" cy="9334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5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心得体会</a:t>
            </a:r>
          </a:p>
        </p:txBody>
      </p:sp>
      <p:sp>
        <p:nvSpPr>
          <p:cNvPr id="48" name="AutoShape 48"/>
          <p:cNvSpPr/>
          <p:nvPr/>
        </p:nvSpPr>
        <p:spPr>
          <a:xfrm>
            <a:off x="3581400" y="3200400"/>
            <a:ext cx="596900" cy="115189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5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实习成果</a:t>
            </a:r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50" name="AutoShape 16"/>
          <p:cNvSpPr/>
          <p:nvPr/>
        </p:nvSpPr>
        <p:spPr>
          <a:xfrm>
            <a:off x="305710" y="571084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51" name="AutoShape 17"/>
          <p:cNvSpPr/>
          <p:nvPr/>
        </p:nvSpPr>
        <p:spPr>
          <a:xfrm>
            <a:off x="305711" y="571422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2" name="TextBox 18"/>
          <p:cNvSpPr txBox="1"/>
          <p:nvPr/>
        </p:nvSpPr>
        <p:spPr>
          <a:xfrm>
            <a:off x="422197" y="616932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</a:p>
        </p:txBody>
      </p:sp>
      <p:sp>
        <p:nvSpPr>
          <p:cNvPr id="53" name="TextBox 19"/>
          <p:cNvSpPr txBox="1"/>
          <p:nvPr/>
        </p:nvSpPr>
        <p:spPr>
          <a:xfrm>
            <a:off x="305710" y="578262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</a:p>
        </p:txBody>
      </p:sp>
      <p:sp>
        <p:nvSpPr>
          <p:cNvPr id="54" name="AutoShape 21"/>
          <p:cNvSpPr/>
          <p:nvPr/>
        </p:nvSpPr>
        <p:spPr>
          <a:xfrm>
            <a:off x="8727465" y="548435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55" name="TextBox 22"/>
          <p:cNvSpPr txBox="1"/>
          <p:nvPr/>
        </p:nvSpPr>
        <p:spPr>
          <a:xfrm>
            <a:off x="8843951" y="593945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</a:p>
        </p:txBody>
      </p:sp>
      <p:sp>
        <p:nvSpPr>
          <p:cNvPr id="56" name="TextBox 23"/>
          <p:cNvSpPr txBox="1"/>
          <p:nvPr/>
        </p:nvSpPr>
        <p:spPr>
          <a:xfrm>
            <a:off x="8727464" y="556269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</a:p>
        </p:txBody>
      </p:sp>
      <p:pic>
        <p:nvPicPr>
          <p:cNvPr id="59" name="图片 58" descr="868410eb0e77322587addb516b089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085" y="1461770"/>
            <a:ext cx="323469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9531" y="3798186"/>
            <a:ext cx="7924800" cy="18669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22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THANKS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5713" y="5506933"/>
            <a:ext cx="10708618" cy="495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感谢观看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5.5,&quot;left&quot;:66.07204724409448,&quot;top&quot;:102.82503937007873,&quot;width&quot;:960.952992125984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1392</Words>
  <Application>Microsoft Office PowerPoint</Application>
  <PresentationFormat>宽屏</PresentationFormat>
  <Paragraphs>367</Paragraphs>
  <Slides>33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Times New Roman</vt:lpstr>
      <vt:lpstr>OPPOSans B</vt:lpstr>
      <vt:lpstr>OPPOSans M</vt:lpstr>
      <vt:lpstr>OPPOSans R</vt:lpstr>
      <vt:lpstr>Noto Sans SC</vt:lpstr>
      <vt:lpstr>Calibri</vt:lpstr>
      <vt:lpstr>微软雅黑</vt:lpstr>
      <vt:lpstr>Arial</vt:lpstr>
      <vt:lpstr>HarmonyOS Sans SC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kgreyai</dc:creator>
  <cp:lastModifiedBy>Jiaan Wang</cp:lastModifiedBy>
  <cp:revision>16</cp:revision>
  <dcterms:created xsi:type="dcterms:W3CDTF">2006-08-16T00:00:00Z</dcterms:created>
  <dcterms:modified xsi:type="dcterms:W3CDTF">2026-03-06T15:05:51Z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86284FE9E6CA40F195BFCE6F76313216_13</vt:lpwstr>
  </property>
  <property fmtid="{D5CDD505-2E9C-101B-9397-08002B2CF9AE}" pid="3" name="KSOProductBuildVer">
    <vt:lpwstr>2052-12.1.0.20784</vt:lpwstr>
  </property>
</Properties>
</file>