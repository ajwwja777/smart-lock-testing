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88" r:id="rId7"/>
    <p:sldId id="262" r:id="rId8"/>
    <p:sldId id="263" r:id="rId9"/>
    <p:sldId id="264" r:id="rId10"/>
    <p:sldId id="289" r:id="rId11"/>
    <p:sldId id="265" r:id="rId12"/>
    <p:sldId id="260" r:id="rId13"/>
    <p:sldId id="266" r:id="rId14"/>
    <p:sldId id="267" r:id="rId15"/>
    <p:sldId id="268" r:id="rId16"/>
    <p:sldId id="269" r:id="rId17"/>
    <p:sldId id="270" r:id="rId18"/>
    <p:sldId id="271" r:id="rId19"/>
    <p:sldId id="272" r:id="rId21"/>
    <p:sldId id="273" r:id="rId22"/>
    <p:sldId id="275" r:id="rId23"/>
    <p:sldId id="290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91" r:id="rId34"/>
    <p:sldId id="286" r:id="rId35"/>
  </p:sldIdLst>
  <p:sldSz cx="12192000" cy="6858000"/>
  <p:notesSz cx="6858000" cy="9144000"/>
  <p:embeddedFontLst>
    <p:embeddedFont>
      <p:font typeface="Noto Sans SC" panose="020B0200000000000000" charset="-122"/>
      <p:regular r:id="rId39"/>
    </p:embeddedFont>
    <p:embeddedFont>
      <p:font typeface="微软雅黑" panose="020B0503020204020204" charset="-122"/>
      <p:regular r:id="rId40"/>
    </p:embeddedFont>
    <p:embeddedFont>
      <p:font typeface="Calibri" panose="020F0502020204030204" charset="0"/>
      <p:regular r:id="rId41"/>
      <p:bold r:id="rId42"/>
      <p:italic r:id="rId43"/>
      <p:boldItalic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8" userDrawn="1">
          <p15:clr>
            <a:srgbClr val="A4A3A4"/>
          </p15:clr>
        </p15:guide>
        <p15:guide id="2" pos="2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238"/>
        <p:guide pos="28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font" Target="fonts/font6.fntdata"/><Relationship Id="rId43" Type="http://schemas.openxmlformats.org/officeDocument/2006/relationships/font" Target="fonts/font5.fntdata"/><Relationship Id="rId42" Type="http://schemas.openxmlformats.org/officeDocument/2006/relationships/font" Target="fonts/font4.fntdata"/><Relationship Id="rId41" Type="http://schemas.openxmlformats.org/officeDocument/2006/relationships/font" Target="fonts/font3.fntdata"/><Relationship Id="rId40" Type="http://schemas.openxmlformats.org/officeDocument/2006/relationships/font" Target="fonts/font2.fntdata"/><Relationship Id="rId4" Type="http://schemas.openxmlformats.org/officeDocument/2006/relationships/slide" Target="slides/slide2.xml"/><Relationship Id="rId39" Type="http://schemas.openxmlformats.org/officeDocument/2006/relationships/font" Target="fonts/font1.fntdata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endParaRPr lang="en-US" sz="1100"/>
          </a:p>
          <a:p>
            <a:pPr algn="l"/>
            <a:r>
              <a:rPr lang="en-US" sz="900"/>
              <a:t>144</a:t>
            </a:r>
            <a:endParaRPr lang="en-US"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tags" Target="../tags/tag19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50.xml"/><Relationship Id="rId19" Type="http://schemas.openxmlformats.org/officeDocument/2006/relationships/image" Target="../media/image15.png"/><Relationship Id="rId18" Type="http://schemas.openxmlformats.org/officeDocument/2006/relationships/image" Target="../media/image14.png"/><Relationship Id="rId17" Type="http://schemas.openxmlformats.org/officeDocument/2006/relationships/image" Target="../media/image13.png"/><Relationship Id="rId16" Type="http://schemas.openxmlformats.org/officeDocument/2006/relationships/image" Target="../media/image12.png"/><Relationship Id="rId15" Type="http://schemas.openxmlformats.org/officeDocument/2006/relationships/image" Target="../media/image11.png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4" Type="http://schemas.openxmlformats.org/officeDocument/2006/relationships/slideLayout" Target="../slideLayouts/slideLayout7.xml"/><Relationship Id="rId33" Type="http://schemas.openxmlformats.org/officeDocument/2006/relationships/tags" Target="../tags/tag109.xml"/><Relationship Id="rId32" Type="http://schemas.openxmlformats.org/officeDocument/2006/relationships/tags" Target="../tags/tag108.xml"/><Relationship Id="rId31" Type="http://schemas.openxmlformats.org/officeDocument/2006/relationships/tags" Target="../tags/tag107.xml"/><Relationship Id="rId30" Type="http://schemas.openxmlformats.org/officeDocument/2006/relationships/tags" Target="../tags/tag106.xml"/><Relationship Id="rId3" Type="http://schemas.openxmlformats.org/officeDocument/2006/relationships/tags" Target="../tags/tag79.xml"/><Relationship Id="rId29" Type="http://schemas.openxmlformats.org/officeDocument/2006/relationships/tags" Target="../tags/tag105.xml"/><Relationship Id="rId28" Type="http://schemas.openxmlformats.org/officeDocument/2006/relationships/tags" Target="../tags/tag104.xml"/><Relationship Id="rId27" Type="http://schemas.openxmlformats.org/officeDocument/2006/relationships/tags" Target="../tags/tag103.xml"/><Relationship Id="rId26" Type="http://schemas.openxmlformats.org/officeDocument/2006/relationships/tags" Target="../tags/tag102.xml"/><Relationship Id="rId25" Type="http://schemas.openxmlformats.org/officeDocument/2006/relationships/tags" Target="../tags/tag101.xml"/><Relationship Id="rId24" Type="http://schemas.openxmlformats.org/officeDocument/2006/relationships/tags" Target="../tags/tag100.xml"/><Relationship Id="rId23" Type="http://schemas.openxmlformats.org/officeDocument/2006/relationships/tags" Target="../tags/tag99.xml"/><Relationship Id="rId22" Type="http://schemas.openxmlformats.org/officeDocument/2006/relationships/tags" Target="../tags/tag98.xml"/><Relationship Id="rId21" Type="http://schemas.openxmlformats.org/officeDocument/2006/relationships/tags" Target="../tags/tag97.xml"/><Relationship Id="rId20" Type="http://schemas.openxmlformats.org/officeDocument/2006/relationships/tags" Target="../tags/tag96.xml"/><Relationship Id="rId2" Type="http://schemas.openxmlformats.org/officeDocument/2006/relationships/tags" Target="../tags/tag78.xml"/><Relationship Id="rId19" Type="http://schemas.openxmlformats.org/officeDocument/2006/relationships/tags" Target="../tags/tag95.xml"/><Relationship Id="rId18" Type="http://schemas.openxmlformats.org/officeDocument/2006/relationships/tags" Target="../tags/tag94.xml"/><Relationship Id="rId17" Type="http://schemas.openxmlformats.org/officeDocument/2006/relationships/tags" Target="../tags/tag93.xml"/><Relationship Id="rId16" Type="http://schemas.openxmlformats.org/officeDocument/2006/relationships/tags" Target="../tags/tag92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131.xml"/><Relationship Id="rId22" Type="http://schemas.openxmlformats.org/officeDocument/2006/relationships/tags" Target="../tags/tag130.xml"/><Relationship Id="rId21" Type="http://schemas.openxmlformats.org/officeDocument/2006/relationships/tags" Target="../tags/tag129.xml"/><Relationship Id="rId20" Type="http://schemas.openxmlformats.org/officeDocument/2006/relationships/tags" Target="../tags/tag128.xml"/><Relationship Id="rId2" Type="http://schemas.openxmlformats.org/officeDocument/2006/relationships/tags" Target="../tags/tag110.xml"/><Relationship Id="rId19" Type="http://schemas.openxmlformats.org/officeDocument/2006/relationships/tags" Target="../tags/tag127.xml"/><Relationship Id="rId18" Type="http://schemas.openxmlformats.org/officeDocument/2006/relationships/tags" Target="../tags/tag126.xml"/><Relationship Id="rId17" Type="http://schemas.openxmlformats.org/officeDocument/2006/relationships/tags" Target="../tags/tag125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74594" y="1535197"/>
            <a:ext cx="8242813" cy="202916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智能门锁产品汇报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676055" y="3674616"/>
            <a:ext cx="2227456" cy="51789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1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汇报人：万佳萌</a:t>
            </a:r>
            <a:endParaRPr lang="en-US" sz="21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345921" y="3682412"/>
            <a:ext cx="2259190" cy="502303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1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2025-07-23</a:t>
            </a:r>
            <a:endParaRPr lang="en-US" sz="21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632575" y="1117569"/>
            <a:ext cx="2417263" cy="830289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4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CONTENTS</a:t>
            </a:r>
            <a:endParaRPr lang="en-US" sz="24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847124" y="387399"/>
            <a:ext cx="2512947" cy="9772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5175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 录</a:t>
            </a:r>
            <a:endParaRPr lang="en-US" sz="5175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38723" y="1175267"/>
            <a:ext cx="6788343" cy="5121354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产品研发背景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zh-CN" alt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功能概述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业务流程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人员结构与分工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产出展示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总结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47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747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产品研发背景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1" name="AutoShape 41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4" name="AutoShape 44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61" name="TextBox 6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古今对比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  <p:pic>
        <p:nvPicPr>
          <p:cNvPr id="64" name="图片 63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3028315" cy="5412740"/>
          </a:xfrm>
          <a:prstGeom prst="rect">
            <a:avLst/>
          </a:prstGeom>
        </p:spPr>
      </p:pic>
      <p:sp>
        <p:nvSpPr>
          <p:cNvPr id="65" name="文本框 64"/>
          <p:cNvSpPr txBox="1"/>
          <p:nvPr/>
        </p:nvSpPr>
        <p:spPr>
          <a:xfrm>
            <a:off x="3508375" y="129540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传统</a:t>
            </a:r>
            <a:r>
              <a:rPr lang="zh-CN" altLang="en-US"/>
              <a:t>门锁：简单易用</a:t>
            </a:r>
            <a:endParaRPr lang="zh-CN" altLang="en-US"/>
          </a:p>
          <a:p>
            <a:pPr marL="457200" lvl="1" indent="457200"/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zh-CN" altLang="en-US"/>
              <a:t>价格便宜</a:t>
            </a:r>
            <a:endParaRPr lang="zh-CN" altLang="en-US"/>
          </a:p>
          <a:p>
            <a:pPr marL="457200" lvl="1" indent="457200"/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zh-CN" altLang="en-US"/>
              <a:t>安全性较低</a:t>
            </a:r>
            <a:endParaRPr lang="zh-CN" altLang="en-US"/>
          </a:p>
          <a:p>
            <a:pPr indent="457200"/>
            <a:r>
              <a:rPr lang="en-US" altLang="zh-CN"/>
              <a:t> 	    </a:t>
            </a:r>
            <a:r>
              <a:rPr lang="zh-CN" altLang="en-US"/>
              <a:t>不方便</a:t>
            </a:r>
            <a:endParaRPr lang="zh-CN" altLang="en-US"/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无记录</a:t>
            </a:r>
            <a:endParaRPr lang="zh-CN" altLang="en-US"/>
          </a:p>
        </p:txBody>
      </p:sp>
      <p:cxnSp>
        <p:nvCxnSpPr>
          <p:cNvPr id="66" name="直接连接符 65"/>
          <p:cNvCxnSpPr/>
          <p:nvPr/>
        </p:nvCxnSpPr>
        <p:spPr>
          <a:xfrm>
            <a:off x="3429000" y="3124200"/>
            <a:ext cx="3276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359785" y="373380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智能门锁：方便快捷</a:t>
            </a:r>
            <a:endParaRPr lang="zh-CN" altLang="en-US"/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有记录</a:t>
            </a:r>
            <a:endParaRPr lang="zh-CN" altLang="en-US"/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临时密码功能</a:t>
            </a:r>
            <a:endParaRPr lang="zh-CN" altLang="en-US"/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远程</a:t>
            </a:r>
            <a:r>
              <a:rPr lang="zh-CN" altLang="en-US"/>
              <a:t>开锁</a:t>
            </a:r>
            <a:endParaRPr lang="zh-CN" altLang="en-US"/>
          </a:p>
        </p:txBody>
      </p:sp>
      <p:sp>
        <p:nvSpPr>
          <p:cNvPr id="68" name="弦形 67"/>
          <p:cNvSpPr/>
          <p:nvPr/>
        </p:nvSpPr>
        <p:spPr>
          <a:xfrm>
            <a:off x="6684010" y="2514600"/>
            <a:ext cx="914400" cy="914400"/>
          </a:xfrm>
          <a:prstGeom prst="chord">
            <a:avLst>
              <a:gd name="adj1" fmla="val 2156451"/>
              <a:gd name="adj2" fmla="val 1620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>
                    <a:lumMod val="90000"/>
                    <a:lumOff val="10000"/>
                  </a:schemeClr>
                </a:solidFill>
              </a:rPr>
              <a:t>调研</a:t>
            </a:r>
            <a:endParaRPr lang="zh-CN" altLang="en-US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69" name="肘形连接符 68"/>
          <p:cNvCxnSpPr>
            <a:stCxn id="68" idx="2"/>
          </p:cNvCxnSpPr>
          <p:nvPr/>
        </p:nvCxnSpPr>
        <p:spPr>
          <a:xfrm>
            <a:off x="7325995" y="2877185"/>
            <a:ext cx="3930015" cy="1237615"/>
          </a:xfrm>
          <a:prstGeom prst="bentConnector3">
            <a:avLst>
              <a:gd name="adj1" fmla="val 53466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7467600" y="1295400"/>
            <a:ext cx="1826260" cy="1450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传统门锁存在安全隐患，易被破解，难以满足现代家庭</a:t>
            </a:r>
            <a:r>
              <a:rPr lang="zh-CN" altLang="en-US"/>
              <a:t>安全需求</a:t>
            </a:r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9525000" y="2819400"/>
            <a:ext cx="23901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智能家居市场快速增长，消费者对便捷、智能的门锁</a:t>
            </a:r>
            <a:r>
              <a:rPr lang="zh-CN" altLang="en-US"/>
              <a:t>解决方案需求增加</a:t>
            </a:r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7423785" y="3048000"/>
            <a:ext cx="19526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现有智能门锁品牌众多，但产品质量和用户体验</a:t>
            </a:r>
            <a:r>
              <a:rPr lang="zh-CN" altLang="en-US"/>
              <a:t>参差不齐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97709" y="1834831"/>
            <a:ext cx="0" cy="3825594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" name="Connector 3"/>
          <p:cNvCxnSpPr/>
          <p:nvPr/>
        </p:nvCxnSpPr>
        <p:spPr>
          <a:xfrm>
            <a:off x="2387862" y="1834831"/>
            <a:ext cx="0" cy="3825594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Connector 4"/>
          <p:cNvCxnSpPr/>
          <p:nvPr/>
        </p:nvCxnSpPr>
        <p:spPr>
          <a:xfrm>
            <a:off x="3840592" y="1834831"/>
            <a:ext cx="0" cy="3817123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Connector 5"/>
          <p:cNvCxnSpPr/>
          <p:nvPr/>
        </p:nvCxnSpPr>
        <p:spPr>
          <a:xfrm>
            <a:off x="5152947" y="1834831"/>
            <a:ext cx="0" cy="3822503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Connector 6"/>
          <p:cNvCxnSpPr/>
          <p:nvPr/>
        </p:nvCxnSpPr>
        <p:spPr>
          <a:xfrm>
            <a:off x="7383315" y="1834831"/>
            <a:ext cx="0" cy="3822812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Connector 7"/>
          <p:cNvCxnSpPr/>
          <p:nvPr/>
        </p:nvCxnSpPr>
        <p:spPr>
          <a:xfrm>
            <a:off x="6323061" y="1834831"/>
            <a:ext cx="0" cy="3822503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AutoShape 8"/>
          <p:cNvSpPr/>
          <p:nvPr/>
        </p:nvSpPr>
        <p:spPr>
          <a:xfrm rot="5400000">
            <a:off x="2312927" y="343003"/>
            <a:ext cx="3549418" cy="6597009"/>
          </a:xfrm>
          <a:prstGeom prst="trapezoid">
            <a:avLst>
              <a:gd name="adj" fmla="val 42242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64000">
                <a:schemeClr val="accent1">
                  <a:alpha val="10985"/>
                </a:schemeClr>
              </a:gs>
            </a:gsLst>
            <a:lin ang="16200000"/>
          </a:gradFill>
          <a:ln w="25400">
            <a:solidFill>
              <a:schemeClr val="accent1">
                <a:alpha val="100000"/>
              </a:schemeClr>
            </a:solidFill>
            <a:prstDash val="dash"/>
          </a:ln>
        </p:spPr>
      </p:sp>
      <p:sp>
        <p:nvSpPr>
          <p:cNvPr id="9" name="AutoShape 9"/>
          <p:cNvSpPr/>
          <p:nvPr/>
        </p:nvSpPr>
        <p:spPr>
          <a:xfrm>
            <a:off x="830097" y="6015783"/>
            <a:ext cx="8068110" cy="511654"/>
          </a:xfrm>
          <a:prstGeom prst="homePlate">
            <a:avLst>
              <a:gd name="adj" fmla="val 5000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11" name="TextBox 11"/>
          <p:cNvSpPr txBox="1"/>
          <p:nvPr/>
        </p:nvSpPr>
        <p:spPr>
          <a:xfrm>
            <a:off x="7934031" y="3388124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优势定位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934031" y="3695116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策略制定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286392" y="3350760"/>
            <a:ext cx="193846" cy="58149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379779" y="1847046"/>
            <a:ext cx="832812" cy="358892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2040706" y="2219897"/>
            <a:ext cx="694312" cy="284322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3563133" y="2556119"/>
            <a:ext cx="554919" cy="217077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4946167" y="2860919"/>
            <a:ext cx="413561" cy="156117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8" name="AutoShape 18"/>
          <p:cNvSpPr/>
          <p:nvPr/>
        </p:nvSpPr>
        <p:spPr>
          <a:xfrm>
            <a:off x="6187843" y="3106409"/>
            <a:ext cx="270436" cy="107019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9" name="Freeform 19"/>
          <p:cNvSpPr/>
          <p:nvPr/>
        </p:nvSpPr>
        <p:spPr>
          <a:xfrm rot="16200000">
            <a:off x="3931023" y="-1645354"/>
            <a:ext cx="317454" cy="6587130"/>
          </a:xfrm>
          <a:custGeom>
            <a:avLst/>
            <a:gdLst/>
            <a:ahLst/>
            <a:cxnLst/>
            <a:rect l="l" t="t" r="r" b="b"/>
            <a:pathLst>
              <a:path w="21600" h="21595">
                <a:moveTo>
                  <a:pt x="13" y="21595"/>
                </a:moveTo>
                <a:lnTo>
                  <a:pt x="9790" y="21595"/>
                </a:lnTo>
                <a:cubicBezTo>
                  <a:pt x="11407" y="21600"/>
                  <a:pt x="12989" y="21570"/>
                  <a:pt x="14123" y="21512"/>
                </a:cubicBezTo>
                <a:cubicBezTo>
                  <a:pt x="15046" y="21465"/>
                  <a:pt x="15601" y="21403"/>
                  <a:pt x="15687" y="21337"/>
                </a:cubicBezTo>
                <a:lnTo>
                  <a:pt x="15687" y="11183"/>
                </a:lnTo>
                <a:cubicBezTo>
                  <a:pt x="15796" y="11107"/>
                  <a:pt x="16391" y="11035"/>
                  <a:pt x="17382" y="10978"/>
                </a:cubicBezTo>
                <a:cubicBezTo>
                  <a:pt x="18467" y="10915"/>
                  <a:pt x="19960" y="10873"/>
                  <a:pt x="21600" y="10859"/>
                </a:cubicBezTo>
                <a:cubicBezTo>
                  <a:pt x="20179" y="10858"/>
                  <a:pt x="18813" y="10831"/>
                  <a:pt x="17740" y="10785"/>
                </a:cubicBezTo>
                <a:cubicBezTo>
                  <a:pt x="16383" y="10725"/>
                  <a:pt x="15606" y="10640"/>
                  <a:pt x="15613" y="10550"/>
                </a:cubicBezTo>
                <a:lnTo>
                  <a:pt x="15613" y="280"/>
                </a:lnTo>
                <a:cubicBezTo>
                  <a:pt x="15656" y="207"/>
                  <a:pt x="15122" y="137"/>
                  <a:pt x="14129" y="85"/>
                </a:cubicBezTo>
                <a:cubicBezTo>
                  <a:pt x="13138" y="32"/>
                  <a:pt x="11771" y="2"/>
                  <a:pt x="10330" y="0"/>
                </a:cubicBezTo>
                <a:lnTo>
                  <a:pt x="0" y="0"/>
                </a:lnTo>
              </a:path>
            </a:pathLst>
          </a:custGeom>
          <a:noFill/>
          <a:ln w="254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20" name="TextBox 20"/>
          <p:cNvSpPr txBox="1"/>
          <p:nvPr/>
        </p:nvSpPr>
        <p:spPr>
          <a:xfrm>
            <a:off x="611519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安全隐患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30097" y="6166138"/>
            <a:ext cx="7831249" cy="250889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传统门锁痛点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199687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安全需求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30097" y="5511745"/>
            <a:ext cx="1520668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4" name="TextBox 24"/>
          <p:cNvSpPr txBox="1"/>
          <p:nvPr/>
        </p:nvSpPr>
        <p:spPr>
          <a:xfrm flipH="1">
            <a:off x="830097" y="5593849"/>
            <a:ext cx="1520668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家庭用户群体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2421022" y="5511745"/>
            <a:ext cx="1388846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6" name="TextBox 26"/>
          <p:cNvSpPr txBox="1"/>
          <p:nvPr/>
        </p:nvSpPr>
        <p:spPr>
          <a:xfrm flipH="1">
            <a:off x="2421022" y="5593849"/>
            <a:ext cx="1388846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研发必要性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3871687" y="5511745"/>
            <a:ext cx="1266774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8" name="TextBox 28"/>
          <p:cNvSpPr txBox="1"/>
          <p:nvPr/>
        </p:nvSpPr>
        <p:spPr>
          <a:xfrm flipH="1">
            <a:off x="3871687" y="5593849"/>
            <a:ext cx="1266774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研发目标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5177973" y="5511745"/>
            <a:ext cx="1109783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0" name="TextBox 30"/>
          <p:cNvSpPr txBox="1"/>
          <p:nvPr/>
        </p:nvSpPr>
        <p:spPr>
          <a:xfrm flipH="1">
            <a:off x="5138461" y="5593849"/>
            <a:ext cx="1149295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需求调研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362537" y="5511745"/>
            <a:ext cx="992038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2" name="TextBox 32"/>
          <p:cNvSpPr txBox="1"/>
          <p:nvPr/>
        </p:nvSpPr>
        <p:spPr>
          <a:xfrm flipH="1">
            <a:off x="6362537" y="5593849"/>
            <a:ext cx="992038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产品定位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7420082" y="5511745"/>
            <a:ext cx="4408926" cy="334111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4" name="TextBox 34"/>
          <p:cNvSpPr txBox="1"/>
          <p:nvPr/>
        </p:nvSpPr>
        <p:spPr>
          <a:xfrm flipH="1">
            <a:off x="7420082" y="5593849"/>
            <a:ext cx="4408926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市场价值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654019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提升安防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4969013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技术与体验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144670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便捷生活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8" name="Freeform 38"/>
          <p:cNvSpPr/>
          <p:nvPr/>
        </p:nvSpPr>
        <p:spPr>
          <a:xfrm rot="16200000">
            <a:off x="9497144" y="-524926"/>
            <a:ext cx="317454" cy="4346273"/>
          </a:xfrm>
          <a:custGeom>
            <a:avLst/>
            <a:gdLst/>
            <a:ahLst/>
            <a:cxnLst/>
            <a:rect l="l" t="t" r="r" b="b"/>
            <a:pathLst>
              <a:path w="21600" h="21595">
                <a:moveTo>
                  <a:pt x="13" y="21595"/>
                </a:moveTo>
                <a:lnTo>
                  <a:pt x="9790" y="21595"/>
                </a:lnTo>
                <a:cubicBezTo>
                  <a:pt x="11407" y="21600"/>
                  <a:pt x="12989" y="21570"/>
                  <a:pt x="14123" y="21512"/>
                </a:cubicBezTo>
                <a:cubicBezTo>
                  <a:pt x="15046" y="21465"/>
                  <a:pt x="15601" y="21403"/>
                  <a:pt x="15687" y="21337"/>
                </a:cubicBezTo>
                <a:lnTo>
                  <a:pt x="15687" y="11183"/>
                </a:lnTo>
                <a:cubicBezTo>
                  <a:pt x="15796" y="11107"/>
                  <a:pt x="16391" y="11035"/>
                  <a:pt x="17382" y="10978"/>
                </a:cubicBezTo>
                <a:cubicBezTo>
                  <a:pt x="18467" y="10915"/>
                  <a:pt x="19960" y="10873"/>
                  <a:pt x="21600" y="10859"/>
                </a:cubicBezTo>
                <a:cubicBezTo>
                  <a:pt x="20179" y="10858"/>
                  <a:pt x="18813" y="10831"/>
                  <a:pt x="17740" y="10785"/>
                </a:cubicBezTo>
                <a:cubicBezTo>
                  <a:pt x="16383" y="10725"/>
                  <a:pt x="15606" y="10640"/>
                  <a:pt x="15613" y="10550"/>
                </a:cubicBezTo>
                <a:lnTo>
                  <a:pt x="15613" y="280"/>
                </a:lnTo>
                <a:cubicBezTo>
                  <a:pt x="15656" y="207"/>
                  <a:pt x="15122" y="137"/>
                  <a:pt x="14129" y="85"/>
                </a:cubicBezTo>
                <a:cubicBezTo>
                  <a:pt x="13138" y="32"/>
                  <a:pt x="11771" y="2"/>
                  <a:pt x="10330" y="0"/>
                </a:cubicBezTo>
                <a:lnTo>
                  <a:pt x="0" y="0"/>
                </a:lnTo>
              </a:path>
            </a:pathLst>
          </a:custGeom>
          <a:noFill/>
          <a:ln w="254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9" name="TextBox 39"/>
          <p:cNvSpPr txBox="1"/>
          <p:nvPr/>
        </p:nvSpPr>
        <p:spPr>
          <a:xfrm>
            <a:off x="830097" y="1162939"/>
            <a:ext cx="6524478" cy="260414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市场需求分析</a:t>
            </a:r>
            <a:endParaRPr lang="en-US" sz="12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480238" y="1162939"/>
            <a:ext cx="4348770" cy="260414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背景总结</a:t>
            </a:r>
            <a:endParaRPr lang="en-US" sz="12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2" name="TextBox 42"/>
          <p:cNvSpPr txBox="1"/>
          <p:nvPr/>
        </p:nvSpPr>
        <p:spPr>
          <a:xfrm>
            <a:off x="7934031" y="4578818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体系重构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7934031" y="4885810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技术引领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4" name="AutoShape 44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5" name="TextBox 45"/>
          <p:cNvSpPr txBox="1"/>
          <p:nvPr/>
        </p:nvSpPr>
        <p:spPr>
          <a:xfrm>
            <a:off x="7934031" y="2210588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技术升级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7934031" y="2517580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市场普及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7" name="AutoShape 47"/>
          <p:cNvSpPr/>
          <p:nvPr/>
        </p:nvSpPr>
        <p:spPr>
          <a:xfrm rot="10800000">
            <a:off x="9162597" y="3105519"/>
            <a:ext cx="2671180" cy="1070170"/>
          </a:xfrm>
          <a:prstGeom prst="homePlate">
            <a:avLst>
              <a:gd name="adj" fmla="val 24013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48" name="TextBox 48"/>
          <p:cNvSpPr txBox="1"/>
          <p:nvPr/>
        </p:nvSpPr>
        <p:spPr>
          <a:xfrm>
            <a:off x="9683496" y="3293072"/>
            <a:ext cx="18288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just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通过市场分析，明确产品核心优势，制定差异化策略，最终实现智能门锁市场占有率的突破。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9" name="AutoShape 49"/>
          <p:cNvSpPr/>
          <p:nvPr/>
        </p:nvSpPr>
        <p:spPr>
          <a:xfrm rot="10800000">
            <a:off x="9162597" y="4294239"/>
            <a:ext cx="2671180" cy="1070170"/>
          </a:xfrm>
          <a:prstGeom prst="homePlate">
            <a:avLst>
              <a:gd name="adj" fmla="val 24013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50" name="TextBox 50"/>
          <p:cNvSpPr txBox="1"/>
          <p:nvPr/>
        </p:nvSpPr>
        <p:spPr>
          <a:xfrm>
            <a:off x="9683496" y="4481792"/>
            <a:ext cx="18288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just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本项目将重构家庭安防体系，为消费者、行业及社会创造长期价值，引领智能门锁技术发展。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1" name="AutoShape 51"/>
          <p:cNvSpPr/>
          <p:nvPr/>
        </p:nvSpPr>
        <p:spPr>
          <a:xfrm rot="10800000">
            <a:off x="9162597" y="1916798"/>
            <a:ext cx="2671180" cy="1070170"/>
          </a:xfrm>
          <a:prstGeom prst="homePlate">
            <a:avLst>
              <a:gd name="adj" fmla="val 24013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52" name="TextBox 52"/>
          <p:cNvSpPr txBox="1"/>
          <p:nvPr/>
        </p:nvSpPr>
        <p:spPr>
          <a:xfrm>
            <a:off x="9683496" y="2104351"/>
            <a:ext cx="18288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just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深入挖掘用户需求，为产品迭代提供依据，推动智能安防行业的技术升级与市场普及。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3" name="AutoShape 53"/>
          <p:cNvSpPr/>
          <p:nvPr/>
        </p:nvSpPr>
        <p:spPr>
          <a:xfrm>
            <a:off x="6663404" y="2074640"/>
            <a:ext cx="390334" cy="39033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54" name="AutoShape 54"/>
          <p:cNvSpPr/>
          <p:nvPr/>
        </p:nvSpPr>
        <p:spPr>
          <a:xfrm>
            <a:off x="6663404" y="4388358"/>
            <a:ext cx="390334" cy="390334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55" name="AutoShape 55"/>
          <p:cNvSpPr/>
          <p:nvPr/>
        </p:nvSpPr>
        <p:spPr>
          <a:xfrm>
            <a:off x="6663404" y="4845558"/>
            <a:ext cx="390334" cy="390334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56" name="Freeform 56"/>
          <p:cNvSpPr/>
          <p:nvPr/>
        </p:nvSpPr>
        <p:spPr>
          <a:xfrm>
            <a:off x="6734094" y="4935613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57" name="Freeform 57"/>
          <p:cNvSpPr/>
          <p:nvPr/>
        </p:nvSpPr>
        <p:spPr>
          <a:xfrm>
            <a:off x="6735201" y="4479245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58" name="AutoShape 58"/>
          <p:cNvSpPr/>
          <p:nvPr/>
        </p:nvSpPr>
        <p:spPr>
          <a:xfrm>
            <a:off x="6663404" y="2531840"/>
            <a:ext cx="390334" cy="39033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59" name="Freeform 59"/>
          <p:cNvSpPr/>
          <p:nvPr/>
        </p:nvSpPr>
        <p:spPr>
          <a:xfrm>
            <a:off x="6735201" y="2628640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60" name="Freeform 60"/>
          <p:cNvSpPr/>
          <p:nvPr/>
        </p:nvSpPr>
        <p:spPr>
          <a:xfrm>
            <a:off x="6735201" y="2146620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61" name="TextBox 6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研发背景与市场需求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762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</a:t>
            </a:r>
            <a:r>
              <a:rPr lang="zh-CN" alt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概述</a:t>
            </a:r>
            <a:endParaRPr lang="zh-CN" alt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949118" y="3014472"/>
            <a:ext cx="1251680" cy="814102"/>
          </a:xfrm>
          <a:custGeom>
            <a:avLst/>
            <a:gdLst/>
            <a:ahLst/>
            <a:cxnLst/>
            <a:rect l="l" t="t" r="r" b="b"/>
            <a:pathLst>
              <a:path w="1251658" h="814136">
                <a:moveTo>
                  <a:pt x="0" y="0"/>
                </a:moveTo>
                <a:lnTo>
                  <a:pt x="832225" y="0"/>
                </a:lnTo>
                <a:cubicBezTo>
                  <a:pt x="1063862" y="0"/>
                  <a:pt x="1251659" y="182260"/>
                  <a:pt x="1251659" y="407068"/>
                </a:cubicBezTo>
                <a:lnTo>
                  <a:pt x="1251659" y="407068"/>
                </a:lnTo>
                <a:cubicBezTo>
                  <a:pt x="1251659" y="631877"/>
                  <a:pt x="1063862" y="814137"/>
                  <a:pt x="832225" y="814137"/>
                </a:cubicBezTo>
                <a:lnTo>
                  <a:pt x="0" y="814137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3" name="Freeform 3"/>
          <p:cNvSpPr/>
          <p:nvPr/>
        </p:nvSpPr>
        <p:spPr>
          <a:xfrm flipH="1">
            <a:off x="8528780" y="2172462"/>
            <a:ext cx="1681734" cy="2487739"/>
          </a:xfrm>
          <a:custGeom>
            <a:avLst/>
            <a:gdLst/>
            <a:ahLst/>
            <a:cxnLst/>
            <a:rect l="l" t="t" r="r" b="b"/>
            <a:pathLst>
              <a:path w="1681695" h="2487753">
                <a:moveTo>
                  <a:pt x="0" y="0"/>
                </a:moveTo>
                <a:lnTo>
                  <a:pt x="632420" y="0"/>
                </a:lnTo>
                <a:cubicBezTo>
                  <a:pt x="1211929" y="0"/>
                  <a:pt x="1681696" y="469767"/>
                  <a:pt x="1681696" y="1049277"/>
                </a:cubicBezTo>
                <a:lnTo>
                  <a:pt x="1681696" y="1438477"/>
                </a:lnTo>
                <a:cubicBezTo>
                  <a:pt x="1681696" y="2017987"/>
                  <a:pt x="1211929" y="2487753"/>
                  <a:pt x="632420" y="2487753"/>
                </a:cubicBezTo>
                <a:lnTo>
                  <a:pt x="39229" y="2487753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4" name="Freeform 4"/>
          <p:cNvSpPr/>
          <p:nvPr/>
        </p:nvSpPr>
        <p:spPr>
          <a:xfrm>
            <a:off x="2022062" y="3044285"/>
            <a:ext cx="1251680" cy="814102"/>
          </a:xfrm>
          <a:custGeom>
            <a:avLst/>
            <a:gdLst/>
            <a:ahLst/>
            <a:cxnLst/>
            <a:rect l="l" t="t" r="r" b="b"/>
            <a:pathLst>
              <a:path w="1251658" h="814136">
                <a:moveTo>
                  <a:pt x="0" y="0"/>
                </a:moveTo>
                <a:lnTo>
                  <a:pt x="832225" y="0"/>
                </a:lnTo>
                <a:cubicBezTo>
                  <a:pt x="1063862" y="0"/>
                  <a:pt x="1251659" y="182260"/>
                  <a:pt x="1251659" y="407068"/>
                </a:cubicBezTo>
                <a:lnTo>
                  <a:pt x="1251659" y="407068"/>
                </a:lnTo>
                <a:cubicBezTo>
                  <a:pt x="1251659" y="631877"/>
                  <a:pt x="1063862" y="814137"/>
                  <a:pt x="832225" y="814137"/>
                </a:cubicBezTo>
                <a:lnTo>
                  <a:pt x="0" y="814137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5" name="Freeform 5"/>
          <p:cNvSpPr/>
          <p:nvPr/>
        </p:nvSpPr>
        <p:spPr>
          <a:xfrm>
            <a:off x="2012347" y="2202275"/>
            <a:ext cx="1681734" cy="2487739"/>
          </a:xfrm>
          <a:custGeom>
            <a:avLst/>
            <a:gdLst/>
            <a:ahLst/>
            <a:cxnLst/>
            <a:rect l="l" t="t" r="r" b="b"/>
            <a:pathLst>
              <a:path w="1681695" h="2487753">
                <a:moveTo>
                  <a:pt x="0" y="0"/>
                </a:moveTo>
                <a:lnTo>
                  <a:pt x="632420" y="0"/>
                </a:lnTo>
                <a:cubicBezTo>
                  <a:pt x="1211929" y="0"/>
                  <a:pt x="1681696" y="469767"/>
                  <a:pt x="1681696" y="1049277"/>
                </a:cubicBezTo>
                <a:lnTo>
                  <a:pt x="1681696" y="1438477"/>
                </a:lnTo>
                <a:cubicBezTo>
                  <a:pt x="1681696" y="2017987"/>
                  <a:pt x="1211929" y="2487753"/>
                  <a:pt x="632420" y="2487753"/>
                </a:cubicBezTo>
                <a:lnTo>
                  <a:pt x="39229" y="2487753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6" name="Freeform 6"/>
          <p:cNvSpPr/>
          <p:nvPr/>
        </p:nvSpPr>
        <p:spPr>
          <a:xfrm>
            <a:off x="3717876" y="4489575"/>
            <a:ext cx="884057" cy="884057"/>
          </a:xfrm>
          <a:custGeom>
            <a:avLst/>
            <a:gdLst/>
            <a:ahLst/>
            <a:cxnLst/>
            <a:rect l="l" t="t" r="r" b="b"/>
            <a:pathLst>
              <a:path w="884057" h="884057">
                <a:moveTo>
                  <a:pt x="884057" y="884057"/>
                </a:moveTo>
                <a:cubicBezTo>
                  <a:pt x="395823" y="884057"/>
                  <a:pt x="0" y="488234"/>
                  <a:pt x="0" y="0"/>
                </a:cubicBezTo>
              </a:path>
            </a:pathLst>
          </a:custGeom>
          <a:noFill/>
          <a:ln w="406948">
            <a:gradFill>
              <a:gsLst>
                <a:gs pos="9000">
                  <a:schemeClr val="accent1">
                    <a:alpha val="100000"/>
                  </a:schemeClr>
                </a:gs>
                <a:gs pos="85000">
                  <a:schemeClr val="accent1">
                    <a:alpha val="0"/>
                  </a:schemeClr>
                </a:gs>
              </a:gsLst>
              <a:lin ang="900000"/>
            </a:gradFill>
            <a:prstDash val="solid"/>
          </a:ln>
        </p:spPr>
      </p:sp>
      <p:sp>
        <p:nvSpPr>
          <p:cNvPr id="7" name="Freeform 7"/>
          <p:cNvSpPr/>
          <p:nvPr/>
        </p:nvSpPr>
        <p:spPr>
          <a:xfrm>
            <a:off x="7586282" y="4489575"/>
            <a:ext cx="884056" cy="884057"/>
          </a:xfrm>
          <a:custGeom>
            <a:avLst/>
            <a:gdLst/>
            <a:ahLst/>
            <a:cxnLst/>
            <a:rect l="l" t="t" r="r" b="b"/>
            <a:pathLst>
              <a:path w="884056" h="884057">
                <a:moveTo>
                  <a:pt x="884057" y="0"/>
                </a:moveTo>
                <a:cubicBezTo>
                  <a:pt x="884057" y="488234"/>
                  <a:pt x="488234" y="884057"/>
                  <a:pt x="0" y="884057"/>
                </a:cubicBezTo>
              </a:path>
            </a:pathLst>
          </a:custGeom>
          <a:noFill/>
          <a:ln w="406948">
            <a:gradFill>
              <a:gsLst>
                <a:gs pos="15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6600000"/>
            </a:gradFill>
            <a:prstDash val="solid"/>
          </a:ln>
        </p:spPr>
      </p:sp>
      <p:sp>
        <p:nvSpPr>
          <p:cNvPr id="8" name="Freeform 8"/>
          <p:cNvSpPr/>
          <p:nvPr/>
        </p:nvSpPr>
        <p:spPr>
          <a:xfrm>
            <a:off x="7532108" y="1462255"/>
            <a:ext cx="884056" cy="884057"/>
          </a:xfrm>
          <a:custGeom>
            <a:avLst/>
            <a:gdLst/>
            <a:ahLst/>
            <a:cxnLst/>
            <a:rect l="l" t="t" r="r" b="b"/>
            <a:pathLst>
              <a:path w="884056" h="884057">
                <a:moveTo>
                  <a:pt x="0" y="0"/>
                </a:moveTo>
                <a:cubicBezTo>
                  <a:pt x="488234" y="0"/>
                  <a:pt x="884057" y="395823"/>
                  <a:pt x="884057" y="884057"/>
                </a:cubicBezTo>
              </a:path>
            </a:pathLst>
          </a:custGeom>
          <a:noFill/>
          <a:ln w="406948">
            <a:gradFill>
              <a:gsLst>
                <a:gs pos="16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600000"/>
            </a:gradFill>
            <a:prstDash val="solid"/>
          </a:ln>
        </p:spPr>
      </p:sp>
      <p:sp>
        <p:nvSpPr>
          <p:cNvPr id="9" name="Freeform 9"/>
          <p:cNvSpPr/>
          <p:nvPr/>
        </p:nvSpPr>
        <p:spPr>
          <a:xfrm>
            <a:off x="3717876" y="1462255"/>
            <a:ext cx="884057" cy="884057"/>
          </a:xfrm>
          <a:custGeom>
            <a:avLst/>
            <a:gdLst/>
            <a:ahLst/>
            <a:cxnLst/>
            <a:rect l="l" t="t" r="r" b="b"/>
            <a:pathLst>
              <a:path w="884057" h="884057">
                <a:moveTo>
                  <a:pt x="0" y="884057"/>
                </a:moveTo>
                <a:cubicBezTo>
                  <a:pt x="0" y="395823"/>
                  <a:pt x="395823" y="0"/>
                  <a:pt x="884057" y="0"/>
                </a:cubicBezTo>
              </a:path>
            </a:pathLst>
          </a:custGeom>
          <a:noFill/>
          <a:ln w="406948">
            <a:gradFill>
              <a:gsLst>
                <a:gs pos="0">
                  <a:schemeClr val="accent1">
                    <a:alpha val="100000"/>
                  </a:schemeClr>
                </a:gs>
                <a:gs pos="85000">
                  <a:schemeClr val="accent1">
                    <a:alpha val="0"/>
                  </a:schemeClr>
                </a:gs>
              </a:gsLst>
              <a:lin ang="6600000"/>
            </a:gradFill>
            <a:prstDash val="solid"/>
          </a:ln>
        </p:spPr>
      </p:sp>
      <p:sp>
        <p:nvSpPr>
          <p:cNvPr id="10" name="AutoShape 10"/>
          <p:cNvSpPr/>
          <p:nvPr/>
        </p:nvSpPr>
        <p:spPr>
          <a:xfrm>
            <a:off x="4961805" y="929494"/>
            <a:ext cx="2253993" cy="974789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4961805" y="4953953"/>
            <a:ext cx="2253993" cy="974789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4779688" y="2120005"/>
            <a:ext cx="2618226" cy="261822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7768549" y="2737941"/>
            <a:ext cx="1382355" cy="1382355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9403108" y="1927701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9403108" y="3566749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9403108" y="2747225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9403108" y="4386274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8" name="TextBox 18"/>
          <p:cNvSpPr txBox="1"/>
          <p:nvPr/>
        </p:nvSpPr>
        <p:spPr>
          <a:xfrm rot="3176463">
            <a:off x="7470350" y="1663500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9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WiFi模组</a:t>
            </a:r>
            <a:endParaRPr lang="en-US" sz="1400">
              <a:solidFill>
                <a:srgbClr val="F9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9" name="TextBox 19"/>
          <p:cNvSpPr txBox="1"/>
          <p:nvPr/>
        </p:nvSpPr>
        <p:spPr>
          <a:xfrm rot="19495322">
            <a:off x="7533774" y="5015407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9F6F6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日志存储</a:t>
            </a:r>
            <a:endParaRPr lang="en-US" sz="1400">
              <a:solidFill>
                <a:srgbClr val="F9F6F6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0" name="TextBox 20"/>
          <p:cNvSpPr txBox="1"/>
          <p:nvPr/>
        </p:nvSpPr>
        <p:spPr>
          <a:xfrm rot="19521600">
            <a:off x="3517600" y="1542329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9F4F4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云平台</a:t>
            </a:r>
            <a:endParaRPr lang="en-US" sz="1400">
              <a:solidFill>
                <a:srgbClr val="F9F4F4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1" name="TextBox 21"/>
          <p:cNvSpPr txBox="1"/>
          <p:nvPr/>
        </p:nvSpPr>
        <p:spPr>
          <a:xfrm rot="3065617">
            <a:off x="3195029" y="4890314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B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本地缓存</a:t>
            </a:r>
            <a:endParaRPr lang="en-US" sz="1400">
              <a:solidFill>
                <a:srgbClr val="FB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5745901" y="2031237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3" name="AutoShape 23"/>
          <p:cNvSpPr/>
          <p:nvPr/>
        </p:nvSpPr>
        <p:spPr>
          <a:xfrm rot="5400000">
            <a:off x="7013599" y="3261601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4" name="AutoShape 24"/>
          <p:cNvSpPr/>
          <p:nvPr/>
        </p:nvSpPr>
        <p:spPr>
          <a:xfrm rot="16200000" flipH="1">
            <a:off x="4510122" y="3261602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5" name="AutoShape 25"/>
          <p:cNvSpPr/>
          <p:nvPr/>
        </p:nvSpPr>
        <p:spPr>
          <a:xfrm flipV="1">
            <a:off x="5745901" y="4513569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6" name="TextBox 26"/>
          <p:cNvSpPr txBox="1"/>
          <p:nvPr/>
        </p:nvSpPr>
        <p:spPr>
          <a:xfrm>
            <a:off x="5240569" y="1106125"/>
            <a:ext cx="1754505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9F8F8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通信协议</a:t>
            </a:r>
            <a:endParaRPr lang="en-US" sz="1800">
              <a:solidFill>
                <a:srgbClr val="F9F8F8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020538" y="1461711"/>
            <a:ext cx="216408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7F7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MQTT传输</a:t>
            </a:r>
            <a:endParaRPr lang="en-US" sz="1400">
              <a:solidFill>
                <a:srgbClr val="F9F7F7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181836" y="5136093"/>
            <a:ext cx="1754505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9F4F4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固件升级</a:t>
            </a:r>
            <a:endParaRPr lang="en-US" sz="1800">
              <a:solidFill>
                <a:srgbClr val="F9F4F4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961805" y="5491679"/>
            <a:ext cx="2164080" cy="3200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6F6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OTA远程更新</a:t>
            </a:r>
            <a:endParaRPr lang="en-US" sz="1400">
              <a:solidFill>
                <a:srgbClr val="F9F6F6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829270" y="2971182"/>
            <a:ext cx="2516505" cy="6057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rgbClr val="FBF9F9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核心模块</a:t>
            </a:r>
            <a:endParaRPr lang="en-US" sz="3200">
              <a:solidFill>
                <a:srgbClr val="FBF9F9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973447" y="3503657"/>
            <a:ext cx="2164080" cy="3200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BF8F8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全球联网</a:t>
            </a:r>
            <a:endParaRPr lang="en-US" sz="1400">
              <a:solidFill>
                <a:srgbClr val="FBF8F8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857112" y="3422303"/>
            <a:ext cx="1183005" cy="3200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4F4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加密芯片</a:t>
            </a:r>
            <a:endParaRPr lang="en-US" sz="1400">
              <a:solidFill>
                <a:srgbClr val="F9F4F4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1241067" y="1937144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4" name="AutoShape 34"/>
          <p:cNvSpPr/>
          <p:nvPr/>
        </p:nvSpPr>
        <p:spPr>
          <a:xfrm>
            <a:off x="1241067" y="3576192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5" name="AutoShape 35"/>
          <p:cNvSpPr/>
          <p:nvPr/>
        </p:nvSpPr>
        <p:spPr>
          <a:xfrm>
            <a:off x="1241067" y="2756668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6" name="AutoShape 36"/>
          <p:cNvSpPr/>
          <p:nvPr/>
        </p:nvSpPr>
        <p:spPr>
          <a:xfrm>
            <a:off x="1241067" y="4395717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7" name="AutoShape 37"/>
          <p:cNvSpPr/>
          <p:nvPr/>
        </p:nvSpPr>
        <p:spPr>
          <a:xfrm>
            <a:off x="3026698" y="2737941"/>
            <a:ext cx="1382355" cy="1382355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8" name="TextBox 38"/>
          <p:cNvSpPr txBox="1"/>
          <p:nvPr/>
        </p:nvSpPr>
        <p:spPr>
          <a:xfrm>
            <a:off x="3072326" y="3096230"/>
            <a:ext cx="1325880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DFD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主控板</a:t>
            </a:r>
            <a:endParaRPr lang="en-US" sz="1800">
              <a:solidFill>
                <a:srgbClr val="FFFDFD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3124515" y="3411475"/>
            <a:ext cx="1183005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4F4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ESP32芯片</a:t>
            </a:r>
            <a:endParaRPr lang="en-US" sz="1400">
              <a:solidFill>
                <a:srgbClr val="F9F4F4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41067" y="2075644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9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指纹模组</a:t>
            </a:r>
            <a:endParaRPr lang="en-US" sz="1600">
              <a:solidFill>
                <a:srgbClr val="F9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241067" y="2919193"/>
            <a:ext cx="1547826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9F9F9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键盘</a:t>
            </a:r>
            <a:r>
              <a:rPr lang="en-US" sz="1600">
                <a:solidFill>
                  <a:srgbClr val="F9F9F9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模块</a:t>
            </a:r>
            <a:endParaRPr lang="en-US" sz="1600">
              <a:solidFill>
                <a:srgbClr val="F9F9F9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241067" y="3737238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6F5F5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NFC读卡器</a:t>
            </a:r>
            <a:endParaRPr lang="en-US" sz="1600">
              <a:solidFill>
                <a:srgbClr val="F6F5F5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241067" y="4534216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BF9F9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备用</a:t>
            </a:r>
            <a:endParaRPr lang="en-US" sz="1600">
              <a:solidFill>
                <a:srgbClr val="FBF9F9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9403108" y="2066201"/>
            <a:ext cx="1547826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B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手机存储</a:t>
            </a:r>
            <a:endParaRPr lang="zh-CN" altLang="en-US" sz="1600">
              <a:solidFill>
                <a:srgbClr val="FB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9567529" y="2885725"/>
            <a:ext cx="1219200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B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身份编辑</a:t>
            </a:r>
            <a:endParaRPr lang="zh-CN" altLang="en-US" sz="1600">
              <a:solidFill>
                <a:srgbClr val="FB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403108" y="3705249"/>
            <a:ext cx="1547826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DFAFA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异常</a:t>
            </a:r>
            <a:r>
              <a:rPr lang="en-US" sz="1600">
                <a:solidFill>
                  <a:srgbClr val="FDFAFA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报警</a:t>
            </a:r>
            <a:endParaRPr lang="en-US" sz="1600">
              <a:solidFill>
                <a:srgbClr val="FDFAFA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9403108" y="4524774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9F7F7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扩展接口</a:t>
            </a:r>
            <a:endParaRPr lang="en-US" sz="1600">
              <a:solidFill>
                <a:srgbClr val="F9F7F7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8" name="AutoShape 48"/>
          <p:cNvSpPr/>
          <p:nvPr/>
        </p:nvSpPr>
        <p:spPr>
          <a:xfrm>
            <a:off x="369164" y="6014280"/>
            <a:ext cx="11459847" cy="503999"/>
          </a:xfrm>
          <a:prstGeom prst="roundRect">
            <a:avLst>
              <a:gd name="adj" fmla="val 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49" name="TextBox 49"/>
          <p:cNvSpPr txBox="1"/>
          <p:nvPr/>
        </p:nvSpPr>
        <p:spPr>
          <a:xfrm>
            <a:off x="818363" y="6010095"/>
            <a:ext cx="10565130" cy="4724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600">
                <a:solidFill>
                  <a:srgbClr val="FFFDFD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下一代产品将增加3D人脸识别和指静脉双模生物识别技术</a:t>
            </a:r>
            <a:endParaRPr lang="en-US" sz="1600">
              <a:solidFill>
                <a:srgbClr val="FFFDFD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7792244" y="3096230"/>
            <a:ext cx="1325880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BFAFA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安全组件</a:t>
            </a:r>
            <a:endParaRPr lang="en-US" sz="1800">
              <a:solidFill>
                <a:srgbClr val="FBFAFA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硬件架构与组件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custDataLst>
              <p:tags r:id="rId2"/>
            </p:custDataLst>
          </p:nvPr>
        </p:nvSpPr>
        <p:spPr>
          <a:xfrm>
            <a:off x="1297192" y="1308287"/>
            <a:ext cx="4348638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多层级权限管理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>
            <p:custDataLst>
              <p:tags r:id="rId3"/>
            </p:custDataLst>
          </p:nvPr>
        </p:nvSpPr>
        <p:spPr>
          <a:xfrm>
            <a:off x="6865764" y="1308287"/>
            <a:ext cx="4493572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异常</a:t>
            </a: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冻结</a:t>
            </a:r>
            <a:endParaRPr lang="zh-CN" alt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>
            <p:custDataLst>
              <p:tags r:id="rId4"/>
            </p:custDataLst>
          </p:nvPr>
        </p:nvSpPr>
        <p:spPr>
          <a:xfrm>
            <a:off x="6865764" y="4000377"/>
            <a:ext cx="4493572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指纹解锁</a:t>
            </a: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集成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5"/>
            </p:custDataLst>
          </p:nvPr>
        </p:nvSpPr>
        <p:spPr>
          <a:xfrm>
            <a:off x="1297192" y="4762018"/>
            <a:ext cx="4414526" cy="62484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OTA远程升级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6"/>
            </p:custDataLst>
          </p:nvPr>
        </p:nvSpPr>
        <p:spPr>
          <a:xfrm>
            <a:off x="1297192" y="3025846"/>
            <a:ext cx="4348638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实时日志记录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7" name="Group 7"/>
          <p:cNvGrpSpPr/>
          <p:nvPr>
            <p:custDataLst>
              <p:tags r:id="rId7"/>
            </p:custDataLst>
          </p:nvPr>
        </p:nvGrpSpPr>
        <p:grpSpPr>
          <a:xfrm rot="0">
            <a:off x="839115" y="1512589"/>
            <a:ext cx="197186" cy="5357334"/>
            <a:chOff x="839115" y="1512589"/>
            <a:chExt cx="197186" cy="5357334"/>
          </a:xfrm>
        </p:grpSpPr>
        <p:sp>
          <p:nvSpPr>
            <p:cNvPr id="8" name="AutoShape 8"/>
            <p:cNvSpPr/>
            <p:nvPr>
              <p:custDataLst>
                <p:tags r:id="rId8"/>
              </p:custDataLst>
            </p:nvPr>
          </p:nvSpPr>
          <p:spPr>
            <a:xfrm>
              <a:off x="839115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9" name="AutoShape 9"/>
            <p:cNvSpPr/>
            <p:nvPr>
              <p:custDataLst>
                <p:tags r:id="rId9"/>
              </p:custDataLst>
            </p:nvPr>
          </p:nvSpPr>
          <p:spPr>
            <a:xfrm>
              <a:off x="839115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0" name="AutoShape 10"/>
            <p:cNvSpPr/>
            <p:nvPr>
              <p:custDataLst>
                <p:tags r:id="rId10"/>
              </p:custDataLst>
            </p:nvPr>
          </p:nvSpPr>
          <p:spPr>
            <a:xfrm>
              <a:off x="839115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cxnSp>
          <p:nvCxnSpPr>
            <p:cNvPr id="11" name="Connector 11"/>
            <p:cNvCxnSpPr/>
            <p:nvPr>
              <p:custDataLst>
                <p:tags r:id="rId11"/>
              </p:custDataLst>
            </p:nvPr>
          </p:nvCxnSpPr>
          <p:spPr>
            <a:xfrm>
              <a:off x="937708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" name="TextBox 1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软件系统设计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2"/>
            </p:custDataLst>
          </p:nvPr>
        </p:nvSpPr>
        <p:spPr>
          <a:xfrm>
            <a:off x="6455568" y="1512589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6455568" y="4241491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15" name="Connector 15"/>
          <p:cNvCxnSpPr/>
          <p:nvPr>
            <p:custDataLst>
              <p:tags r:id="rId14"/>
            </p:custDataLst>
          </p:nvPr>
        </p:nvCxnSpPr>
        <p:spPr>
          <a:xfrm>
            <a:off x="6554162" y="1670999"/>
            <a:ext cx="0" cy="5208748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TextBox 16"/>
          <p:cNvSpPr txBox="1"/>
          <p:nvPr>
            <p:custDataLst>
              <p:tags r:id="rId15"/>
            </p:custDataLst>
          </p:nvPr>
        </p:nvSpPr>
        <p:spPr>
          <a:xfrm>
            <a:off x="1297192" y="1804349"/>
            <a:ext cx="4486656" cy="1203960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支持管理员及临时用户权限分配，可通过APP动态调整开锁权限与使用时限。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1297192" y="3543470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自动记录每次开锁事件（包括时间、方式及用户身份），并加密存储至云端，支持历史数据查询与导出。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8"/>
          <p:cNvSpPr txBox="1"/>
          <p:nvPr>
            <p:custDataLst>
              <p:tags r:id="rId17"/>
            </p:custDataLst>
          </p:nvPr>
        </p:nvSpPr>
        <p:spPr>
          <a:xfrm>
            <a:off x="1297192" y="5282464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采用差分升级技术，确保固件更新快速安全，支持漏洞修复与功能迭代，无需人工干预。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TextBox 19"/>
          <p:cNvSpPr txBox="1"/>
          <p:nvPr>
            <p:custDataLst>
              <p:tags r:id="rId18"/>
            </p:custDataLst>
          </p:nvPr>
        </p:nvSpPr>
        <p:spPr>
          <a:xfrm>
            <a:off x="6865764" y="1804349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在一定的次数内，如果某种方式连续输入错误，则此种方式会被冻结，并通知</a:t>
            </a:r>
            <a:r>
              <a:rPr lang="en-US" altLang="zh-CN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APP</a:t>
            </a: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TextBox 20"/>
          <p:cNvSpPr txBox="1"/>
          <p:nvPr>
            <p:custDataLst>
              <p:tags r:id="rId19"/>
            </p:custDataLst>
          </p:nvPr>
        </p:nvSpPr>
        <p:spPr>
          <a:xfrm>
            <a:off x="6865764" y="4518000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含有指纹注册和指纹解锁功能，对于记忆力衰退的人群</a:t>
            </a: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友好</a:t>
            </a:r>
            <a:endParaRPr lang="zh-CN" alt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6" descr="360ebb1bcd9d8c049e3b814fd3bcd9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000" cy="6856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数据安全与加密技术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1" name="图片 5" descr="b4f7cb8f181259b1d2adab12f04de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24000"/>
            <a:ext cx="4222750" cy="4001135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1752600" y="5562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网络拓补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876800" y="1524000"/>
            <a:ext cx="6324600" cy="40005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" descr="ea8885bfccf90a3facabd2e9d3931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19250"/>
            <a:ext cx="5520055" cy="377825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7162800" y="5638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系统</a:t>
            </a:r>
            <a:r>
              <a:rPr lang="zh-CN" altLang="en-US"/>
              <a:t>数据流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55860" y="1315917"/>
            <a:ext cx="4873570" cy="4873568"/>
          </a:xfrm>
          <a:prstGeom prst="donut">
            <a:avLst>
              <a:gd name="adj" fmla="val 15226"/>
            </a:avLst>
          </a:prstGeom>
          <a:gradFill>
            <a:gsLst>
              <a:gs pos="0">
                <a:schemeClr val="accent3">
                  <a:alpha val="0"/>
                </a:schemeClr>
              </a:gs>
              <a:gs pos="76000">
                <a:schemeClr val="accent3">
                  <a:alpha val="100000"/>
                </a:schemeClr>
              </a:gs>
            </a:gsLst>
            <a:lin ang="13500000"/>
          </a:gradFill>
        </p:spPr>
      </p:sp>
      <p:sp>
        <p:nvSpPr>
          <p:cNvPr id="3" name="AutoShape 3"/>
          <p:cNvSpPr/>
          <p:nvPr/>
        </p:nvSpPr>
        <p:spPr>
          <a:xfrm>
            <a:off x="5112039" y="2763758"/>
            <a:ext cx="1977974" cy="197797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4804261" y="2455979"/>
            <a:ext cx="2593530" cy="2593530"/>
          </a:xfrm>
          <a:prstGeom prst="ellipse">
            <a:avLst/>
          </a:prstGeom>
          <a:noFill/>
          <a:ln w="12700">
            <a:solidFill>
              <a:schemeClr val="lt1">
                <a:alpha val="100000"/>
              </a:schemeClr>
            </a:solidFill>
            <a:prstDash val="dash"/>
          </a:ln>
        </p:spPr>
      </p:sp>
      <p:sp>
        <p:nvSpPr>
          <p:cNvPr id="5" name="AutoShape 5"/>
          <p:cNvSpPr/>
          <p:nvPr/>
        </p:nvSpPr>
        <p:spPr>
          <a:xfrm>
            <a:off x="3709284" y="1524642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6" name="TextBox 6"/>
          <p:cNvSpPr txBox="1"/>
          <p:nvPr/>
        </p:nvSpPr>
        <p:spPr>
          <a:xfrm>
            <a:off x="5234331" y="3440055"/>
            <a:ext cx="1739800" cy="520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旗舰型号</a:t>
            </a:r>
            <a:endParaRPr lang="en-US" sz="2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840544" y="1968807"/>
            <a:ext cx="963717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安全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266783" y="1524642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9" name="TextBox 9"/>
          <p:cNvSpPr txBox="1"/>
          <p:nvPr/>
        </p:nvSpPr>
        <p:spPr>
          <a:xfrm>
            <a:off x="7396776" y="1958301"/>
            <a:ext cx="954405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互联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266783" y="4753841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1" name="TextBox 11"/>
          <p:cNvSpPr txBox="1"/>
          <p:nvPr/>
        </p:nvSpPr>
        <p:spPr>
          <a:xfrm>
            <a:off x="7397791" y="5197869"/>
            <a:ext cx="952375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可靠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709284" y="4734007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3" name="TextBox 13"/>
          <p:cNvSpPr txBox="1"/>
          <p:nvPr/>
        </p:nvSpPr>
        <p:spPr>
          <a:xfrm>
            <a:off x="3840544" y="5187500"/>
            <a:ext cx="963717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便捷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309161" y="2328234"/>
            <a:ext cx="1583055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毫米波雷达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309161" y="4889907"/>
            <a:ext cx="1583055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航空合金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6" name="TextBox 16"/>
          <p:cNvSpPr txBox="1"/>
          <p:nvPr/>
        </p:nvSpPr>
        <p:spPr>
          <a:xfrm rot="5400000">
            <a:off x="6673245" y="3564462"/>
            <a:ext cx="1403032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机电一体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7" name="TextBox 17"/>
          <p:cNvSpPr txBox="1"/>
          <p:nvPr/>
        </p:nvSpPr>
        <p:spPr>
          <a:xfrm rot="16200000">
            <a:off x="4071736" y="3582381"/>
            <a:ext cx="1506855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国密芯片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42040" y="3863362"/>
            <a:ext cx="2831672" cy="2519729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9" name="AutoShape 19"/>
          <p:cNvSpPr/>
          <p:nvPr/>
        </p:nvSpPr>
        <p:spPr>
          <a:xfrm>
            <a:off x="342040" y="1151159"/>
            <a:ext cx="2831672" cy="2519729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0" name="TextBox 20"/>
          <p:cNvSpPr txBox="1"/>
          <p:nvPr/>
        </p:nvSpPr>
        <p:spPr>
          <a:xfrm>
            <a:off x="602805" y="1970135"/>
            <a:ext cx="2171700" cy="60007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采用FAR/FRR双指标优化算法，活体检测误识率低于0.001%，防技术开启时间超270分钟</a:t>
            </a:r>
            <a:endParaRPr lang="en-US" sz="11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02805" y="2776959"/>
            <a:ext cx="2171700" cy="60007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通过三级等保认证，具备防电磁屏蔽、防暴力拆解等7重防护机制，安全等级达GB21556标准</a:t>
            </a:r>
            <a:endParaRPr lang="en-US" sz="11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02805" y="4189895"/>
            <a:ext cx="2171700" cy="57658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支持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指纹识别、密码开锁等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，识别速度≤0.3秒，适应-20℃至60℃极端环境</a:t>
            </a:r>
            <a:endParaRPr lang="en-US" sz="11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02805" y="4984972"/>
            <a:ext cx="2171700" cy="60007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配备自适应扭矩电机，开关门噪音＜30分贝，使用寿命超20万次，兼容95%标准门体</a:t>
            </a:r>
            <a:endParaRPr lang="en-US" sz="11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342040" y="1151160"/>
            <a:ext cx="2831672" cy="461348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25" name="TextBox 25"/>
          <p:cNvSpPr txBox="1"/>
          <p:nvPr/>
        </p:nvSpPr>
        <p:spPr>
          <a:xfrm>
            <a:off x="342040" y="1229367"/>
            <a:ext cx="2733675" cy="29527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军工级防护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342040" y="5918641"/>
            <a:ext cx="2831672" cy="465233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27" name="TextBox 27"/>
          <p:cNvSpPr txBox="1"/>
          <p:nvPr/>
        </p:nvSpPr>
        <p:spPr>
          <a:xfrm>
            <a:off x="342040" y="5994222"/>
            <a:ext cx="2737265" cy="29527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无感通行体验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8" name="AutoShape 28"/>
          <p:cNvSpPr/>
          <p:nvPr/>
        </p:nvSpPr>
        <p:spPr>
          <a:xfrm flipH="1">
            <a:off x="8998696" y="3863362"/>
            <a:ext cx="2831672" cy="2519729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 flipH="1">
            <a:off x="8999220" y="1151255"/>
            <a:ext cx="2831465" cy="2225675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0" name="TextBox 30"/>
          <p:cNvSpPr txBox="1"/>
          <p:nvPr/>
        </p:nvSpPr>
        <p:spPr>
          <a:xfrm flipH="1">
            <a:off x="9397956" y="1981883"/>
            <a:ext cx="2171700" cy="57658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支持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R"/>
              </a:rPr>
              <a:t>MQTT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等协议，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接口清晰，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可联动照明、安防等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多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类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电子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设备，实现离家自动布防</a:t>
            </a:r>
            <a:endParaRPr lang="en-US" sz="11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2" name="TextBox 32"/>
          <p:cNvSpPr txBox="1"/>
          <p:nvPr/>
        </p:nvSpPr>
        <p:spPr>
          <a:xfrm flipH="1">
            <a:off x="9397956" y="4724248"/>
            <a:ext cx="2171700" cy="3841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用交流小电压设计，长期接通电源，从源头解决电量不足的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问题</a:t>
            </a:r>
            <a:endParaRPr lang="zh-CN" altLang="en-US" sz="11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4" name="AutoShape 34"/>
          <p:cNvSpPr/>
          <p:nvPr/>
        </p:nvSpPr>
        <p:spPr>
          <a:xfrm flipH="1">
            <a:off x="8998696" y="1151160"/>
            <a:ext cx="2831672" cy="461348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5" name="TextBox 35"/>
          <p:cNvSpPr txBox="1"/>
          <p:nvPr/>
        </p:nvSpPr>
        <p:spPr>
          <a:xfrm flipH="1">
            <a:off x="8998696" y="1229367"/>
            <a:ext cx="2831672" cy="29527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全屋智能中枢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6" name="AutoShape 36"/>
          <p:cNvSpPr/>
          <p:nvPr/>
        </p:nvSpPr>
        <p:spPr>
          <a:xfrm flipH="1">
            <a:off x="8998696" y="5918641"/>
            <a:ext cx="2831672" cy="465233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7" name="TextBox 37"/>
          <p:cNvSpPr txBox="1"/>
          <p:nvPr/>
        </p:nvSpPr>
        <p:spPr>
          <a:xfrm flipH="1">
            <a:off x="8998696" y="6003747"/>
            <a:ext cx="2831672" cy="29527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超长续航保障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38" name="Connector 38"/>
          <p:cNvCxnSpPr/>
          <p:nvPr/>
        </p:nvCxnSpPr>
        <p:spPr>
          <a:xfrm>
            <a:off x="3269974" y="1369227"/>
            <a:ext cx="526774" cy="243281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9" name="Connector 39"/>
          <p:cNvCxnSpPr/>
          <p:nvPr/>
        </p:nvCxnSpPr>
        <p:spPr>
          <a:xfrm flipV="1">
            <a:off x="3269974" y="5944337"/>
            <a:ext cx="526774" cy="243281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40" name="Connector 40"/>
          <p:cNvCxnSpPr/>
          <p:nvPr/>
        </p:nvCxnSpPr>
        <p:spPr>
          <a:xfrm flipH="1">
            <a:off x="8407561" y="1369674"/>
            <a:ext cx="476683" cy="279119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41" name="Connector 41"/>
          <p:cNvCxnSpPr/>
          <p:nvPr/>
        </p:nvCxnSpPr>
        <p:spPr>
          <a:xfrm flipH="1" flipV="1">
            <a:off x="8343585" y="5944552"/>
            <a:ext cx="458003" cy="224839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42" name="TextBox 4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核心功能与技术特点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en-US" sz="762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主要业务流程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92919" y="1471389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3" name="AutoShape 3"/>
          <p:cNvSpPr/>
          <p:nvPr/>
        </p:nvSpPr>
        <p:spPr>
          <a:xfrm>
            <a:off x="642135" y="4823305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4" name="AutoShape 4"/>
          <p:cNvSpPr/>
          <p:nvPr/>
        </p:nvSpPr>
        <p:spPr>
          <a:xfrm>
            <a:off x="642135" y="3187764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5" name="TextBox 5"/>
          <p:cNvSpPr txBox="1"/>
          <p:nvPr/>
        </p:nvSpPr>
        <p:spPr>
          <a:xfrm>
            <a:off x="1477002" y="1805928"/>
            <a:ext cx="4405069" cy="1127581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采用高精度生物识别技术，支持活体检测，确保指纹开锁的安全性和准确性，同时支持多组指纹录入，满足家庭多人使用需求。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77002" y="1456420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指纹识别开锁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7002" y="5176569"/>
            <a:ext cx="4346229" cy="1164308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通过手机蓝牙或NFC功能实现无接触开锁，用户只需靠近门锁即可自动解锁，提升便捷性，同时支持加密传输防止信号劫持。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77002" y="3507078"/>
            <a:ext cx="4346229" cy="1165431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支持临时密码和永久密码两种模式，临时密码可设置有效期和次数限制，适用于访客或家政服务人员，永久密码则为家庭成员日常使用。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36634" y="1534314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36634" y="4891235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6634" y="3247045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42135" y="1455982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3" name="TextBox 1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用户开锁流程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92919" y="3203171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5" name="TextBox 15"/>
          <p:cNvSpPr txBox="1"/>
          <p:nvPr/>
        </p:nvSpPr>
        <p:spPr>
          <a:xfrm>
            <a:off x="7227786" y="1821335"/>
            <a:ext cx="4383960" cy="1112174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在电子功能失效时，可通过物理钥匙紧急开锁，钥匙孔采用隐蔽设计，兼顾安全性与应急需求。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227786" y="3522485"/>
            <a:ext cx="4383960" cy="1150023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随机生成临时密码，自定义密码使用频率与时长，适合于常有人员来访的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家庭</a:t>
            </a:r>
            <a:endParaRPr lang="zh-CN" alt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287418" y="1530671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287418" y="3262453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227786" y="1456420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机械钥匙备用开锁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77002" y="3167475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密码开锁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227786" y="3167475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临时密码</a:t>
            </a: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77002" y="4827386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蓝牙/NFC近场开锁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997796" y="2675719"/>
            <a:ext cx="2236351" cy="2236351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5159263" y="2904531"/>
            <a:ext cx="1854217" cy="1854217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6094045" y="1171975"/>
            <a:ext cx="5287891" cy="5288400"/>
          </a:xfrm>
          <a:prstGeom prst="arc">
            <a:avLst>
              <a:gd name="adj1" fmla="val 18842372"/>
              <a:gd name="adj2" fmla="val 2610861"/>
            </a:avLst>
          </a:prstGeom>
          <a:noFill/>
          <a:ln w="6350">
            <a:solidFill>
              <a:schemeClr val="accent3">
                <a:alpha val="100000"/>
              </a:schemeClr>
            </a:solidFill>
            <a:prstDash val="dash"/>
          </a:ln>
        </p:spPr>
      </p:sp>
      <p:sp>
        <p:nvSpPr>
          <p:cNvPr id="5" name="AutoShape 5"/>
          <p:cNvSpPr/>
          <p:nvPr/>
        </p:nvSpPr>
        <p:spPr>
          <a:xfrm flipH="1">
            <a:off x="850006" y="1171975"/>
            <a:ext cx="5288400" cy="5288400"/>
          </a:xfrm>
          <a:prstGeom prst="arc">
            <a:avLst>
              <a:gd name="adj1" fmla="val 18842372"/>
              <a:gd name="adj2" fmla="val 2610861"/>
            </a:avLst>
          </a:prstGeom>
          <a:noFill/>
          <a:ln w="6350">
            <a:solidFill>
              <a:schemeClr val="accent3">
                <a:alpha val="100000"/>
              </a:schemeClr>
            </a:solidFill>
            <a:prstDash val="dash"/>
          </a:ln>
        </p:spPr>
      </p:sp>
      <p:sp>
        <p:nvSpPr>
          <p:cNvPr id="6" name="AutoShape 6"/>
          <p:cNvSpPr/>
          <p:nvPr/>
        </p:nvSpPr>
        <p:spPr>
          <a:xfrm>
            <a:off x="1746454" y="1538002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7" name="AutoShape 7"/>
          <p:cNvSpPr/>
          <p:nvPr/>
        </p:nvSpPr>
        <p:spPr>
          <a:xfrm rot="5400000">
            <a:off x="1142235" y="1621532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8" name="TextBox 8"/>
          <p:cNvSpPr txBox="1"/>
          <p:nvPr/>
        </p:nvSpPr>
        <p:spPr>
          <a:xfrm flipH="1">
            <a:off x="2497971" y="2044408"/>
            <a:ext cx="2752725" cy="1746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通过生物识别或动态密码确保远程操作安全性。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9" name="TextBox 9"/>
          <p:cNvSpPr txBox="1"/>
          <p:nvPr/>
        </p:nvSpPr>
        <p:spPr>
          <a:xfrm flipH="1">
            <a:off x="2497973" y="1718106"/>
            <a:ext cx="1381125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用户验证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0" name="AutoShape 10"/>
          <p:cNvSpPr/>
          <p:nvPr/>
        </p:nvSpPr>
        <p:spPr>
          <a:xfrm flipH="1">
            <a:off x="6489435" y="1538002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 rot="5400000">
            <a:off x="9868591" y="1621532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2" name="TextBox 12"/>
          <p:cNvSpPr txBox="1"/>
          <p:nvPr/>
        </p:nvSpPr>
        <p:spPr>
          <a:xfrm flipH="1">
            <a:off x="6954024" y="2044408"/>
            <a:ext cx="275272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完整记录所有远程操作事件，包括时间、用户及操作类型等详细信息。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3" name="TextBox 13"/>
          <p:cNvSpPr txBox="1"/>
          <p:nvPr/>
        </p:nvSpPr>
        <p:spPr>
          <a:xfrm flipH="1">
            <a:off x="7013480" y="1718106"/>
            <a:ext cx="2700173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日志记录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24082" y="3226111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 rot="5400000">
            <a:off x="319863" y="3309641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6" name="TextBox 16"/>
          <p:cNvSpPr txBox="1"/>
          <p:nvPr/>
        </p:nvSpPr>
        <p:spPr>
          <a:xfrm flipH="1">
            <a:off x="1675599" y="3732517"/>
            <a:ext cx="2752725" cy="34988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管理员可设置临时密码、时效权限等远程访问策略。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7" name="TextBox 17"/>
          <p:cNvSpPr txBox="1"/>
          <p:nvPr/>
        </p:nvSpPr>
        <p:spPr>
          <a:xfrm flipH="1">
            <a:off x="1675601" y="3406215"/>
            <a:ext cx="1571625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权限管理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8" name="AutoShape 18"/>
          <p:cNvSpPr/>
          <p:nvPr/>
        </p:nvSpPr>
        <p:spPr>
          <a:xfrm flipH="1">
            <a:off x="7326755" y="3226112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9" name="AutoShape 19"/>
          <p:cNvSpPr/>
          <p:nvPr/>
        </p:nvSpPr>
        <p:spPr>
          <a:xfrm rot="5400000">
            <a:off x="10705910" y="3309642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20" name="TextBox 20"/>
          <p:cNvSpPr txBox="1"/>
          <p:nvPr/>
        </p:nvSpPr>
        <p:spPr>
          <a:xfrm flipH="1">
            <a:off x="7694648" y="3732518"/>
            <a:ext cx="284797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通过无线网络远程推送固件更新，持续优化门锁安全性能。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1" name="TextBox 21"/>
          <p:cNvSpPr txBox="1"/>
          <p:nvPr/>
        </p:nvSpPr>
        <p:spPr>
          <a:xfrm flipH="1">
            <a:off x="7778228" y="3406216"/>
            <a:ext cx="2771170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OTA升级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1746454" y="4912071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23" name="AutoShape 23"/>
          <p:cNvSpPr/>
          <p:nvPr/>
        </p:nvSpPr>
        <p:spPr>
          <a:xfrm rot="5400000">
            <a:off x="1142235" y="4995601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24" name="TextBox 24"/>
          <p:cNvSpPr txBox="1"/>
          <p:nvPr/>
        </p:nvSpPr>
        <p:spPr>
          <a:xfrm flipH="1">
            <a:off x="2497971" y="5418477"/>
            <a:ext cx="275272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与智能家居系统联动，实现离家自动上锁或异常报警功能。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5" name="TextBox 25"/>
          <p:cNvSpPr txBox="1"/>
          <p:nvPr/>
        </p:nvSpPr>
        <p:spPr>
          <a:xfrm flipH="1">
            <a:off x="2497973" y="5092175"/>
            <a:ext cx="1381125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设备联动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6" name="AutoShape 26"/>
          <p:cNvSpPr/>
          <p:nvPr/>
        </p:nvSpPr>
        <p:spPr>
          <a:xfrm flipH="1">
            <a:off x="6489435" y="4912071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27" name="AutoShape 27"/>
          <p:cNvSpPr/>
          <p:nvPr/>
        </p:nvSpPr>
        <p:spPr>
          <a:xfrm rot="5400000">
            <a:off x="9868591" y="4995601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28" name="TextBox 28"/>
          <p:cNvSpPr txBox="1"/>
          <p:nvPr/>
        </p:nvSpPr>
        <p:spPr>
          <a:xfrm flipH="1">
            <a:off x="6954024" y="5418477"/>
            <a:ext cx="275272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实时监测门锁状态，遇暴力破解或离线时自动推送告警信息。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9" name="TextBox 29"/>
          <p:cNvSpPr txBox="1"/>
          <p:nvPr/>
        </p:nvSpPr>
        <p:spPr>
          <a:xfrm flipH="1">
            <a:off x="7122336" y="5092175"/>
            <a:ext cx="2589742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异常预警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0" name="TextBox 30"/>
          <p:cNvSpPr txBox="1"/>
          <p:nvPr/>
        </p:nvSpPr>
        <p:spPr>
          <a:xfrm flipH="1">
            <a:off x="4997796" y="1433390"/>
            <a:ext cx="2236351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550">
                <a:solidFill>
                  <a:schemeClr val="accent3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指令传输</a:t>
            </a:r>
            <a:endParaRPr lang="en-US" sz="1550">
              <a:solidFill>
                <a:schemeClr val="accent3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31" name="Connector 31"/>
          <p:cNvCxnSpPr/>
          <p:nvPr/>
        </p:nvCxnSpPr>
        <p:spPr>
          <a:xfrm>
            <a:off x="6094045" y="1781155"/>
            <a:ext cx="0" cy="831982"/>
          </a:xfrm>
          <a:prstGeom prst="line">
            <a:avLst/>
          </a:prstGeom>
          <a:ln w="12700">
            <a:solidFill>
              <a:schemeClr val="accent3"/>
            </a:solidFill>
            <a:prstDash val="solid"/>
            <a:headEnd type="oval"/>
            <a:tailEnd type="none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2" name="Connector 32"/>
          <p:cNvCxnSpPr/>
          <p:nvPr/>
        </p:nvCxnSpPr>
        <p:spPr>
          <a:xfrm flipV="1">
            <a:off x="6094045" y="5074746"/>
            <a:ext cx="0" cy="922484"/>
          </a:xfrm>
          <a:prstGeom prst="line">
            <a:avLst/>
          </a:prstGeom>
          <a:ln w="12700">
            <a:solidFill>
              <a:schemeClr val="accent3"/>
            </a:solidFill>
            <a:prstDash val="solid"/>
            <a:headEnd type="oval"/>
            <a:tailEnd type="none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33" name="TextBox 33"/>
          <p:cNvSpPr txBox="1"/>
          <p:nvPr/>
        </p:nvSpPr>
        <p:spPr>
          <a:xfrm>
            <a:off x="5159263" y="3470045"/>
            <a:ext cx="1963073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100">
                <a:solidFill>
                  <a:srgbClr val="F3F4F2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APP远程管理</a:t>
            </a:r>
            <a:endParaRPr lang="en-US" sz="2100">
              <a:solidFill>
                <a:srgbClr val="F3F4F2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363378" y="3988574"/>
            <a:ext cx="1495425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800">
                <a:solidFill>
                  <a:srgbClr val="FDFBFB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通过手机APP实现远程开锁、授权及状态监控功能。</a:t>
            </a:r>
            <a:endParaRPr lang="en-US" sz="800">
              <a:solidFill>
                <a:srgbClr val="FDFBFB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8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远程控制与管理流程</a:t>
            </a:r>
            <a:endParaRPr lang="en-US" sz="28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1505268" y="1853004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37" name="Freeform 37"/>
          <p:cNvSpPr/>
          <p:nvPr/>
        </p:nvSpPr>
        <p:spPr>
          <a:xfrm>
            <a:off x="707787" y="3561513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38" name="Freeform 38"/>
          <p:cNvSpPr/>
          <p:nvPr/>
        </p:nvSpPr>
        <p:spPr>
          <a:xfrm>
            <a:off x="1530159" y="5285219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39" name="Freeform 39"/>
          <p:cNvSpPr/>
          <p:nvPr/>
        </p:nvSpPr>
        <p:spPr>
          <a:xfrm>
            <a:off x="11096459" y="3561513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40" name="Freeform 40"/>
          <p:cNvSpPr/>
          <p:nvPr/>
        </p:nvSpPr>
        <p:spPr>
          <a:xfrm>
            <a:off x="10231624" y="5285219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41" name="Freeform 41"/>
          <p:cNvSpPr/>
          <p:nvPr/>
        </p:nvSpPr>
        <p:spPr>
          <a:xfrm>
            <a:off x="10259139" y="1911150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42" name="TextBox 42"/>
          <p:cNvSpPr txBox="1"/>
          <p:nvPr/>
        </p:nvSpPr>
        <p:spPr>
          <a:xfrm flipH="1">
            <a:off x="4968196" y="6123130"/>
            <a:ext cx="2238375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550">
                <a:solidFill>
                  <a:schemeClr val="accent3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执行反馈</a:t>
            </a:r>
            <a:endParaRPr lang="en-US" sz="1550">
              <a:solidFill>
                <a:schemeClr val="accent3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报警与异常处理流程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1" name="图片 5"/>
          <p:cNvPicPr>
            <a:picLocks noChangeAspect="1"/>
          </p:cNvPicPr>
          <p:nvPr/>
        </p:nvPicPr>
        <p:blipFill>
          <a:blip r:embed="rId2"/>
          <a:srcRect l="22464" t="6139" r="22434" b="25144"/>
          <a:stretch>
            <a:fillRect/>
          </a:stretch>
        </p:blipFill>
        <p:spPr>
          <a:xfrm>
            <a:off x="762000" y="1179830"/>
            <a:ext cx="1764030" cy="4758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图片 6"/>
          <p:cNvPicPr>
            <a:picLocks noChangeAspect="1"/>
          </p:cNvPicPr>
          <p:nvPr/>
        </p:nvPicPr>
        <p:blipFill>
          <a:blip r:embed="rId3"/>
          <a:srcRect l="4938" t="5099" r="4975" b="21258"/>
          <a:stretch>
            <a:fillRect/>
          </a:stretch>
        </p:blipFill>
        <p:spPr>
          <a:xfrm>
            <a:off x="3331845" y="1181100"/>
            <a:ext cx="5834380" cy="474408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文本框 22"/>
          <p:cNvSpPr txBox="1"/>
          <p:nvPr/>
        </p:nvSpPr>
        <p:spPr>
          <a:xfrm>
            <a:off x="990600" y="6096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注册流程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257800" y="6096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开锁流程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lang="en-US" sz="762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人员结构与</a:t>
            </a:r>
            <a:r>
              <a:rPr lang="zh-CN" alt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分工</a:t>
            </a:r>
            <a:endParaRPr lang="zh-CN" alt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0145" name="AutoShape 2"/>
          <p:cNvSpPr/>
          <p:nvPr/>
        </p:nvSpPr>
        <p:spPr>
          <a:xfrm>
            <a:off x="9498526" y="2676481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44" name="AutoShape 3"/>
          <p:cNvSpPr/>
          <p:nvPr/>
        </p:nvSpPr>
        <p:spPr>
          <a:xfrm>
            <a:off x="7276689" y="2676481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43" name="AutoShape 4"/>
          <p:cNvSpPr/>
          <p:nvPr/>
        </p:nvSpPr>
        <p:spPr>
          <a:xfrm>
            <a:off x="5054853" y="2676482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41" name="AutoShape 5"/>
          <p:cNvSpPr/>
          <p:nvPr/>
        </p:nvSpPr>
        <p:spPr>
          <a:xfrm>
            <a:off x="611179" y="2676482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</p:sp>
      <p:sp>
        <p:nvSpPr>
          <p:cNvPr id="14400142" name="AutoShape 6"/>
          <p:cNvSpPr/>
          <p:nvPr/>
        </p:nvSpPr>
        <p:spPr>
          <a:xfrm>
            <a:off x="2833017" y="2676481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1" name="Freeform 7"/>
          <p:cNvSpPr/>
          <p:nvPr/>
        </p:nvSpPr>
        <p:spPr>
          <a:xfrm>
            <a:off x="725406" y="3063455"/>
            <a:ext cx="9804481" cy="2853309"/>
          </a:xfrm>
          <a:custGeom>
            <a:avLst/>
            <a:gdLst/>
            <a:ahLst/>
            <a:cxnLst/>
            <a:rect l="l" t="t" r="r" b="b"/>
            <a:pathLst>
              <a:path w="9807511" h="2853309">
                <a:moveTo>
                  <a:pt x="0" y="2853309"/>
                </a:moveTo>
                <a:cubicBezTo>
                  <a:pt x="1187958" y="2840355"/>
                  <a:pt x="2375916" y="2827401"/>
                  <a:pt x="3538728" y="2524125"/>
                </a:cubicBezTo>
                <a:cubicBezTo>
                  <a:pt x="4701540" y="2220849"/>
                  <a:pt x="6089904" y="1408557"/>
                  <a:pt x="6976872" y="1033653"/>
                </a:cubicBezTo>
                <a:cubicBezTo>
                  <a:pt x="7863840" y="658749"/>
                  <a:pt x="8391144" y="445389"/>
                  <a:pt x="8860536" y="274701"/>
                </a:cubicBezTo>
                <a:cubicBezTo>
                  <a:pt x="9329928" y="104013"/>
                  <a:pt x="9566338" y="56769"/>
                  <a:pt x="9807511" y="0"/>
                </a:cubicBezTo>
              </a:path>
            </a:pathLst>
          </a:custGeom>
          <a:noFill/>
          <a:ln w="38100">
            <a:solidFill>
              <a:schemeClr val="accent1">
                <a:alpha val="100000"/>
              </a:schemeClr>
            </a:solidFill>
            <a:prstDash val="solid"/>
          </a:ln>
          <a:effectLst>
            <a:outerShdw blurRad="50800" dist="127000" dir="5400000">
              <a:schemeClr val="accent1">
                <a:alpha val="15000"/>
              </a:schemeClr>
            </a:outerShdw>
          </a:effectLst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14400133" name="AutoShape 8"/>
          <p:cNvSpPr/>
          <p:nvPr/>
        </p:nvSpPr>
        <p:spPr>
          <a:xfrm>
            <a:off x="10491501" y="6434138"/>
            <a:ext cx="108014" cy="10801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34" name="TextBox 9"/>
          <p:cNvSpPr txBox="1"/>
          <p:nvPr/>
        </p:nvSpPr>
        <p:spPr>
          <a:xfrm>
            <a:off x="10615517" y="6383845"/>
            <a:ext cx="546925" cy="20850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款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36" name="AutoShape 10"/>
          <p:cNvSpPr/>
          <p:nvPr/>
        </p:nvSpPr>
        <p:spPr>
          <a:xfrm>
            <a:off x="11162443" y="6434138"/>
            <a:ext cx="108014" cy="10801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37" name="TextBox 11"/>
          <p:cNvSpPr txBox="1"/>
          <p:nvPr/>
        </p:nvSpPr>
        <p:spPr>
          <a:xfrm>
            <a:off x="11330274" y="6383845"/>
            <a:ext cx="546925" cy="20850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例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46" name="AutoShape 12"/>
          <p:cNvSpPr/>
          <p:nvPr/>
        </p:nvSpPr>
        <p:spPr>
          <a:xfrm>
            <a:off x="611180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47" name="AutoShape 13"/>
          <p:cNvSpPr/>
          <p:nvPr/>
        </p:nvSpPr>
        <p:spPr>
          <a:xfrm>
            <a:off x="2833016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48" name="AutoShape 14"/>
          <p:cNvSpPr/>
          <p:nvPr/>
        </p:nvSpPr>
        <p:spPr>
          <a:xfrm>
            <a:off x="5054852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49" name="AutoShape 15"/>
          <p:cNvSpPr/>
          <p:nvPr/>
        </p:nvSpPr>
        <p:spPr>
          <a:xfrm>
            <a:off x="7276688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50" name="AutoShape 16"/>
          <p:cNvSpPr/>
          <p:nvPr/>
        </p:nvSpPr>
        <p:spPr>
          <a:xfrm>
            <a:off x="9498524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51" name="TextBox 17"/>
          <p:cNvSpPr txBox="1"/>
          <p:nvPr/>
        </p:nvSpPr>
        <p:spPr>
          <a:xfrm>
            <a:off x="611180" y="2346374"/>
            <a:ext cx="2085975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需求</a:t>
            </a: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分析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OPPOSans B"/>
              <a:ea typeface="OPPOSans B"/>
              <a:cs typeface="OPPOSans B"/>
            </a:endParaRPr>
          </a:p>
        </p:txBody>
      </p:sp>
      <p:sp>
        <p:nvSpPr>
          <p:cNvPr id="14400152" name="TextBox 18"/>
          <p:cNvSpPr txBox="1"/>
          <p:nvPr/>
        </p:nvSpPr>
        <p:spPr>
          <a:xfrm>
            <a:off x="2833017" y="2346374"/>
            <a:ext cx="208229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需求</a:t>
            </a: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设计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OPPOSans B"/>
              <a:ea typeface="OPPOSans B"/>
              <a:cs typeface="OPPOSans B"/>
            </a:endParaRPr>
          </a:p>
        </p:txBody>
      </p:sp>
      <p:sp>
        <p:nvSpPr>
          <p:cNvPr id="14400153" name="TextBox 19"/>
          <p:cNvSpPr txBox="1"/>
          <p:nvPr/>
        </p:nvSpPr>
        <p:spPr>
          <a:xfrm>
            <a:off x="5054853" y="2346374"/>
            <a:ext cx="208229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Times New Roman" panose="02020603050405020304" charset="0"/>
                <a:ea typeface="OPPOSans B"/>
                <a:cs typeface="Times New Roman" panose="02020603050405020304" charset="0"/>
              </a:rPr>
              <a:t>Story</a:t>
            </a: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Times New Roman" panose="02020603050405020304" charset="0"/>
                <a:ea typeface="OPPOSans B"/>
                <a:cs typeface="Times New Roman" panose="02020603050405020304" charset="0"/>
              </a:rPr>
              <a:t>拆分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Times New Roman" panose="02020603050405020304" charset="0"/>
              <a:ea typeface="OPPOSans B"/>
              <a:cs typeface="Times New Roman" panose="02020603050405020304" charset="0"/>
            </a:endParaRPr>
          </a:p>
        </p:txBody>
      </p:sp>
      <p:sp>
        <p:nvSpPr>
          <p:cNvPr id="14400154" name="TextBox 20"/>
          <p:cNvSpPr txBox="1"/>
          <p:nvPr/>
        </p:nvSpPr>
        <p:spPr>
          <a:xfrm>
            <a:off x="7276689" y="2346374"/>
            <a:ext cx="208229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开发结束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OPPOSans B"/>
              <a:ea typeface="OPPOSans B"/>
              <a:cs typeface="OPPOSans B"/>
            </a:endParaRPr>
          </a:p>
        </p:txBody>
      </p:sp>
      <p:sp>
        <p:nvSpPr>
          <p:cNvPr id="14400156" name="TextBox 21"/>
          <p:cNvSpPr txBox="1"/>
          <p:nvPr/>
        </p:nvSpPr>
        <p:spPr>
          <a:xfrm>
            <a:off x="9498526" y="2346374"/>
            <a:ext cx="208545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SIT</a:t>
            </a: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测试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OPPOSans B"/>
              <a:ea typeface="OPPOSans B"/>
              <a:cs typeface="OPPOSans B"/>
            </a:endParaRPr>
          </a:p>
        </p:txBody>
      </p:sp>
      <p:cxnSp>
        <p:nvCxnSpPr>
          <p:cNvPr id="22" name="Connector 22"/>
          <p:cNvCxnSpPr/>
          <p:nvPr/>
        </p:nvCxnSpPr>
        <p:spPr>
          <a:xfrm>
            <a:off x="611179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400157" name="AutoShape 23"/>
          <p:cNvSpPr/>
          <p:nvPr/>
        </p:nvSpPr>
        <p:spPr>
          <a:xfrm>
            <a:off x="1071142" y="5627672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58" name="TextBox 24"/>
          <p:cNvSpPr txBox="1"/>
          <p:nvPr/>
        </p:nvSpPr>
        <p:spPr>
          <a:xfrm>
            <a:off x="1233142" y="556006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X1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59" name="AutoShape 25"/>
          <p:cNvSpPr/>
          <p:nvPr/>
        </p:nvSpPr>
        <p:spPr>
          <a:xfrm>
            <a:off x="1881448" y="5455192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60" name="TextBox 26"/>
          <p:cNvSpPr txBox="1"/>
          <p:nvPr/>
        </p:nvSpPr>
        <p:spPr>
          <a:xfrm>
            <a:off x="2043448" y="538758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X2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1" name="AutoShape 27"/>
          <p:cNvSpPr/>
          <p:nvPr/>
        </p:nvSpPr>
        <p:spPr>
          <a:xfrm>
            <a:off x="3050158" y="5455192"/>
            <a:ext cx="108000" cy="10800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62" name="TextBox 28"/>
          <p:cNvSpPr txBox="1"/>
          <p:nvPr/>
        </p:nvSpPr>
        <p:spPr>
          <a:xfrm>
            <a:off x="3212158" y="538758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A酒店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3" name="AutoShape 29"/>
          <p:cNvSpPr/>
          <p:nvPr/>
        </p:nvSpPr>
        <p:spPr>
          <a:xfrm>
            <a:off x="4000370" y="5803244"/>
            <a:ext cx="108000" cy="10800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64" name="TextBox 30"/>
          <p:cNvSpPr txBox="1"/>
          <p:nvPr/>
        </p:nvSpPr>
        <p:spPr>
          <a:xfrm>
            <a:off x="4162370" y="5735640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B公寓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5" name="TextBox 31"/>
          <p:cNvSpPr txBox="1"/>
          <p:nvPr/>
        </p:nvSpPr>
        <p:spPr>
          <a:xfrm>
            <a:off x="725406" y="3347804"/>
            <a:ext cx="1857375" cy="44196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分析系统需要实现的功能、实现的位置等一系列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6" name="TextBox 32"/>
          <p:cNvSpPr txBox="1"/>
          <p:nvPr/>
        </p:nvSpPr>
        <p:spPr>
          <a:xfrm>
            <a:off x="5169079" y="3347804"/>
            <a:ext cx="1857375" cy="44196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将需求设计拆分成若干</a:t>
            </a:r>
            <a:r>
              <a:rPr lang="en-US" altLang="zh-CN" sz="12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story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</a:rPr>
              <a:t>，方便开发分工，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</a:rPr>
              <a:t>并行开发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宋体" panose="02010600030101010101" pitchFamily="2" charset="-122"/>
              <a:cs typeface="OPPOSans R"/>
            </a:endParaRPr>
          </a:p>
        </p:txBody>
      </p:sp>
      <p:sp>
        <p:nvSpPr>
          <p:cNvPr id="14400167" name="TextBox 33"/>
          <p:cNvSpPr txBox="1"/>
          <p:nvPr/>
        </p:nvSpPr>
        <p:spPr>
          <a:xfrm>
            <a:off x="9612752" y="4707023"/>
            <a:ext cx="1857375" cy="2209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测试系统的真实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使用效果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8" name="TextBox 34"/>
          <p:cNvSpPr txBox="1"/>
          <p:nvPr/>
        </p:nvSpPr>
        <p:spPr>
          <a:xfrm>
            <a:off x="2947243" y="3347576"/>
            <a:ext cx="1857375" cy="663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进行市场调研、数据分析、确定使用场景、开始设计需求以及系统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架构等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9" name="TextBox 35"/>
          <p:cNvSpPr txBox="1"/>
          <p:nvPr/>
        </p:nvSpPr>
        <p:spPr>
          <a:xfrm>
            <a:off x="7390915" y="4707023"/>
            <a:ext cx="1857375" cy="2209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软硬件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基本成型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72" name="AutoShape 36"/>
          <p:cNvSpPr/>
          <p:nvPr/>
        </p:nvSpPr>
        <p:spPr>
          <a:xfrm>
            <a:off x="6384032" y="4636586"/>
            <a:ext cx="108000" cy="10800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3" name="TextBox 37"/>
          <p:cNvSpPr txBox="1"/>
          <p:nvPr/>
        </p:nvSpPr>
        <p:spPr>
          <a:xfrm>
            <a:off x="6546032" y="4568982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C社区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74" name="AutoShape 38"/>
          <p:cNvSpPr/>
          <p:nvPr/>
        </p:nvSpPr>
        <p:spPr>
          <a:xfrm>
            <a:off x="5166033" y="5212472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5" name="TextBox 39"/>
          <p:cNvSpPr txBox="1"/>
          <p:nvPr/>
        </p:nvSpPr>
        <p:spPr>
          <a:xfrm>
            <a:off x="5328033" y="514486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X3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76" name="AutoShape 40"/>
          <p:cNvSpPr/>
          <p:nvPr/>
        </p:nvSpPr>
        <p:spPr>
          <a:xfrm>
            <a:off x="5786172" y="4939285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8" name="TextBox 41"/>
          <p:cNvSpPr txBox="1"/>
          <p:nvPr/>
        </p:nvSpPr>
        <p:spPr>
          <a:xfrm>
            <a:off x="5948172" y="4871681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X5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cxnSp>
        <p:nvCxnSpPr>
          <p:cNvPr id="42" name="Connector 42"/>
          <p:cNvCxnSpPr/>
          <p:nvPr/>
        </p:nvCxnSpPr>
        <p:spPr>
          <a:xfrm>
            <a:off x="2833017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Connector 43"/>
          <p:cNvCxnSpPr/>
          <p:nvPr/>
        </p:nvCxnSpPr>
        <p:spPr>
          <a:xfrm>
            <a:off x="5057841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Connector 44"/>
          <p:cNvCxnSpPr/>
          <p:nvPr/>
        </p:nvCxnSpPr>
        <p:spPr>
          <a:xfrm>
            <a:off x="7281172" y="6240877"/>
            <a:ext cx="2080800" cy="0"/>
          </a:xfrm>
          <a:prstGeom prst="line">
            <a:avLst/>
          </a:prstGeom>
          <a:ln w="15875">
            <a:solidFill>
              <a:schemeClr val="accent2"/>
            </a:solidFill>
            <a:prstDash val="solid"/>
            <a:headEnd type="none"/>
            <a:tailEnd type="none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5" name="Connector 45"/>
          <p:cNvCxnSpPr/>
          <p:nvPr/>
        </p:nvCxnSpPr>
        <p:spPr>
          <a:xfrm>
            <a:off x="9504503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400170" name="Freeform 46"/>
          <p:cNvSpPr/>
          <p:nvPr/>
        </p:nvSpPr>
        <p:spPr>
          <a:xfrm rot="4592817">
            <a:off x="10385839" y="2872857"/>
            <a:ext cx="271796" cy="381196"/>
          </a:xfrm>
          <a:custGeom>
            <a:avLst/>
            <a:gdLst/>
            <a:ahLst/>
            <a:cxnLst/>
            <a:rect l="l" t="t" r="r" b="b"/>
            <a:pathLst>
              <a:path w="5812" h="8163">
                <a:moveTo>
                  <a:pt x="5809" y="6108"/>
                </a:moveTo>
                <a:cubicBezTo>
                  <a:pt x="5733" y="5070"/>
                  <a:pt x="5240" y="4412"/>
                  <a:pt x="4840" y="4042"/>
                </a:cubicBezTo>
                <a:cubicBezTo>
                  <a:pt x="4793" y="3999"/>
                  <a:pt x="4748" y="3959"/>
                  <a:pt x="4702" y="3922"/>
                </a:cubicBezTo>
                <a:cubicBezTo>
                  <a:pt x="4702" y="2430"/>
                  <a:pt x="4227" y="1449"/>
                  <a:pt x="3828" y="888"/>
                </a:cubicBezTo>
                <a:cubicBezTo>
                  <a:pt x="3393" y="277"/>
                  <a:pt x="2962" y="24"/>
                  <a:pt x="2944" y="13"/>
                </a:cubicBezTo>
                <a:cubicBezTo>
                  <a:pt x="2920" y="0"/>
                  <a:pt x="2892" y="0"/>
                  <a:pt x="2868" y="13"/>
                </a:cubicBezTo>
                <a:cubicBezTo>
                  <a:pt x="2850" y="24"/>
                  <a:pt x="2419" y="277"/>
                  <a:pt x="1984" y="888"/>
                </a:cubicBezTo>
                <a:cubicBezTo>
                  <a:pt x="1585" y="1449"/>
                  <a:pt x="1110" y="2430"/>
                  <a:pt x="1110" y="3922"/>
                </a:cubicBezTo>
                <a:cubicBezTo>
                  <a:pt x="1064" y="3959"/>
                  <a:pt x="1019" y="3999"/>
                  <a:pt x="972" y="4042"/>
                </a:cubicBezTo>
                <a:cubicBezTo>
                  <a:pt x="572" y="4412"/>
                  <a:pt x="79" y="5070"/>
                  <a:pt x="3" y="6108"/>
                </a:cubicBezTo>
                <a:cubicBezTo>
                  <a:pt x="0" y="6142"/>
                  <a:pt x="12" y="6176"/>
                  <a:pt x="35" y="6200"/>
                </a:cubicBezTo>
                <a:cubicBezTo>
                  <a:pt x="58" y="6225"/>
                  <a:pt x="90" y="6239"/>
                  <a:pt x="124" y="6239"/>
                </a:cubicBezTo>
                <a:lnTo>
                  <a:pt x="1659" y="6239"/>
                </a:lnTo>
                <a:cubicBezTo>
                  <a:pt x="1747" y="6406"/>
                  <a:pt x="1837" y="6540"/>
                  <a:pt x="1926" y="6630"/>
                </a:cubicBezTo>
                <a:cubicBezTo>
                  <a:pt x="1940" y="6644"/>
                  <a:pt x="1959" y="6652"/>
                  <a:pt x="1980" y="6652"/>
                </a:cubicBezTo>
                <a:lnTo>
                  <a:pt x="2017" y="6652"/>
                </a:lnTo>
                <a:cubicBezTo>
                  <a:pt x="2073" y="7455"/>
                  <a:pt x="2714" y="8071"/>
                  <a:pt x="2743" y="8098"/>
                </a:cubicBezTo>
                <a:cubicBezTo>
                  <a:pt x="2788" y="8141"/>
                  <a:pt x="2847" y="8163"/>
                  <a:pt x="2906" y="8163"/>
                </a:cubicBezTo>
                <a:cubicBezTo>
                  <a:pt x="2965" y="8163"/>
                  <a:pt x="3024" y="8141"/>
                  <a:pt x="3069" y="8098"/>
                </a:cubicBezTo>
                <a:cubicBezTo>
                  <a:pt x="3098" y="8071"/>
                  <a:pt x="3738" y="7455"/>
                  <a:pt x="3795" y="6652"/>
                </a:cubicBezTo>
                <a:lnTo>
                  <a:pt x="3832" y="6652"/>
                </a:lnTo>
                <a:cubicBezTo>
                  <a:pt x="3853" y="6652"/>
                  <a:pt x="3872" y="6644"/>
                  <a:pt x="3886" y="6630"/>
                </a:cubicBezTo>
                <a:cubicBezTo>
                  <a:pt x="3975" y="6540"/>
                  <a:pt x="4065" y="6406"/>
                  <a:pt x="4153" y="6239"/>
                </a:cubicBezTo>
                <a:lnTo>
                  <a:pt x="5688" y="6239"/>
                </a:lnTo>
                <a:cubicBezTo>
                  <a:pt x="5721" y="6239"/>
                  <a:pt x="5754" y="6225"/>
                  <a:pt x="5777" y="6200"/>
                </a:cubicBezTo>
                <a:cubicBezTo>
                  <a:pt x="5800" y="6176"/>
                  <a:pt x="5812" y="6142"/>
                  <a:pt x="5809" y="6108"/>
                </a:cubicBezTo>
                <a:close/>
              </a:path>
              <a:path w="5812" h="8163">
                <a:moveTo>
                  <a:pt x="2906" y="2094"/>
                </a:moveTo>
                <a:cubicBezTo>
                  <a:pt x="3276" y="2094"/>
                  <a:pt x="3576" y="2394"/>
                  <a:pt x="3576" y="2764"/>
                </a:cubicBezTo>
                <a:cubicBezTo>
                  <a:pt x="3576" y="3134"/>
                  <a:pt x="3276" y="3434"/>
                  <a:pt x="2906" y="3434"/>
                </a:cubicBezTo>
                <a:cubicBezTo>
                  <a:pt x="2536" y="3434"/>
                  <a:pt x="2236" y="3134"/>
                  <a:pt x="2236" y="2764"/>
                </a:cubicBezTo>
                <a:cubicBezTo>
                  <a:pt x="2236" y="2394"/>
                  <a:pt x="2536" y="2094"/>
                  <a:pt x="2906" y="2094"/>
                </a:cubicBezTo>
                <a:close/>
              </a:path>
              <a:path w="5812" h="8163">
                <a:moveTo>
                  <a:pt x="2906" y="7567"/>
                </a:moveTo>
                <a:cubicBezTo>
                  <a:pt x="2749" y="7369"/>
                  <a:pt x="2531" y="7032"/>
                  <a:pt x="2494" y="6652"/>
                </a:cubicBezTo>
                <a:lnTo>
                  <a:pt x="3318" y="6652"/>
                </a:lnTo>
                <a:cubicBezTo>
                  <a:pt x="3281" y="7032"/>
                  <a:pt x="3063" y="7369"/>
                  <a:pt x="2906" y="7567"/>
                </a:cubicBezTo>
              </a:path>
            </a:pathLst>
          </a:custGeom>
          <a:solidFill>
            <a:schemeClr val="accent2">
              <a:alpha val="10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研发阶段关键节点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测试与优化过程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948466" y="1833388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环境适应性测试</a:t>
            </a:r>
            <a:endParaRPr 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948466" y="2297252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模拟高温、低温、高湿等极端环境，验证锁体机械结构及电子元器件的可靠性，优化密封性与防腐蚀设计。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164262" y="1833388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安全性压力测试</a:t>
            </a:r>
            <a:endParaRPr 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164262" y="2297252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针对指纹识别模块进行万次重复测试，降低误识别率至0.001%以下，并增强防电磁干扰能力。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75287" y="4158866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用户体验优化</a:t>
            </a:r>
            <a:endParaRPr 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75287" y="4622729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通过焦点小组反馈调整APP界面布局，简化配对流程，增加语音提示功能以提升老年用户友好度。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416600" y="4158866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功耗优化</a:t>
            </a:r>
            <a:endParaRPr 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416600" y="4622729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改进低功耗算法，使电池续航时间延长至12个月以上，同时支持紧急供电接口设计。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337121" y="4158866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兼容性测试</a:t>
            </a:r>
            <a:endParaRPr 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337121" y="4622729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验证与主流智能家居平台（如HomeKit、米家）的互联互通，确保协议适配无冲突。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>
            <a:off x="1350931" y="3854101"/>
            <a:ext cx="2377916" cy="1756791"/>
          </a:xfrm>
          <a:custGeom>
            <a:avLst/>
            <a:gdLst/>
            <a:ahLst/>
            <a:cxnLst/>
            <a:rect l="l" t="t" r="r" b="b"/>
            <a:pathLst>
              <a:path w="2117988" h="1564812">
                <a:moveTo>
                  <a:pt x="1058994" y="1564812"/>
                </a:moveTo>
                <a:lnTo>
                  <a:pt x="532623" y="787025"/>
                </a:lnTo>
                <a:lnTo>
                  <a:pt x="532623" y="787025"/>
                </a:lnTo>
                <a:lnTo>
                  <a:pt x="0" y="0"/>
                </a:lnTo>
                <a:lnTo>
                  <a:pt x="2117988" y="0"/>
                </a:lnTo>
                <a:lnTo>
                  <a:pt x="1585365" y="787025"/>
                </a:lnTo>
                <a:lnTo>
                  <a:pt x="1585365" y="787025"/>
                </a:ln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3" name="Freeform 3"/>
          <p:cNvSpPr/>
          <p:nvPr/>
        </p:nvSpPr>
        <p:spPr>
          <a:xfrm>
            <a:off x="1350931" y="2075402"/>
            <a:ext cx="2377916" cy="883634"/>
          </a:xfrm>
          <a:custGeom>
            <a:avLst/>
            <a:gdLst/>
            <a:ahLst/>
            <a:cxnLst/>
            <a:rect l="l" t="t" r="r" b="b"/>
            <a:pathLst>
              <a:path w="2895946" h="1485783">
                <a:moveTo>
                  <a:pt x="0" y="0"/>
                </a:moveTo>
                <a:lnTo>
                  <a:pt x="2895946" y="0"/>
                </a:lnTo>
                <a:lnTo>
                  <a:pt x="2167685" y="1485783"/>
                </a:lnTo>
                <a:lnTo>
                  <a:pt x="728261" y="1485783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4" name="Freeform 4"/>
          <p:cNvSpPr/>
          <p:nvPr/>
        </p:nvSpPr>
        <p:spPr>
          <a:xfrm rot="10800000">
            <a:off x="757809" y="5632704"/>
            <a:ext cx="3564160" cy="876395"/>
          </a:xfrm>
          <a:custGeom>
            <a:avLst/>
            <a:gdLst/>
            <a:ahLst/>
            <a:cxnLst/>
            <a:rect l="l" t="t" r="r" b="b"/>
            <a:pathLst>
              <a:path w="4340604" h="1473681">
                <a:moveTo>
                  <a:pt x="0" y="0"/>
                </a:moveTo>
                <a:lnTo>
                  <a:pt x="4340604" y="0"/>
                </a:lnTo>
                <a:lnTo>
                  <a:pt x="3618275" y="1473681"/>
                </a:lnTo>
                <a:lnTo>
                  <a:pt x="722329" y="1473681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  <p:txBody>
          <a:bodyPr vert="horz" wrap="square" rtlCol="0" anchor="t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 rot="-3311339" flipH="1">
            <a:off x="787518" y="4442893"/>
            <a:ext cx="1447479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老客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6" name="TextBox 6"/>
          <p:cNvSpPr txBox="1"/>
          <p:nvPr/>
        </p:nvSpPr>
        <p:spPr>
          <a:xfrm rot="-3434185" flipH="1">
            <a:off x="135501" y="5521290"/>
            <a:ext cx="1244615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数据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cxnSp>
        <p:nvCxnSpPr>
          <p:cNvPr id="7" name="Connector 7"/>
          <p:cNvCxnSpPr/>
          <p:nvPr/>
        </p:nvCxnSpPr>
        <p:spPr>
          <a:xfrm>
            <a:off x="3407508" y="2470068"/>
            <a:ext cx="1398954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Connector 8"/>
          <p:cNvCxnSpPr/>
          <p:nvPr/>
        </p:nvCxnSpPr>
        <p:spPr>
          <a:xfrm>
            <a:off x="3928533" y="5951770"/>
            <a:ext cx="877929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Connector 9"/>
          <p:cNvCxnSpPr/>
          <p:nvPr/>
        </p:nvCxnSpPr>
        <p:spPr>
          <a:xfrm>
            <a:off x="2856084" y="3327932"/>
            <a:ext cx="1950378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Connector 10"/>
          <p:cNvCxnSpPr/>
          <p:nvPr/>
        </p:nvCxnSpPr>
        <p:spPr>
          <a:xfrm>
            <a:off x="3161831" y="4789250"/>
            <a:ext cx="1644631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AutoShape 11"/>
          <p:cNvSpPr/>
          <p:nvPr/>
        </p:nvSpPr>
        <p:spPr>
          <a:xfrm flipH="1">
            <a:off x="4980795" y="1822593"/>
            <a:ext cx="3829830" cy="1141702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 flipH="1">
            <a:off x="4980795" y="3071654"/>
            <a:ext cx="3829830" cy="1016032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 flipH="1">
            <a:off x="4980795" y="1822592"/>
            <a:ext cx="1498366" cy="1141698"/>
          </a:xfrm>
          <a:prstGeom prst="roundRect">
            <a:avLst>
              <a:gd name="adj" fmla="val 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 flipH="1">
            <a:off x="4980795" y="3071653"/>
            <a:ext cx="1498366" cy="1016028"/>
          </a:xfrm>
          <a:prstGeom prst="roundRect">
            <a:avLst>
              <a:gd name="adj" fmla="val 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8810626" y="1822592"/>
            <a:ext cx="390526" cy="1141698"/>
          </a:xfrm>
          <a:prstGeom prst="roundRect">
            <a:avLst>
              <a:gd name="adj" fmla="val 0"/>
            </a:avLst>
          </a:prstGeom>
          <a:solidFill>
            <a:schemeClr val="accent4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16" name="AutoShape 16"/>
          <p:cNvSpPr/>
          <p:nvPr/>
        </p:nvSpPr>
        <p:spPr>
          <a:xfrm>
            <a:off x="8810626" y="3071653"/>
            <a:ext cx="390526" cy="1016028"/>
          </a:xfrm>
          <a:prstGeom prst="roundRect">
            <a:avLst>
              <a:gd name="adj" fmla="val 0"/>
            </a:avLst>
          </a:prstGeom>
          <a:solidFill>
            <a:schemeClr val="accent4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17" name="AutoShape 17"/>
          <p:cNvSpPr/>
          <p:nvPr/>
        </p:nvSpPr>
        <p:spPr>
          <a:xfrm rot="10800000" flipH="1">
            <a:off x="4980795" y="5348004"/>
            <a:ext cx="3829830" cy="1141702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8" name="AutoShape 18"/>
          <p:cNvSpPr/>
          <p:nvPr/>
        </p:nvSpPr>
        <p:spPr>
          <a:xfrm rot="10800000" flipH="1">
            <a:off x="4980795" y="5348003"/>
            <a:ext cx="1498366" cy="1141698"/>
          </a:xfrm>
          <a:prstGeom prst="roundRect">
            <a:avLst>
              <a:gd name="adj" fmla="val 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9" name="AutoShape 19"/>
          <p:cNvSpPr/>
          <p:nvPr/>
        </p:nvSpPr>
        <p:spPr>
          <a:xfrm rot="10800000">
            <a:off x="8810624" y="5348003"/>
            <a:ext cx="390526" cy="1141698"/>
          </a:xfrm>
          <a:prstGeom prst="roundRect">
            <a:avLst>
              <a:gd name="adj" fmla="val 0"/>
            </a:avLst>
          </a:prstGeom>
          <a:solidFill>
            <a:schemeClr val="accent4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20" name="AutoShape 20"/>
          <p:cNvSpPr/>
          <p:nvPr/>
        </p:nvSpPr>
        <p:spPr>
          <a:xfrm rot="10800000" flipH="1">
            <a:off x="4980795" y="4224608"/>
            <a:ext cx="3829830" cy="992054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21" name="AutoShape 21"/>
          <p:cNvSpPr/>
          <p:nvPr/>
        </p:nvSpPr>
        <p:spPr>
          <a:xfrm rot="10800000" flipH="1">
            <a:off x="4980795" y="4224607"/>
            <a:ext cx="1498366" cy="992050"/>
          </a:xfrm>
          <a:prstGeom prst="roundRect">
            <a:avLst>
              <a:gd name="adj" fmla="val 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22" name="AutoShape 22"/>
          <p:cNvSpPr/>
          <p:nvPr/>
        </p:nvSpPr>
        <p:spPr>
          <a:xfrm rot="10800000">
            <a:off x="8810624" y="4224607"/>
            <a:ext cx="390526" cy="992050"/>
          </a:xfrm>
          <a:prstGeom prst="roundRect">
            <a:avLst>
              <a:gd name="adj" fmla="val 0"/>
            </a:avLst>
          </a:prstGeom>
          <a:solidFill>
            <a:schemeClr val="accent4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23" name="TextBox 23"/>
          <p:cNvSpPr txBox="1"/>
          <p:nvPr/>
        </p:nvSpPr>
        <p:spPr>
          <a:xfrm>
            <a:off x="4980795" y="2247931"/>
            <a:ext cx="1489561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渠道整合</a:t>
            </a:r>
            <a:endParaRPr lang="en-US" sz="13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980795" y="5640352"/>
            <a:ext cx="1489561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智能运维</a:t>
            </a:r>
            <a:endParaRPr lang="en-US" sz="13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980795" y="3446318"/>
            <a:ext cx="1489561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线索管理</a:t>
            </a:r>
            <a:endParaRPr lang="en-US" sz="13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980795" y="4594831"/>
            <a:ext cx="1489561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销售赋能</a:t>
            </a:r>
            <a:endParaRPr lang="en-US" sz="13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653495" y="2088327"/>
            <a:ext cx="1983105" cy="61023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Zigbee网关、NB-IoT</a:t>
            </a: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模块</a:t>
            </a:r>
            <a:endParaRPr lang="en-US" sz="13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653495" y="5494331"/>
            <a:ext cx="2002155" cy="8915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云平台、故障预警、远程诊断</a:t>
            </a:r>
            <a:endParaRPr lang="en-US" sz="13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653495" y="3170243"/>
            <a:ext cx="2002155" cy="8699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PaaS</a:t>
            </a: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平台、客户画像系统，实现从留资到安装的全链路追踪</a:t>
            </a:r>
            <a:endParaRPr lang="en-US" sz="13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653495" y="4567441"/>
            <a:ext cx="2002155" cy="3505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裂变活动、</a:t>
            </a: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KOC</a:t>
            </a: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计划</a:t>
            </a:r>
            <a:endParaRPr lang="en-US" sz="13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898167" y="1895045"/>
            <a:ext cx="228600" cy="980420"/>
          </a:xfrm>
          <a:prstGeom prst="rect">
            <a:avLst/>
          </a:prstGeom>
          <a:noFill/>
        </p:spPr>
        <p:txBody>
          <a:bodyPr vert="eaVert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6F6F4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研发</a:t>
            </a:r>
            <a:endParaRPr lang="en-US" sz="1400">
              <a:solidFill>
                <a:srgbClr val="F6F6F4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898167" y="4311830"/>
            <a:ext cx="228600" cy="819150"/>
          </a:xfrm>
          <a:prstGeom prst="rect">
            <a:avLst/>
          </a:prstGeom>
          <a:noFill/>
        </p:spPr>
        <p:txBody>
          <a:bodyPr vert="eaVert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7F7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生产</a:t>
            </a:r>
            <a:endParaRPr lang="en-US" sz="1400">
              <a:solidFill>
                <a:srgbClr val="F9F7F7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898167" y="3164685"/>
            <a:ext cx="228600" cy="819150"/>
          </a:xfrm>
          <a:prstGeom prst="rect">
            <a:avLst/>
          </a:prstGeom>
          <a:noFill/>
        </p:spPr>
        <p:txBody>
          <a:bodyPr vert="eaVert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6F5F5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渠道</a:t>
            </a:r>
            <a:endParaRPr lang="en-US" sz="1400">
              <a:solidFill>
                <a:srgbClr val="F6F5F5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898167" y="5420456"/>
            <a:ext cx="228600" cy="965415"/>
          </a:xfrm>
          <a:prstGeom prst="rect">
            <a:avLst/>
          </a:prstGeom>
          <a:noFill/>
        </p:spPr>
        <p:txBody>
          <a:bodyPr vert="eaVert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B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服务</a:t>
            </a:r>
            <a:endParaRPr lang="en-US" sz="1400">
              <a:solidFill>
                <a:srgbClr val="FB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9355719" y="1177716"/>
            <a:ext cx="2464806" cy="537512"/>
          </a:xfrm>
          <a:prstGeom prst="roundRect">
            <a:avLst>
              <a:gd name="adj" fmla="val 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6" name="AutoShape 36"/>
          <p:cNvSpPr/>
          <p:nvPr/>
        </p:nvSpPr>
        <p:spPr>
          <a:xfrm>
            <a:off x="4980794" y="1177716"/>
            <a:ext cx="4220356" cy="537512"/>
          </a:xfrm>
          <a:prstGeom prst="roundRect">
            <a:avLst>
              <a:gd name="adj" fmla="val 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37" name="TextBox 37"/>
          <p:cNvSpPr txBox="1"/>
          <p:nvPr/>
        </p:nvSpPr>
        <p:spPr>
          <a:xfrm>
            <a:off x="9355719" y="1333554"/>
            <a:ext cx="2464806" cy="25717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实施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4980795" y="1333554"/>
            <a:ext cx="4220357" cy="25717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核心成果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9" name="AutoShape 39"/>
          <p:cNvSpPr/>
          <p:nvPr/>
        </p:nvSpPr>
        <p:spPr>
          <a:xfrm flipH="1">
            <a:off x="9355716" y="1822592"/>
            <a:ext cx="2464807" cy="1141698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40" name="AutoShape 40"/>
          <p:cNvSpPr/>
          <p:nvPr/>
        </p:nvSpPr>
        <p:spPr>
          <a:xfrm flipH="1">
            <a:off x="9355716" y="4224607"/>
            <a:ext cx="2464807" cy="1141698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41" name="AutoShape 41"/>
          <p:cNvSpPr/>
          <p:nvPr/>
        </p:nvSpPr>
        <p:spPr>
          <a:xfrm flipH="1">
            <a:off x="9355716" y="3071653"/>
            <a:ext cx="2464807" cy="992294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42" name="AutoShape 42"/>
          <p:cNvSpPr/>
          <p:nvPr/>
        </p:nvSpPr>
        <p:spPr>
          <a:xfrm flipH="1">
            <a:off x="9355716" y="5473668"/>
            <a:ext cx="2464807" cy="992294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43" name="TextBox 43"/>
          <p:cNvSpPr txBox="1"/>
          <p:nvPr/>
        </p:nvSpPr>
        <p:spPr>
          <a:xfrm>
            <a:off x="9573134" y="2094908"/>
            <a:ext cx="2247391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标准执行</a:t>
            </a:r>
            <a:endParaRPr lang="en-US" sz="12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9573134" y="2353536"/>
            <a:ext cx="2247391" cy="34988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严格按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GB/T35678-2017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标准开发锁体结构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9573134" y="3262375"/>
            <a:ext cx="2247391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算法开发</a:t>
            </a:r>
            <a:endParaRPr lang="en-US" sz="12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568715" y="3521003"/>
            <a:ext cx="2251810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实现指纹/人脸识别算法的毫秒级响应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9573134" y="4489979"/>
            <a:ext cx="2247391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流程优化</a:t>
            </a:r>
            <a:endParaRPr lang="en-US" sz="12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9568715" y="4748607"/>
            <a:ext cx="2251810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建立安装-激活-售后三小时极速响应机制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9583469" y="5670690"/>
            <a:ext cx="2237056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AI风控</a:t>
            </a:r>
            <a:endParaRPr lang="en-US" sz="12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9568715" y="5929318"/>
            <a:ext cx="2251810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基于异常开锁行为建立风险等级预警模型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问题与解决方案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52" name="Freeform 52"/>
          <p:cNvSpPr/>
          <p:nvPr/>
        </p:nvSpPr>
        <p:spPr>
          <a:xfrm>
            <a:off x="757809" y="1177100"/>
            <a:ext cx="3564160" cy="876395"/>
          </a:xfrm>
          <a:custGeom>
            <a:avLst/>
            <a:gdLst/>
            <a:ahLst/>
            <a:cxnLst/>
            <a:rect l="l" t="t" r="r" b="b"/>
            <a:pathLst>
              <a:path w="4340604" h="1473681">
                <a:moveTo>
                  <a:pt x="0" y="0"/>
                </a:moveTo>
                <a:lnTo>
                  <a:pt x="4340604" y="0"/>
                </a:lnTo>
                <a:lnTo>
                  <a:pt x="3618275" y="1473681"/>
                </a:lnTo>
                <a:lnTo>
                  <a:pt x="722329" y="1473681"/>
                </a:lnTo>
                <a:lnTo>
                  <a:pt x="0" y="0"/>
                </a:ln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53" name="Freeform 53"/>
          <p:cNvSpPr/>
          <p:nvPr/>
        </p:nvSpPr>
        <p:spPr>
          <a:xfrm>
            <a:off x="1948910" y="2980849"/>
            <a:ext cx="1181957" cy="873252"/>
          </a:xfrm>
          <a:custGeom>
            <a:avLst/>
            <a:gdLst/>
            <a:ahLst/>
            <a:cxnLst/>
            <a:rect l="l" t="t" r="r" b="b"/>
            <a:pathLst>
              <a:path w="1439424" h="1468343">
                <a:moveTo>
                  <a:pt x="0" y="0"/>
                </a:moveTo>
                <a:lnTo>
                  <a:pt x="1439424" y="0"/>
                </a:lnTo>
                <a:lnTo>
                  <a:pt x="719712" y="1468343"/>
                </a:lnTo>
                <a:lnTo>
                  <a:pt x="0" y="0"/>
                </a:lnTo>
              </a:path>
            </a:pathLst>
          </a:custGeom>
          <a:solidFill>
            <a:schemeClr val="accent3">
              <a:alpha val="100000"/>
            </a:schemeClr>
          </a:solidFill>
        </p:spPr>
      </p:sp>
      <p:cxnSp>
        <p:nvCxnSpPr>
          <p:cNvPr id="54" name="Connector 54"/>
          <p:cNvCxnSpPr/>
          <p:nvPr/>
        </p:nvCxnSpPr>
        <p:spPr>
          <a:xfrm>
            <a:off x="457728" y="1220833"/>
            <a:ext cx="1721025" cy="2543056"/>
          </a:xfrm>
          <a:prstGeom prst="line">
            <a:avLst/>
          </a:prstGeom>
          <a:ln w="19050">
            <a:solidFill>
              <a:schemeClr val="accent6"/>
            </a:solidFill>
            <a:prstDash val="sysDash"/>
            <a:headEnd type="none"/>
            <a:tailEnd type="triangle"/>
          </a:ln>
        </p:spPr>
        <p:style>
          <a:lnRef idx="0">
            <a:schemeClr val="accent6"/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55" name="Connector 55"/>
          <p:cNvCxnSpPr/>
          <p:nvPr/>
        </p:nvCxnSpPr>
        <p:spPr>
          <a:xfrm flipV="1">
            <a:off x="505533" y="3930708"/>
            <a:ext cx="1712158" cy="2529953"/>
          </a:xfrm>
          <a:prstGeom prst="line">
            <a:avLst/>
          </a:prstGeom>
          <a:ln w="19050">
            <a:solidFill>
              <a:schemeClr val="accent6"/>
            </a:solidFill>
            <a:prstDash val="sysDash"/>
            <a:headEnd type="none"/>
            <a:tailEnd type="triangle"/>
          </a:ln>
        </p:spPr>
        <p:style>
          <a:lnRef idx="0">
            <a:schemeClr val="accent6"/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56" name="TextBox 56"/>
          <p:cNvSpPr txBox="1"/>
          <p:nvPr/>
        </p:nvSpPr>
        <p:spPr>
          <a:xfrm rot="3325093" flipH="1">
            <a:off x="-15780" y="1886732"/>
            <a:ext cx="147080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渠道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7" name="TextBox 57"/>
          <p:cNvSpPr txBox="1"/>
          <p:nvPr/>
        </p:nvSpPr>
        <p:spPr>
          <a:xfrm rot="3325093" flipH="1">
            <a:off x="775795" y="3154536"/>
            <a:ext cx="1584242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转化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895154" y="2361247"/>
            <a:ext cx="1320427" cy="2819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需求挖掘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2090642" y="4696015"/>
            <a:ext cx="898398" cy="2769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激活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350931" y="5915501"/>
            <a:ext cx="2377916" cy="2819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行为分析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2090642" y="3054953"/>
            <a:ext cx="898398" cy="4616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跟进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1350931" y="1481709"/>
            <a:ext cx="2377916" cy="2819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宣传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研发团队组成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384075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45401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负责智能门锁的电路设计、传感器选型及机械结构优化，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以及各种硬件接线与硬件模块。</a:t>
            </a: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确保产品在物理层面的稳定性和耐用性。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35827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硬件工程师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如斯太木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4297736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436767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设计系统的日志存储、查看与过滤等逻辑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实现。</a:t>
            </a:r>
            <a:endParaRPr lang="zh-CN" alt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7"/>
            </p:custDataLst>
          </p:nvPr>
        </p:nvSpPr>
        <p:spPr>
          <a:xfrm>
            <a:off x="427193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系统设计</a:t>
            </a: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工程师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杜睿茵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76167" y="453414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0" name="TextBox 10"/>
          <p:cNvSpPr txBox="1"/>
          <p:nvPr>
            <p:custDataLst>
              <p:tags r:id="rId9"/>
            </p:custDataLst>
          </p:nvPr>
        </p:nvSpPr>
        <p:spPr>
          <a:xfrm>
            <a:off x="476252" y="464804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统筹研发进度，协调跨部门需求，定义产品功能优先级，并负责市场调研与竞品分析。</a:t>
            </a: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设计用户友好的操作界面和交互流程，优化解锁体验，兼顾美观性与实用性。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358292" y="3973086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产品经理+UI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设计师</a:t>
            </a:r>
            <a:r>
              <a:rPr lang="en-US" altLang="zh-CN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万佳萌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4343435" y="446937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12"/>
            </p:custDataLst>
          </p:nvPr>
        </p:nvSpPr>
        <p:spPr>
          <a:xfrm>
            <a:off x="4367650" y="462772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设计系统整体架构，包括文件代码等存储位置、过程文档等存储位置</a:t>
            </a: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13"/>
            </p:custDataLst>
          </p:nvPr>
        </p:nvSpPr>
        <p:spPr>
          <a:xfrm>
            <a:off x="4267469" y="3928001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系统架构师</a:t>
            </a: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 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陈润生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8177754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6" name="TextBox 16"/>
          <p:cNvSpPr txBox="1"/>
          <p:nvPr>
            <p:custDataLst>
              <p:tags r:id="rId15"/>
            </p:custDataLst>
          </p:nvPr>
        </p:nvSpPr>
        <p:spPr>
          <a:xfrm>
            <a:off x="8247690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制定严格的测试方案，覆盖功能测试、压力测试及兼容性测试，确保产品在不同环境下稳定运行。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8151954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测试工程师  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王嘉安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软件开发</a:t>
            </a: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人员分工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384075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45401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35827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朴平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4297736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436767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zh-CN" alt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7"/>
            </p:custDataLst>
          </p:nvPr>
        </p:nvSpPr>
        <p:spPr>
          <a:xfrm>
            <a:off x="427193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张智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祥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76167" y="453414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0" name="TextBox 10"/>
          <p:cNvSpPr txBox="1"/>
          <p:nvPr>
            <p:custDataLst>
              <p:tags r:id="rId9"/>
            </p:custDataLst>
          </p:nvPr>
        </p:nvSpPr>
        <p:spPr>
          <a:xfrm>
            <a:off x="476252" y="464804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358292" y="3973086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张俊辉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4343435" y="446937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12"/>
            </p:custDataLst>
          </p:nvPr>
        </p:nvSpPr>
        <p:spPr>
          <a:xfrm>
            <a:off x="4367650" y="462772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13"/>
            </p:custDataLst>
          </p:nvPr>
        </p:nvSpPr>
        <p:spPr>
          <a:xfrm>
            <a:off x="4267469" y="3928001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聂圣博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8177754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6" name="TextBox 16"/>
          <p:cNvSpPr txBox="1"/>
          <p:nvPr>
            <p:custDataLst>
              <p:tags r:id="rId15"/>
            </p:custDataLst>
          </p:nvPr>
        </p:nvSpPr>
        <p:spPr>
          <a:xfrm>
            <a:off x="8247690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8151954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杨晨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协作与沟通机制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6"/>
          <p:cNvCxnSpPr/>
          <p:nvPr>
            <p:custDataLst>
              <p:tags r:id="rId2"/>
            </p:custDataLst>
          </p:nvPr>
        </p:nvCxnSpPr>
        <p:spPr>
          <a:xfrm flipH="1">
            <a:off x="1267386" y="2002593"/>
            <a:ext cx="1" cy="2981501"/>
          </a:xfrm>
          <a:prstGeom prst="line">
            <a:avLst/>
          </a:prstGeom>
          <a:ln w="12700">
            <a:solidFill>
              <a:schemeClr val="dk1"/>
            </a:solidFill>
            <a:prstDash val="dash"/>
            <a:headEnd type="none"/>
            <a:tailEnd type="non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17" name="TextBox 17"/>
          <p:cNvSpPr txBox="1"/>
          <p:nvPr>
            <p:custDataLst>
              <p:tags r:id="rId3"/>
            </p:custDataLst>
          </p:nvPr>
        </p:nvSpPr>
        <p:spPr>
          <a:xfrm>
            <a:off x="1708499" y="1627518"/>
            <a:ext cx="1813560" cy="3683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感受（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M"/>
                <a:cs typeface="Times New Roman" panose="02020603050405020304" charset="0"/>
              </a:rPr>
              <a:t>Feeling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）</a:t>
            </a:r>
            <a:endParaRPr lang="en-US" sz="1800" b="1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8" name="TextBox 18"/>
          <p:cNvSpPr txBox="1"/>
          <p:nvPr>
            <p:custDataLst>
              <p:tags r:id="rId4"/>
            </p:custDataLst>
          </p:nvPr>
        </p:nvSpPr>
        <p:spPr>
          <a:xfrm>
            <a:off x="1689449" y="2012251"/>
            <a:ext cx="3630930" cy="5334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完整的感受产品从立项到交付的流程，明白多个职位的工作内容与不同职位间的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合作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9" name="AutoShape 19"/>
          <p:cNvSpPr/>
          <p:nvPr>
            <p:custDataLst>
              <p:tags r:id="rId5"/>
            </p:custDataLst>
          </p:nvPr>
        </p:nvSpPr>
        <p:spPr>
          <a:xfrm>
            <a:off x="1003268" y="1551718"/>
            <a:ext cx="524542" cy="52454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0" name="TextBox 20"/>
          <p:cNvSpPr txBox="1"/>
          <p:nvPr>
            <p:custDataLst>
              <p:tags r:id="rId6"/>
            </p:custDataLst>
          </p:nvPr>
        </p:nvSpPr>
        <p:spPr>
          <a:xfrm>
            <a:off x="1653826" y="3148965"/>
            <a:ext cx="1534160" cy="3683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事实（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M"/>
                <a:cs typeface="Times New Roman" panose="02020603050405020304" charset="0"/>
              </a:rPr>
              <a:t>Fact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）</a:t>
            </a:r>
            <a:endParaRPr lang="en-US" sz="1800" b="1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1" name="TextBox 21"/>
          <p:cNvSpPr txBox="1"/>
          <p:nvPr>
            <p:custDataLst>
              <p:tags r:id="rId7"/>
            </p:custDataLst>
          </p:nvPr>
        </p:nvSpPr>
        <p:spPr>
          <a:xfrm>
            <a:off x="1689449" y="3550063"/>
            <a:ext cx="3630930" cy="5334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所有计划均按时结束、没有延期情况。为后期修补完善提供了足够时间。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2" name="AutoShape 22"/>
          <p:cNvSpPr/>
          <p:nvPr>
            <p:custDataLst>
              <p:tags r:id="rId8"/>
            </p:custDataLst>
          </p:nvPr>
        </p:nvSpPr>
        <p:spPr>
          <a:xfrm>
            <a:off x="1003268" y="3089624"/>
            <a:ext cx="524542" cy="52454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23" name="TextBox 23"/>
          <p:cNvSpPr txBox="1"/>
          <p:nvPr>
            <p:custDataLst>
              <p:tags r:id="rId9"/>
            </p:custDataLst>
          </p:nvPr>
        </p:nvSpPr>
        <p:spPr>
          <a:xfrm>
            <a:off x="1689449" y="4873416"/>
            <a:ext cx="2012315" cy="3683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对比（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M"/>
                <a:cs typeface="Times New Roman" panose="02020603050405020304" charset="0"/>
              </a:rPr>
              <a:t>Compare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）</a:t>
            </a:r>
            <a:endParaRPr lang="en-US" sz="1800" b="1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TextBox 24"/>
          <p:cNvSpPr txBox="1"/>
          <p:nvPr>
            <p:custDataLst>
              <p:tags r:id="rId10"/>
            </p:custDataLst>
          </p:nvPr>
        </p:nvSpPr>
        <p:spPr>
          <a:xfrm>
            <a:off x="1689449" y="5326193"/>
            <a:ext cx="3630930" cy="1005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通过横向对比突出协作成果，例如：“...相较传统开发模式，本次并行开发周期缩短了40%。”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5" name="AutoShape 25"/>
          <p:cNvSpPr/>
          <p:nvPr>
            <p:custDataLst>
              <p:tags r:id="rId11"/>
            </p:custDataLst>
          </p:nvPr>
        </p:nvSpPr>
        <p:spPr>
          <a:xfrm>
            <a:off x="1003268" y="4767739"/>
            <a:ext cx="524542" cy="524542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26" name="TextBox 26"/>
          <p:cNvSpPr txBox="1"/>
          <p:nvPr>
            <p:custDataLst>
              <p:tags r:id="rId12"/>
            </p:custDataLst>
          </p:nvPr>
        </p:nvSpPr>
        <p:spPr>
          <a:xfrm>
            <a:off x="971264" y="1633252"/>
            <a:ext cx="592360" cy="3693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01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7" name="TextBox 27"/>
          <p:cNvSpPr txBox="1"/>
          <p:nvPr>
            <p:custDataLst>
              <p:tags r:id="rId13"/>
            </p:custDataLst>
          </p:nvPr>
        </p:nvSpPr>
        <p:spPr>
          <a:xfrm>
            <a:off x="971264" y="3171158"/>
            <a:ext cx="592360" cy="3693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02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8" name="TextBox 28"/>
          <p:cNvSpPr txBox="1"/>
          <p:nvPr>
            <p:custDataLst>
              <p:tags r:id="rId14"/>
            </p:custDataLst>
          </p:nvPr>
        </p:nvSpPr>
        <p:spPr>
          <a:xfrm>
            <a:off x="971264" y="4861370"/>
            <a:ext cx="592360" cy="3693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03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0" y="381000"/>
            <a:ext cx="3936365" cy="295148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0" y="3332480"/>
            <a:ext cx="3913505" cy="293433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47505" y="381000"/>
            <a:ext cx="2944495" cy="220853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60840" y="2545715"/>
            <a:ext cx="2964180" cy="222313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89085" y="4767580"/>
            <a:ext cx="3040380" cy="22802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47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</a:t>
            </a:r>
            <a:endParaRPr lang="en-US" sz="747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产出展示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产品文档与说明书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>
            <p:custDataLst>
              <p:tags r:id="rId2"/>
            </p:custDataLst>
          </p:nvPr>
        </p:nvSpPr>
        <p:spPr>
          <a:xfrm>
            <a:off x="515104" y="1376998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功能详解文档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4278857" y="1376998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安装指南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8042611" y="1376998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故障排查手册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5"/>
            </p:custDataLst>
          </p:nvPr>
        </p:nvSpPr>
        <p:spPr>
          <a:xfrm>
            <a:off x="2395390" y="3950072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安全使用规范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6159144" y="3950072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多语言版本支持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515104" y="1943785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9" name="TextBox 9"/>
          <p:cNvSpPr txBox="1"/>
          <p:nvPr>
            <p:custDataLst>
              <p:tags r:id="rId8"/>
            </p:custDataLst>
          </p:nvPr>
        </p:nvSpPr>
        <p:spPr>
          <a:xfrm>
            <a:off x="740613" y="2105555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详细描述了智能门锁的核心功能，包括指纹识别、密码解锁、远程控制等，确保用户能够全面了解产品特性。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278857" y="1943785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4504366" y="2105555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提供了图文并茂的安装步骤说明，涵盖不同门型的适配方案，帮助用户或技术人员快速完成安装。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8042611" y="1943785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12"/>
            </p:custDataLst>
          </p:nvPr>
        </p:nvSpPr>
        <p:spPr>
          <a:xfrm>
            <a:off x="8268120" y="2105555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列出了常见问题及解决方案，如电池更换、网络连接异常等，便于用户自主解决简单问题。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2395390" y="4500511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5" name="TextBox 15"/>
          <p:cNvSpPr txBox="1"/>
          <p:nvPr>
            <p:custDataLst>
              <p:tags r:id="rId14"/>
            </p:custDataLst>
          </p:nvPr>
        </p:nvSpPr>
        <p:spPr>
          <a:xfrm>
            <a:off x="2620899" y="4662281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强调了智能门锁的安全注意事项，例如定期更换密码、避免指纹残留等，确保用户使用过程中的安全性。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5"/>
            </p:custDataLst>
          </p:nvPr>
        </p:nvSpPr>
        <p:spPr>
          <a:xfrm>
            <a:off x="6159144" y="4500511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6384653" y="4662281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产品说明书支持多种语言，满足不同地区用户的需求，提升产品的国际化适用性。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212980">
            <a:off x="5994460" y="3861620"/>
            <a:ext cx="2993574" cy="377448"/>
          </a:xfrm>
          <a:custGeom>
            <a:avLst/>
            <a:gdLst/>
            <a:ahLst/>
            <a:cxnLst/>
            <a:rect l="l" t="t" r="r" b="b"/>
            <a:pathLst>
              <a:path w="3176417" h="324267">
                <a:moveTo>
                  <a:pt x="2991432" y="0"/>
                </a:moveTo>
                <a:lnTo>
                  <a:pt x="2991432" y="54655"/>
                </a:lnTo>
                <a:lnTo>
                  <a:pt x="2429933" y="54655"/>
                </a:lnTo>
                <a:lnTo>
                  <a:pt x="746484" y="54655"/>
                </a:lnTo>
                <a:lnTo>
                  <a:pt x="184985" y="54655"/>
                </a:lnTo>
                <a:lnTo>
                  <a:pt x="184985" y="0"/>
                </a:lnTo>
                <a:lnTo>
                  <a:pt x="0" y="162134"/>
                </a:lnTo>
                <a:lnTo>
                  <a:pt x="184985" y="324267"/>
                </a:lnTo>
                <a:lnTo>
                  <a:pt x="184985" y="269612"/>
                </a:lnTo>
                <a:lnTo>
                  <a:pt x="746484" y="269612"/>
                </a:lnTo>
                <a:lnTo>
                  <a:pt x="2429933" y="269612"/>
                </a:lnTo>
                <a:lnTo>
                  <a:pt x="2991432" y="269612"/>
                </a:lnTo>
                <a:lnTo>
                  <a:pt x="2991432" y="324267"/>
                </a:lnTo>
                <a:lnTo>
                  <a:pt x="3176417" y="162134"/>
                </a:lnTo>
              </a:path>
            </a:pathLst>
          </a:custGeom>
          <a:solidFill>
            <a:schemeClr val="accent6">
              <a:alpha val="100000"/>
            </a:schemeClr>
          </a:solidFill>
        </p:spPr>
      </p:sp>
      <p:sp>
        <p:nvSpPr>
          <p:cNvPr id="3" name="Freeform 3"/>
          <p:cNvSpPr/>
          <p:nvPr/>
        </p:nvSpPr>
        <p:spPr>
          <a:xfrm flipH="1">
            <a:off x="4442002" y="1595566"/>
            <a:ext cx="3307996" cy="377448"/>
          </a:xfrm>
          <a:custGeom>
            <a:avLst/>
            <a:gdLst/>
            <a:ahLst/>
            <a:cxnLst/>
            <a:rect l="l" t="t" r="r" b="b"/>
            <a:pathLst>
              <a:path w="3176417" h="324267">
                <a:moveTo>
                  <a:pt x="2991432" y="0"/>
                </a:moveTo>
                <a:lnTo>
                  <a:pt x="2991432" y="54655"/>
                </a:lnTo>
                <a:lnTo>
                  <a:pt x="2429933" y="54655"/>
                </a:lnTo>
                <a:lnTo>
                  <a:pt x="746484" y="54655"/>
                </a:lnTo>
                <a:lnTo>
                  <a:pt x="184985" y="54655"/>
                </a:lnTo>
                <a:lnTo>
                  <a:pt x="184985" y="0"/>
                </a:lnTo>
                <a:lnTo>
                  <a:pt x="0" y="162134"/>
                </a:lnTo>
                <a:lnTo>
                  <a:pt x="184985" y="324267"/>
                </a:lnTo>
                <a:lnTo>
                  <a:pt x="184985" y="269612"/>
                </a:lnTo>
                <a:lnTo>
                  <a:pt x="746484" y="269612"/>
                </a:lnTo>
                <a:lnTo>
                  <a:pt x="2429933" y="269612"/>
                </a:lnTo>
                <a:lnTo>
                  <a:pt x="2991432" y="269612"/>
                </a:lnTo>
                <a:lnTo>
                  <a:pt x="2991432" y="324267"/>
                </a:lnTo>
                <a:lnTo>
                  <a:pt x="3176417" y="162134"/>
                </a:lnTo>
              </a:path>
            </a:pathLst>
          </a:custGeom>
          <a:solidFill>
            <a:schemeClr val="accent6">
              <a:alpha val="100000"/>
            </a:schemeClr>
          </a:solidFill>
        </p:spPr>
      </p:sp>
      <p:sp>
        <p:nvSpPr>
          <p:cNvPr id="4" name="TextBox 4"/>
          <p:cNvSpPr txBox="1"/>
          <p:nvPr/>
        </p:nvSpPr>
        <p:spPr>
          <a:xfrm>
            <a:off x="4698933" y="1661079"/>
            <a:ext cx="2878455" cy="26289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故障排查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" name="Freeform 5"/>
          <p:cNvSpPr/>
          <p:nvPr/>
        </p:nvSpPr>
        <p:spPr>
          <a:xfrm rot="3387019" flipH="1">
            <a:off x="3186932" y="3861621"/>
            <a:ext cx="2993574" cy="377448"/>
          </a:xfrm>
          <a:custGeom>
            <a:avLst/>
            <a:gdLst/>
            <a:ahLst/>
            <a:cxnLst/>
            <a:rect l="l" t="t" r="r" b="b"/>
            <a:pathLst>
              <a:path w="3176417" h="324267">
                <a:moveTo>
                  <a:pt x="2991432" y="0"/>
                </a:moveTo>
                <a:lnTo>
                  <a:pt x="2991432" y="54655"/>
                </a:lnTo>
                <a:lnTo>
                  <a:pt x="2429933" y="54655"/>
                </a:lnTo>
                <a:lnTo>
                  <a:pt x="746484" y="54655"/>
                </a:lnTo>
                <a:lnTo>
                  <a:pt x="184985" y="54655"/>
                </a:lnTo>
                <a:lnTo>
                  <a:pt x="184985" y="0"/>
                </a:lnTo>
                <a:lnTo>
                  <a:pt x="0" y="162134"/>
                </a:lnTo>
                <a:lnTo>
                  <a:pt x="184985" y="324267"/>
                </a:lnTo>
                <a:lnTo>
                  <a:pt x="184985" y="269612"/>
                </a:lnTo>
                <a:lnTo>
                  <a:pt x="746484" y="269612"/>
                </a:lnTo>
                <a:lnTo>
                  <a:pt x="2429933" y="269612"/>
                </a:lnTo>
                <a:lnTo>
                  <a:pt x="2991432" y="269612"/>
                </a:lnTo>
                <a:lnTo>
                  <a:pt x="2991432" y="324267"/>
                </a:lnTo>
                <a:lnTo>
                  <a:pt x="3176417" y="162134"/>
                </a:lnTo>
              </a:path>
            </a:pathLst>
          </a:custGeom>
          <a:solidFill>
            <a:schemeClr val="accent6">
              <a:alpha val="100000"/>
            </a:schemeClr>
          </a:solidFill>
        </p:spPr>
      </p:sp>
      <p:sp>
        <p:nvSpPr>
          <p:cNvPr id="6" name="TextBox 6"/>
          <p:cNvSpPr txBox="1"/>
          <p:nvPr/>
        </p:nvSpPr>
        <p:spPr>
          <a:xfrm rot="3387019">
            <a:off x="3372217" y="3906760"/>
            <a:ext cx="2566503" cy="25336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需求匹配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7" name="AutoShape 7"/>
          <p:cNvSpPr/>
          <p:nvPr/>
        </p:nvSpPr>
        <p:spPr>
          <a:xfrm rot="10800000">
            <a:off x="3684482" y="2043249"/>
            <a:ext cx="4781840" cy="820428"/>
          </a:xfrm>
          <a:prstGeom prst="trapezoid">
            <a:avLst>
              <a:gd name="adj" fmla="val 63339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8" name="AutoShape 8"/>
          <p:cNvSpPr/>
          <p:nvPr/>
        </p:nvSpPr>
        <p:spPr>
          <a:xfrm rot="10800000">
            <a:off x="4203937" y="2863561"/>
            <a:ext cx="3743753" cy="776470"/>
          </a:xfrm>
          <a:prstGeom prst="trapezoid">
            <a:avLst>
              <a:gd name="adj" fmla="val 67393"/>
            </a:avLst>
          </a:prstGeom>
          <a:solidFill>
            <a:schemeClr val="accent1">
              <a:alpha val="90000"/>
            </a:schemeClr>
          </a:solidFill>
        </p:spPr>
      </p:sp>
      <p:sp>
        <p:nvSpPr>
          <p:cNvPr id="9" name="AutoShape 9"/>
          <p:cNvSpPr/>
          <p:nvPr/>
        </p:nvSpPr>
        <p:spPr>
          <a:xfrm rot="10800000">
            <a:off x="4725031" y="3636381"/>
            <a:ext cx="2701561" cy="776470"/>
          </a:xfrm>
          <a:prstGeom prst="trapezoid">
            <a:avLst>
              <a:gd name="adj" fmla="val 67393"/>
            </a:avLst>
          </a:prstGeom>
          <a:solidFill>
            <a:schemeClr val="accent1">
              <a:alpha val="80000"/>
            </a:schemeClr>
          </a:solidFill>
        </p:spPr>
      </p:sp>
      <p:sp>
        <p:nvSpPr>
          <p:cNvPr id="10" name="AutoShape 10"/>
          <p:cNvSpPr/>
          <p:nvPr/>
        </p:nvSpPr>
        <p:spPr>
          <a:xfrm rot="10800000">
            <a:off x="5247652" y="4412732"/>
            <a:ext cx="1656001" cy="993767"/>
          </a:xfrm>
          <a:prstGeom prst="trapezoid">
            <a:avLst>
              <a:gd name="adj" fmla="val 65905"/>
            </a:avLst>
          </a:prstGeom>
          <a:solidFill>
            <a:schemeClr val="accent1">
              <a:alpha val="7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7942586" y="1737191"/>
            <a:ext cx="747202" cy="747202"/>
          </a:xfrm>
          <a:prstGeom prst="ellipse">
            <a:avLst/>
          </a:prstGeom>
          <a:solidFill>
            <a:srgbClr val="171C35">
              <a:alpha val="100000"/>
            </a:srgbClr>
          </a:solidFill>
          <a:ln w="63500">
            <a:solidFill>
              <a:srgbClr val="E7EAFA">
                <a:alpha val="100000"/>
              </a:srgbClr>
            </a:solidFill>
            <a:prstDash val="solid"/>
          </a:ln>
        </p:spPr>
      </p:sp>
      <p:sp>
        <p:nvSpPr>
          <p:cNvPr id="12" name="AutoShape 12"/>
          <p:cNvSpPr/>
          <p:nvPr/>
        </p:nvSpPr>
        <p:spPr>
          <a:xfrm>
            <a:off x="5706366" y="5316871"/>
            <a:ext cx="747202" cy="747202"/>
          </a:xfrm>
          <a:prstGeom prst="ellipse">
            <a:avLst/>
          </a:prstGeom>
          <a:solidFill>
            <a:srgbClr val="171C35">
              <a:alpha val="100000"/>
            </a:srgbClr>
          </a:solidFill>
          <a:ln w="63500">
            <a:solidFill>
              <a:srgbClr val="E7EAFA">
                <a:alpha val="100000"/>
              </a:srgbClr>
            </a:solidFill>
            <a:prstDash val="solid"/>
          </a:ln>
        </p:spPr>
      </p:sp>
      <p:sp>
        <p:nvSpPr>
          <p:cNvPr id="13" name="TextBox 13"/>
          <p:cNvSpPr txBox="1"/>
          <p:nvPr/>
        </p:nvSpPr>
        <p:spPr>
          <a:xfrm>
            <a:off x="5874785" y="5514660"/>
            <a:ext cx="423932" cy="35825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HarmonyOS Sans SC Medium"/>
                <a:ea typeface="HarmonyOS Sans SC Medium"/>
                <a:cs typeface="HarmonyOS Sans SC Medium"/>
              </a:rPr>
              <a:t>企</a:t>
            </a:r>
            <a:endParaRPr lang="en-US" sz="1400">
              <a:solidFill>
                <a:srgbClr val="FFFFFF">
                  <a:alpha val="100000"/>
                </a:srgbClr>
              </a:solidFill>
              <a:latin typeface="HarmonyOS Sans SC Medium"/>
              <a:ea typeface="HarmonyOS Sans SC Medium"/>
              <a:cs typeface="HarmonyOS Sans SC Medium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302151" y="1561230"/>
            <a:ext cx="1147326" cy="1147326"/>
          </a:xfrm>
          <a:prstGeom prst="ellipse">
            <a:avLst/>
          </a:prstGeom>
          <a:solidFill>
            <a:schemeClr val="accent5">
              <a:alpha val="100000"/>
            </a:schemeClr>
          </a:solidFill>
          <a:ln w="63500">
            <a:solidFill>
              <a:schemeClr val="lt2">
                <a:alpha val="100000"/>
              </a:schemeClr>
            </a:solidFill>
            <a:prstDash val="solid"/>
          </a:ln>
        </p:spPr>
      </p:sp>
      <p:sp>
        <p:nvSpPr>
          <p:cNvPr id="15" name="TextBox 15"/>
          <p:cNvSpPr txBox="1"/>
          <p:nvPr/>
        </p:nvSpPr>
        <p:spPr>
          <a:xfrm>
            <a:off x="4799840" y="2250248"/>
            <a:ext cx="2624114" cy="38677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开锁速度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035468" y="2988859"/>
            <a:ext cx="2152858" cy="38677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识别精度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071430" y="3795029"/>
            <a:ext cx="2038080" cy="38677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防撬报警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89304" y="4555858"/>
            <a:ext cx="1180360" cy="3382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用户评分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738227" y="1561230"/>
            <a:ext cx="1147326" cy="114732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63500">
            <a:solidFill>
              <a:schemeClr val="lt2">
                <a:alpha val="100000"/>
              </a:schemeClr>
            </a:solidFill>
            <a:prstDash val="solid"/>
          </a:ln>
        </p:spPr>
      </p:sp>
      <p:sp>
        <p:nvSpPr>
          <p:cNvPr id="20" name="AutoShape 20"/>
          <p:cNvSpPr/>
          <p:nvPr/>
        </p:nvSpPr>
        <p:spPr>
          <a:xfrm>
            <a:off x="5522337" y="5087683"/>
            <a:ext cx="1147326" cy="1147326"/>
          </a:xfrm>
          <a:prstGeom prst="ellipse">
            <a:avLst/>
          </a:prstGeom>
          <a:solidFill>
            <a:schemeClr val="accent1">
              <a:alpha val="100000"/>
            </a:schemeClr>
          </a:solidFill>
          <a:ln w="63500">
            <a:solidFill>
              <a:schemeClr val="lt2">
                <a:alpha val="100000"/>
              </a:schemeClr>
            </a:solidFill>
            <a:prstDash val="solid"/>
          </a:ln>
        </p:spPr>
      </p:sp>
      <p:sp>
        <p:nvSpPr>
          <p:cNvPr id="21" name="TextBox 21"/>
          <p:cNvSpPr txBox="1"/>
          <p:nvPr/>
        </p:nvSpPr>
        <p:spPr>
          <a:xfrm>
            <a:off x="3520292" y="1821073"/>
            <a:ext cx="706755" cy="6724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测试定位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956368" y="1821073"/>
            <a:ext cx="706755" cy="6724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算法升级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740478" y="5341906"/>
            <a:ext cx="706755" cy="6819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数据监控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TextBox 24"/>
          <p:cNvSpPr txBox="1"/>
          <p:nvPr/>
        </p:nvSpPr>
        <p:spPr>
          <a:xfrm rot="18212980" flipH="1">
            <a:off x="6225071" y="3927217"/>
            <a:ext cx="2545080" cy="25336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安全与便捷平衡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196647" y="2166282"/>
            <a:ext cx="2390775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采用3D结构光技术实现0.01秒极速识别，误识率低于0.0001%行业领先水平。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460421" y="1714256"/>
            <a:ext cx="1781175" cy="32385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生物识别优化</a:t>
            </a:r>
            <a:endParaRPr lang="en-US" sz="2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24147" y="2135319"/>
            <a:ext cx="2390775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依据行业标准制定测试方案，覆盖极端环境下的开锁成功率、误识率等核心指标。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76023" y="1714256"/>
            <a:ext cx="2228850" cy="32385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测试标准</a:t>
            </a:r>
            <a:endParaRPr lang="en-US" sz="2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381633" y="5570989"/>
            <a:ext cx="2390775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通过云端监控平台实时追踪10万次开锁数据，自动触发电池低电量等异常预警机制。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654880" y="5134444"/>
            <a:ext cx="1781175" cy="32385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异常预警</a:t>
            </a:r>
            <a:endParaRPr lang="en-US" sz="2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960737" y="4554068"/>
            <a:ext cx="2051845" cy="482781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2" name="TextBox 32"/>
          <p:cNvSpPr txBox="1"/>
          <p:nvPr/>
        </p:nvSpPr>
        <p:spPr>
          <a:xfrm>
            <a:off x="960737" y="4667429"/>
            <a:ext cx="2041094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高温测试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960738" y="5205231"/>
            <a:ext cx="2051843" cy="482781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4" name="TextBox 34"/>
          <p:cNvSpPr txBox="1"/>
          <p:nvPr/>
        </p:nvSpPr>
        <p:spPr>
          <a:xfrm>
            <a:off x="960737" y="5318592"/>
            <a:ext cx="205418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潮湿测试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960737" y="5856397"/>
            <a:ext cx="2051844" cy="482781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6" name="TextBox 36"/>
          <p:cNvSpPr txBox="1"/>
          <p:nvPr/>
        </p:nvSpPr>
        <p:spPr>
          <a:xfrm>
            <a:off x="960737" y="5969758"/>
            <a:ext cx="205418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暴力测试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37" name="Connector 37"/>
          <p:cNvCxnSpPr/>
          <p:nvPr/>
        </p:nvCxnSpPr>
        <p:spPr>
          <a:xfrm>
            <a:off x="3098940" y="5686162"/>
            <a:ext cx="2337039" cy="0"/>
          </a:xfrm>
          <a:prstGeom prst="line">
            <a:avLst/>
          </a:prstGeom>
          <a:ln w="12700">
            <a:solidFill>
              <a:schemeClr val="accent1"/>
            </a:solidFill>
            <a:prstDash val="solid"/>
            <a:headEnd type="none"/>
            <a:tailEnd type="triangl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TextBox 38"/>
          <p:cNvSpPr txBox="1"/>
          <p:nvPr/>
        </p:nvSpPr>
        <p:spPr>
          <a:xfrm>
            <a:off x="3488602" y="5442221"/>
            <a:ext cx="13716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策略优化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9196647" y="2890991"/>
            <a:ext cx="2390775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实测视频展示-20℃低温环境下指纹识别通过率仍达99.7%。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9196647" y="1773732"/>
            <a:ext cx="188825" cy="188825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1" name="AutoShape 41"/>
          <p:cNvSpPr/>
          <p:nvPr/>
        </p:nvSpPr>
        <p:spPr>
          <a:xfrm>
            <a:off x="2813006" y="1773732"/>
            <a:ext cx="188825" cy="188825"/>
          </a:xfrm>
          <a:prstGeom prst="rect">
            <a:avLst/>
          </a:prstGeom>
          <a:solidFill>
            <a:schemeClr val="accent5">
              <a:alpha val="100000"/>
            </a:schemeClr>
          </a:solidFill>
        </p:spPr>
      </p:sp>
      <p:sp>
        <p:nvSpPr>
          <p:cNvPr id="42" name="AutoShape 42"/>
          <p:cNvSpPr/>
          <p:nvPr/>
        </p:nvSpPr>
        <p:spPr>
          <a:xfrm>
            <a:off x="7384473" y="5198576"/>
            <a:ext cx="188825" cy="188825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43" name="TextBox 4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测试报告与性能数据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75525" y="1669708"/>
            <a:ext cx="5229225" cy="45339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marL="228600" lvl="1" indent="-228600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量增额减矛盾凸显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: 2023Q1销量同比微增1.2%至70.7万套，但销额同比暴跌17.9%至7.4亿元，</a:t>
            </a: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均价同比下滑18.9%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至1048元，反映价格战白热化。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季度波动剧烈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: 环比2022Q4，销量与销额分别骤降43.3%和54.5%，显示年末促销透支需求后，2023Q1进入深度调整期。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市场两极分化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: 高端市场（3500+元）销量逆势增长2.2%，与千元以下产品形成双轨并行，</a:t>
            </a: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TOP5品牌格局稳固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印证头部企业抗风险能力。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2752" y="1791628"/>
            <a:ext cx="4876800" cy="417767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用户反馈与市场表现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07</a:t>
            </a:r>
            <a:endParaRPr lang="en-US" sz="762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总结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>
            <p:custDataLst>
              <p:tags r:id="rId2"/>
            </p:custDataLst>
          </p:nvPr>
        </p:nvSpPr>
        <p:spPr>
          <a:xfrm>
            <a:off x="4677172" y="2606336"/>
            <a:ext cx="2786856" cy="2786856"/>
          </a:xfrm>
          <a:custGeom>
            <a:avLst/>
            <a:gdLst/>
            <a:ahLst/>
            <a:cxnLst/>
            <a:rect l="l" t="t" r="r" b="b"/>
            <a:pathLst>
              <a:path w="1665731" h="1665731">
                <a:moveTo>
                  <a:pt x="1665732" y="832866"/>
                </a:moveTo>
                <a:cubicBezTo>
                  <a:pt x="1665732" y="1292845"/>
                  <a:pt x="1292845" y="1665732"/>
                  <a:pt x="832866" y="1665732"/>
                </a:cubicBezTo>
                <a:cubicBezTo>
                  <a:pt x="372887" y="1665732"/>
                  <a:pt x="0" y="1292845"/>
                  <a:pt x="0" y="832866"/>
                </a:cubicBezTo>
                <a:cubicBezTo>
                  <a:pt x="0" y="372887"/>
                  <a:pt x="372887" y="0"/>
                  <a:pt x="832866" y="0"/>
                </a:cubicBezTo>
                <a:cubicBezTo>
                  <a:pt x="1292845" y="0"/>
                  <a:pt x="1665732" y="372887"/>
                  <a:pt x="1665732" y="832866"/>
                </a:cubicBez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3" name="AutoShape 3"/>
          <p:cNvSpPr/>
          <p:nvPr>
            <p:custDataLst>
              <p:tags r:id="rId3"/>
            </p:custDataLst>
          </p:nvPr>
        </p:nvSpPr>
        <p:spPr>
          <a:xfrm>
            <a:off x="2108736" y="1364966"/>
            <a:ext cx="7911028" cy="1036393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4" name="Freeform 4"/>
          <p:cNvSpPr/>
          <p:nvPr>
            <p:custDataLst>
              <p:tags r:id="rId4"/>
            </p:custDataLst>
          </p:nvPr>
        </p:nvSpPr>
        <p:spPr>
          <a:xfrm>
            <a:off x="7009566" y="2926691"/>
            <a:ext cx="2343984" cy="2343985"/>
          </a:xfrm>
          <a:custGeom>
            <a:avLst/>
            <a:gdLst/>
            <a:ahLst/>
            <a:cxnLst/>
            <a:rect l="l" t="t" r="r" b="b"/>
            <a:pathLst>
              <a:path w="1665731" h="1665731">
                <a:moveTo>
                  <a:pt x="1665732" y="832866"/>
                </a:moveTo>
                <a:cubicBezTo>
                  <a:pt x="1665732" y="1292845"/>
                  <a:pt x="1292845" y="1665732"/>
                  <a:pt x="832866" y="1665732"/>
                </a:cubicBezTo>
                <a:cubicBezTo>
                  <a:pt x="372887" y="1665732"/>
                  <a:pt x="0" y="1292845"/>
                  <a:pt x="0" y="832866"/>
                </a:cubicBezTo>
                <a:cubicBezTo>
                  <a:pt x="0" y="372887"/>
                  <a:pt x="372887" y="0"/>
                  <a:pt x="832866" y="0"/>
                </a:cubicBezTo>
                <a:cubicBezTo>
                  <a:pt x="1292845" y="0"/>
                  <a:pt x="1665732" y="372887"/>
                  <a:pt x="1665732" y="832866"/>
                </a:cubicBez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5" name="Freeform 5"/>
          <p:cNvSpPr/>
          <p:nvPr>
            <p:custDataLst>
              <p:tags r:id="rId5"/>
            </p:custDataLst>
          </p:nvPr>
        </p:nvSpPr>
        <p:spPr>
          <a:xfrm>
            <a:off x="7159096" y="3076221"/>
            <a:ext cx="2044924" cy="2044924"/>
          </a:xfrm>
          <a:custGeom>
            <a:avLst/>
            <a:gdLst/>
            <a:ahLst/>
            <a:cxnLst/>
            <a:rect l="l" t="t" r="r" b="b"/>
            <a:pathLst>
              <a:path w="2286381" h="2286380">
                <a:moveTo>
                  <a:pt x="2286381" y="1143191"/>
                </a:moveTo>
                <a:cubicBezTo>
                  <a:pt x="2286381" y="1774557"/>
                  <a:pt x="1774557" y="2286381"/>
                  <a:pt x="1143190" y="2286381"/>
                </a:cubicBezTo>
                <a:cubicBezTo>
                  <a:pt x="511823" y="2286381"/>
                  <a:pt x="-1" y="1774557"/>
                  <a:pt x="-1" y="1143191"/>
                </a:cubicBezTo>
                <a:cubicBezTo>
                  <a:pt x="-1" y="511824"/>
                  <a:pt x="511823" y="0"/>
                  <a:pt x="1143190" y="0"/>
                </a:cubicBezTo>
                <a:cubicBezTo>
                  <a:pt x="1774557" y="0"/>
                  <a:pt x="2286381" y="511824"/>
                  <a:pt x="2286381" y="1143191"/>
                </a:cubicBez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6" name="Freeform 6"/>
          <p:cNvSpPr/>
          <p:nvPr>
            <p:custDataLst>
              <p:tags r:id="rId6"/>
            </p:custDataLst>
          </p:nvPr>
        </p:nvSpPr>
        <p:spPr>
          <a:xfrm>
            <a:off x="2832598" y="2926691"/>
            <a:ext cx="2343984" cy="2343985"/>
          </a:xfrm>
          <a:custGeom>
            <a:avLst/>
            <a:gdLst/>
            <a:ahLst/>
            <a:cxnLst/>
            <a:rect l="l" t="t" r="r" b="b"/>
            <a:pathLst>
              <a:path w="1665731" h="1665731">
                <a:moveTo>
                  <a:pt x="1665732" y="832866"/>
                </a:moveTo>
                <a:cubicBezTo>
                  <a:pt x="1665732" y="1292845"/>
                  <a:pt x="1292845" y="1665732"/>
                  <a:pt x="832866" y="1665732"/>
                </a:cubicBezTo>
                <a:cubicBezTo>
                  <a:pt x="372887" y="1665732"/>
                  <a:pt x="0" y="1292845"/>
                  <a:pt x="0" y="832866"/>
                </a:cubicBezTo>
                <a:cubicBezTo>
                  <a:pt x="0" y="372887"/>
                  <a:pt x="372887" y="0"/>
                  <a:pt x="832866" y="0"/>
                </a:cubicBezTo>
                <a:cubicBezTo>
                  <a:pt x="1292845" y="0"/>
                  <a:pt x="1665732" y="372887"/>
                  <a:pt x="1665732" y="832866"/>
                </a:cubicBez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7" name="Freeform 7"/>
          <p:cNvSpPr/>
          <p:nvPr>
            <p:custDataLst>
              <p:tags r:id="rId7"/>
            </p:custDataLst>
          </p:nvPr>
        </p:nvSpPr>
        <p:spPr>
          <a:xfrm>
            <a:off x="2982128" y="3076221"/>
            <a:ext cx="2044924" cy="2044924"/>
          </a:xfrm>
          <a:custGeom>
            <a:avLst/>
            <a:gdLst/>
            <a:ahLst/>
            <a:cxnLst/>
            <a:rect l="l" t="t" r="r" b="b"/>
            <a:pathLst>
              <a:path w="2286381" h="2286380">
                <a:moveTo>
                  <a:pt x="2286381" y="1143191"/>
                </a:moveTo>
                <a:cubicBezTo>
                  <a:pt x="2286381" y="1774557"/>
                  <a:pt x="1774557" y="2286381"/>
                  <a:pt x="1143190" y="2286381"/>
                </a:cubicBezTo>
                <a:cubicBezTo>
                  <a:pt x="511823" y="2286381"/>
                  <a:pt x="-1" y="1774557"/>
                  <a:pt x="-1" y="1143191"/>
                </a:cubicBezTo>
                <a:cubicBezTo>
                  <a:pt x="-1" y="511824"/>
                  <a:pt x="511823" y="0"/>
                  <a:pt x="1143190" y="0"/>
                </a:cubicBezTo>
                <a:cubicBezTo>
                  <a:pt x="1774557" y="0"/>
                  <a:pt x="2286381" y="511824"/>
                  <a:pt x="2286381" y="1143191"/>
                </a:cubicBez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2241550" y="5841389"/>
            <a:ext cx="7658100" cy="419100"/>
          </a:xfrm>
          <a:prstGeom prst="roundRect">
            <a:avLst>
              <a:gd name="adj" fmla="val 50000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9" name="AutoShape 9"/>
          <p:cNvSpPr/>
          <p:nvPr/>
        </p:nvSpPr>
        <p:spPr>
          <a:xfrm>
            <a:off x="10121900" y="3345839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838200" y="3345839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10121900" y="3923689"/>
            <a:ext cx="1187450" cy="48895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838200" y="3923689"/>
            <a:ext cx="1187450" cy="48895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10121900" y="4507889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838200" y="4514977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5" name="Freeform 15"/>
          <p:cNvSpPr/>
          <p:nvPr>
            <p:custDataLst>
              <p:tags r:id="rId9"/>
            </p:custDataLst>
          </p:nvPr>
        </p:nvSpPr>
        <p:spPr>
          <a:xfrm>
            <a:off x="4940300" y="5924447"/>
            <a:ext cx="6350" cy="225425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16" name="Freeform 16"/>
          <p:cNvSpPr/>
          <p:nvPr>
            <p:custDataLst>
              <p:tags r:id="rId10"/>
            </p:custDataLst>
          </p:nvPr>
        </p:nvSpPr>
        <p:spPr>
          <a:xfrm>
            <a:off x="7200900" y="5924447"/>
            <a:ext cx="6350" cy="225425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17" name="Freeform 17"/>
          <p:cNvSpPr/>
          <p:nvPr>
            <p:custDataLst>
              <p:tags r:id="rId11"/>
            </p:custDataLst>
          </p:nvPr>
        </p:nvSpPr>
        <p:spPr>
          <a:xfrm>
            <a:off x="2373898" y="3971422"/>
            <a:ext cx="347129" cy="380784"/>
          </a:xfrm>
          <a:custGeom>
            <a:avLst/>
            <a:gdLst/>
            <a:ahLst/>
            <a:cxnLst/>
            <a:rect l="l" t="t" r="r" b="b"/>
            <a:pathLst>
              <a:path w="347129" h="380784">
                <a:moveTo>
                  <a:pt x="347129" y="294538"/>
                </a:moveTo>
                <a:lnTo>
                  <a:pt x="347129" y="86265"/>
                </a:lnTo>
                <a:lnTo>
                  <a:pt x="260344" y="86265"/>
                </a:lnTo>
                <a:lnTo>
                  <a:pt x="260344" y="0"/>
                </a:lnTo>
                <a:lnTo>
                  <a:pt x="0" y="190392"/>
                </a:lnTo>
                <a:lnTo>
                  <a:pt x="260344" y="380784"/>
                </a:lnTo>
                <a:lnTo>
                  <a:pt x="260344" y="294538"/>
                </a:lnTo>
                <a:lnTo>
                  <a:pt x="347129" y="294538"/>
                </a:lnTo>
              </a:path>
            </a:pathLst>
          </a:custGeom>
          <a:gradFill>
            <a:gsLst>
              <a:gs pos="0">
                <a:schemeClr val="accent6">
                  <a:alpha val="0"/>
                </a:schemeClr>
              </a:gs>
              <a:gs pos="100000">
                <a:schemeClr val="accent6">
                  <a:alpha val="50000"/>
                </a:schemeClr>
              </a:gs>
            </a:gsLst>
            <a:lin ang="10800000"/>
          </a:gradFill>
        </p:spPr>
      </p:sp>
      <p:sp>
        <p:nvSpPr>
          <p:cNvPr id="18" name="Freeform 18"/>
          <p:cNvSpPr/>
          <p:nvPr>
            <p:custDataLst>
              <p:tags r:id="rId12"/>
            </p:custDataLst>
          </p:nvPr>
        </p:nvSpPr>
        <p:spPr>
          <a:xfrm>
            <a:off x="9464443" y="3971422"/>
            <a:ext cx="347154" cy="380784"/>
          </a:xfrm>
          <a:custGeom>
            <a:avLst/>
            <a:gdLst/>
            <a:ahLst/>
            <a:cxnLst/>
            <a:rect l="l" t="t" r="r" b="b"/>
            <a:pathLst>
              <a:path w="347154" h="380784">
                <a:moveTo>
                  <a:pt x="0" y="294538"/>
                </a:moveTo>
                <a:lnTo>
                  <a:pt x="0" y="86265"/>
                </a:lnTo>
                <a:lnTo>
                  <a:pt x="86805" y="86265"/>
                </a:lnTo>
                <a:lnTo>
                  <a:pt x="86805" y="0"/>
                </a:lnTo>
                <a:lnTo>
                  <a:pt x="347155" y="190392"/>
                </a:lnTo>
                <a:lnTo>
                  <a:pt x="86805" y="380784"/>
                </a:lnTo>
                <a:lnTo>
                  <a:pt x="86805" y="294538"/>
                </a:lnTo>
                <a:lnTo>
                  <a:pt x="0" y="294538"/>
                </a:lnTo>
              </a:path>
            </a:pathLst>
          </a:custGeom>
          <a:gradFill>
            <a:gsLst>
              <a:gs pos="0">
                <a:schemeClr val="accent6">
                  <a:alpha val="0"/>
                </a:schemeClr>
              </a:gs>
              <a:gs pos="100000">
                <a:schemeClr val="accent6">
                  <a:alpha val="50000"/>
                </a:schemeClr>
              </a:gs>
            </a:gsLst>
            <a:lin ang="0"/>
          </a:gradFill>
        </p:spPr>
      </p:sp>
      <p:sp>
        <p:nvSpPr>
          <p:cNvPr id="19" name="TextBox 19"/>
          <p:cNvSpPr txBox="1"/>
          <p:nvPr>
            <p:custDataLst>
              <p:tags r:id="rId13"/>
            </p:custDataLst>
          </p:nvPr>
        </p:nvSpPr>
        <p:spPr>
          <a:xfrm>
            <a:off x="3200219" y="3687612"/>
            <a:ext cx="1476375" cy="3073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安全意识</a:t>
            </a:r>
            <a:endParaRPr lang="zh-CN" altLang="en-US" sz="20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0" name="TextBox 20"/>
          <p:cNvSpPr txBox="1"/>
          <p:nvPr>
            <p:custDataLst>
              <p:tags r:id="rId14"/>
            </p:custDataLst>
          </p:nvPr>
        </p:nvSpPr>
        <p:spPr>
          <a:xfrm>
            <a:off x="3200219" y="4103221"/>
            <a:ext cx="1495425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7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生物识别需求增长200%，临时密码功能使用率超预期</a:t>
            </a:r>
            <a:endParaRPr lang="en-US" sz="7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1" name="TextBox 21"/>
          <p:cNvSpPr txBox="1"/>
          <p:nvPr>
            <p:custDataLst>
              <p:tags r:id="rId15"/>
            </p:custDataLst>
          </p:nvPr>
        </p:nvSpPr>
        <p:spPr>
          <a:xfrm>
            <a:off x="7479027" y="3687612"/>
            <a:ext cx="1495425" cy="3073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敏捷开发</a:t>
            </a:r>
            <a:endParaRPr lang="zh-CN" altLang="en-US" sz="20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2" name="TextBox 22"/>
          <p:cNvSpPr txBox="1"/>
          <p:nvPr>
            <p:custDataLst>
              <p:tags r:id="rId16"/>
            </p:custDataLst>
          </p:nvPr>
        </p:nvSpPr>
        <p:spPr>
          <a:xfrm>
            <a:off x="7479027" y="4103221"/>
            <a:ext cx="1495425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7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年销量突破50万台，渠道复购率达65%，成功进入高端市场</a:t>
            </a:r>
            <a:endParaRPr lang="en-US" sz="7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3" name="TextBox 23"/>
          <p:cNvSpPr txBox="1"/>
          <p:nvPr>
            <p:custDataLst>
              <p:tags r:id="rId17"/>
            </p:custDataLst>
          </p:nvPr>
        </p:nvSpPr>
        <p:spPr>
          <a:xfrm>
            <a:off x="2832598" y="5965206"/>
            <a:ext cx="17526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流程优化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4" name="TextBox 24"/>
          <p:cNvSpPr txBox="1"/>
          <p:nvPr>
            <p:custDataLst>
              <p:tags r:id="rId18"/>
            </p:custDataLst>
          </p:nvPr>
        </p:nvSpPr>
        <p:spPr>
          <a:xfrm>
            <a:off x="5176582" y="5965206"/>
            <a:ext cx="1647825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模式创新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5" name="TextBox 25"/>
          <p:cNvSpPr txBox="1"/>
          <p:nvPr>
            <p:custDataLst>
              <p:tags r:id="rId19"/>
            </p:custDataLst>
          </p:nvPr>
        </p:nvSpPr>
        <p:spPr>
          <a:xfrm>
            <a:off x="7464028" y="5965206"/>
            <a:ext cx="1514475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可视化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74920" y="3494806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安防需求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51864" y="4075831"/>
            <a:ext cx="7620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远程管理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74921" y="4663944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应急供电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255101" y="3521330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销量增长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255101" y="4075831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渠道拓展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255103" y="4656856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高端突破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2" name="AutoShape 32"/>
          <p:cNvSpPr/>
          <p:nvPr>
            <p:custDataLst>
              <p:tags r:id="rId20"/>
            </p:custDataLst>
          </p:nvPr>
        </p:nvSpPr>
        <p:spPr>
          <a:xfrm>
            <a:off x="4818053" y="2744042"/>
            <a:ext cx="2511444" cy="251144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33" name="TextBox 33"/>
          <p:cNvSpPr txBox="1"/>
          <p:nvPr>
            <p:custDataLst>
              <p:tags r:id="rId21"/>
            </p:custDataLst>
          </p:nvPr>
        </p:nvSpPr>
        <p:spPr>
          <a:xfrm>
            <a:off x="5027052" y="3504589"/>
            <a:ext cx="2133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2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核心成果</a:t>
            </a:r>
            <a:endParaRPr lang="en-US" sz="22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4" name="TextBox 34"/>
          <p:cNvSpPr txBox="1"/>
          <p:nvPr>
            <p:custDataLst>
              <p:tags r:id="rId22"/>
            </p:custDataLst>
          </p:nvPr>
        </p:nvSpPr>
        <p:spPr>
          <a:xfrm>
            <a:off x="5322887" y="4098684"/>
            <a:ext cx="1495425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8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形成5大产品系列20款SKU</a:t>
            </a:r>
            <a:endParaRPr lang="en-US" sz="8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5" name="TextBox 35"/>
          <p:cNvSpPr txBox="1"/>
          <p:nvPr>
            <p:custDataLst>
              <p:tags r:id="rId23"/>
            </p:custDataLst>
          </p:nvPr>
        </p:nvSpPr>
        <p:spPr>
          <a:xfrm>
            <a:off x="2951038" y="1772216"/>
            <a:ext cx="1630680" cy="245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软著</a:t>
            </a: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已投</a:t>
            </a:r>
            <a:endParaRPr lang="zh-CN" alt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6" name="TextBox 36"/>
          <p:cNvSpPr txBox="1"/>
          <p:nvPr>
            <p:custDataLst>
              <p:tags r:id="rId24"/>
            </p:custDataLst>
          </p:nvPr>
        </p:nvSpPr>
        <p:spPr>
          <a:xfrm>
            <a:off x="5476141" y="1772216"/>
            <a:ext cx="1630680" cy="245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专利</a:t>
            </a: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在撰写</a:t>
            </a:r>
            <a:endParaRPr lang="zh-CN" alt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7" name="TextBox 37"/>
          <p:cNvSpPr txBox="1"/>
          <p:nvPr>
            <p:custDataLst>
              <p:tags r:id="rId25"/>
            </p:custDataLst>
          </p:nvPr>
        </p:nvSpPr>
        <p:spPr>
          <a:xfrm>
            <a:off x="8036243" y="1760608"/>
            <a:ext cx="1630680" cy="245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系统</a:t>
            </a: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一套</a:t>
            </a:r>
            <a:endParaRPr lang="zh-CN" alt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8" name="Freeform 38"/>
          <p:cNvSpPr/>
          <p:nvPr>
            <p:custDataLst>
              <p:tags r:id="rId26"/>
            </p:custDataLst>
          </p:nvPr>
        </p:nvSpPr>
        <p:spPr>
          <a:xfrm flipH="1">
            <a:off x="4613980" y="1601520"/>
            <a:ext cx="104644" cy="563284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39" name="Freeform 39"/>
          <p:cNvSpPr/>
          <p:nvPr>
            <p:custDataLst>
              <p:tags r:id="rId27"/>
            </p:custDataLst>
          </p:nvPr>
        </p:nvSpPr>
        <p:spPr>
          <a:xfrm flipH="1">
            <a:off x="7160075" y="1601520"/>
            <a:ext cx="104644" cy="563284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40" name="TextBox 4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项目成果与经验总结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AutoShape 41"/>
          <p:cNvSpPr/>
          <p:nvPr>
            <p:custDataLst>
              <p:tags r:id="rId28"/>
            </p:custDataLst>
          </p:nvPr>
        </p:nvSpPr>
        <p:spPr>
          <a:xfrm>
            <a:off x="4912805" y="1609344"/>
            <a:ext cx="547688" cy="547688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2" name="AutoShape 42"/>
          <p:cNvSpPr/>
          <p:nvPr>
            <p:custDataLst>
              <p:tags r:id="rId29"/>
            </p:custDataLst>
          </p:nvPr>
        </p:nvSpPr>
        <p:spPr>
          <a:xfrm>
            <a:off x="7488555" y="1609344"/>
            <a:ext cx="547688" cy="547688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3" name="AutoShape 43"/>
          <p:cNvSpPr/>
          <p:nvPr>
            <p:custDataLst>
              <p:tags r:id="rId30"/>
            </p:custDataLst>
          </p:nvPr>
        </p:nvSpPr>
        <p:spPr>
          <a:xfrm>
            <a:off x="2385632" y="1609344"/>
            <a:ext cx="547688" cy="547688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4" name="Freeform 44"/>
          <p:cNvSpPr/>
          <p:nvPr>
            <p:custDataLst>
              <p:tags r:id="rId31"/>
            </p:custDataLst>
          </p:nvPr>
        </p:nvSpPr>
        <p:spPr>
          <a:xfrm>
            <a:off x="2583053" y="1702133"/>
            <a:ext cx="259070" cy="32609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45" name="Freeform 45"/>
          <p:cNvSpPr/>
          <p:nvPr>
            <p:custDataLst>
              <p:tags r:id="rId32"/>
            </p:custDataLst>
          </p:nvPr>
        </p:nvSpPr>
        <p:spPr>
          <a:xfrm>
            <a:off x="7696200" y="1709525"/>
            <a:ext cx="242988" cy="30584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46" name="Freeform 46"/>
          <p:cNvSpPr/>
          <p:nvPr>
            <p:custDataLst>
              <p:tags r:id="rId33"/>
            </p:custDataLst>
          </p:nvPr>
        </p:nvSpPr>
        <p:spPr>
          <a:xfrm>
            <a:off x="5091113" y="1711835"/>
            <a:ext cx="263652" cy="33185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3449955" y="2133029"/>
            <a:ext cx="3245644" cy="3385185"/>
          </a:xfrm>
          <a:custGeom>
            <a:avLst/>
            <a:gdLst/>
            <a:ahLst/>
            <a:cxnLst/>
            <a:rect l="l" t="t" r="r" b="b"/>
            <a:pathLst>
              <a:path w="3402972" h="3183330">
                <a:moveTo>
                  <a:pt x="3402972" y="2951292"/>
                </a:moveTo>
                <a:lnTo>
                  <a:pt x="3401339" y="2946878"/>
                </a:lnTo>
                <a:lnTo>
                  <a:pt x="3401913" y="2946879"/>
                </a:lnTo>
                <a:lnTo>
                  <a:pt x="3400314" y="2944104"/>
                </a:lnTo>
                <a:lnTo>
                  <a:pt x="3394198" y="2927568"/>
                </a:lnTo>
                <a:lnTo>
                  <a:pt x="3387149" y="2921261"/>
                </a:lnTo>
                <a:lnTo>
                  <a:pt x="1703616" y="0"/>
                </a:lnTo>
                <a:lnTo>
                  <a:pt x="0" y="2937942"/>
                </a:lnTo>
                <a:lnTo>
                  <a:pt x="9186" y="2937966"/>
                </a:lnTo>
                <a:lnTo>
                  <a:pt x="4258" y="2951292"/>
                </a:lnTo>
                <a:cubicBezTo>
                  <a:pt x="4258" y="3079443"/>
                  <a:pt x="765086" y="3183330"/>
                  <a:pt x="1703615" y="3183330"/>
                </a:cubicBezTo>
                <a:cubicBezTo>
                  <a:pt x="2642144" y="3183330"/>
                  <a:pt x="3402972" y="3079443"/>
                  <a:pt x="3402972" y="2951292"/>
                </a:cubicBezTo>
              </a:path>
            </a:pathLst>
          </a:custGeom>
          <a:gradFill>
            <a:gsLst>
              <a:gs pos="10000">
                <a:schemeClr val="lt1">
                  <a:alpha val="100000"/>
                </a:schemeClr>
              </a:gs>
              <a:gs pos="38000">
                <a:schemeClr val="accent1">
                  <a:alpha val="100000"/>
                </a:schemeClr>
              </a:gs>
            </a:gsLst>
            <a:lin ang="16140000"/>
          </a:gradFill>
        </p:spPr>
      </p:sp>
      <p:sp>
        <p:nvSpPr>
          <p:cNvPr id="3" name="Freeform 3"/>
          <p:cNvSpPr/>
          <p:nvPr/>
        </p:nvSpPr>
        <p:spPr>
          <a:xfrm>
            <a:off x="5640419" y="1926050"/>
            <a:ext cx="2928938" cy="3799237"/>
          </a:xfrm>
          <a:custGeom>
            <a:avLst/>
            <a:gdLst/>
            <a:ahLst/>
            <a:cxnLst/>
            <a:rect l="l" t="t" r="r" b="b"/>
            <a:pathLst>
              <a:path w="3183330" h="3402972">
                <a:moveTo>
                  <a:pt x="2951292" y="0"/>
                </a:moveTo>
                <a:cubicBezTo>
                  <a:pt x="3079443" y="0"/>
                  <a:pt x="3183330" y="760828"/>
                  <a:pt x="3183330" y="1699357"/>
                </a:cubicBezTo>
                <a:cubicBezTo>
                  <a:pt x="3183330" y="2637886"/>
                  <a:pt x="3079443" y="3398714"/>
                  <a:pt x="2951292" y="3398714"/>
                </a:cubicBezTo>
                <a:lnTo>
                  <a:pt x="2937966" y="3393786"/>
                </a:lnTo>
                <a:lnTo>
                  <a:pt x="2937942" y="3402972"/>
                </a:lnTo>
                <a:lnTo>
                  <a:pt x="0" y="1699356"/>
                </a:lnTo>
                <a:lnTo>
                  <a:pt x="2921261" y="15823"/>
                </a:lnTo>
                <a:lnTo>
                  <a:pt x="2927568" y="8774"/>
                </a:lnTo>
                <a:lnTo>
                  <a:pt x="2944104" y="2658"/>
                </a:lnTo>
                <a:lnTo>
                  <a:pt x="2946879" y="1059"/>
                </a:lnTo>
                <a:lnTo>
                  <a:pt x="2946878" y="1633"/>
                </a:lnTo>
              </a:path>
            </a:pathLst>
          </a:custGeom>
          <a:gradFill>
            <a:gsLst>
              <a:gs pos="0">
                <a:schemeClr val="l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10800000"/>
          </a:gradFill>
        </p:spPr>
        <p:txBody>
          <a:bodyPr vert="horz" wrap="square" rtlCol="0" anchor="t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flipV="1">
            <a:off x="3460202" y="3842118"/>
            <a:ext cx="3262396" cy="2320470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72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cxnSp>
        <p:nvCxnSpPr>
          <p:cNvPr id="5" name="Connector 5"/>
          <p:cNvCxnSpPr/>
          <p:nvPr/>
        </p:nvCxnSpPr>
        <p:spPr>
          <a:xfrm flipH="1" flipV="1">
            <a:off x="5582919" y="3914924"/>
            <a:ext cx="3144747" cy="2247664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  <a:lumMod val="45000"/>
                    <a:lumOff val="55000"/>
                  </a:schemeClr>
                </a:gs>
                <a:gs pos="66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sp>
        <p:nvSpPr>
          <p:cNvPr id="6" name="TextBox 6"/>
          <p:cNvSpPr txBox="1"/>
          <p:nvPr/>
        </p:nvSpPr>
        <p:spPr>
          <a:xfrm flipH="1">
            <a:off x="4191476" y="1578440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技术突破</a:t>
            </a:r>
            <a:endParaRPr lang="en-US" sz="16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7" name="TextBox 7"/>
          <p:cNvSpPr txBox="1"/>
          <p:nvPr/>
        </p:nvSpPr>
        <p:spPr>
          <a:xfrm flipH="1">
            <a:off x="4191476" y="5634699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体验升级</a:t>
            </a:r>
            <a:endParaRPr lang="en-US" sz="16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191476" y="5858933"/>
            <a:ext cx="3766947" cy="243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900">
                <a:solidFill>
                  <a:schemeClr val="accent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ENHANCE CORE TECH</a:t>
            </a:r>
            <a:endParaRPr lang="en-US" sz="900">
              <a:solidFill>
                <a:schemeClr val="accent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9" name="AutoShape 9"/>
          <p:cNvSpPr/>
          <p:nvPr/>
        </p:nvSpPr>
        <p:spPr>
          <a:xfrm rot="10800000">
            <a:off x="5747076" y="2090189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</p:sp>
      <p:sp>
        <p:nvSpPr>
          <p:cNvPr id="10" name="TextBox 10"/>
          <p:cNvSpPr txBox="1"/>
          <p:nvPr/>
        </p:nvSpPr>
        <p:spPr>
          <a:xfrm>
            <a:off x="4191476" y="1801250"/>
            <a:ext cx="3766947" cy="243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900">
                <a:solidFill>
                  <a:schemeClr val="accent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SOLVE PAIN POINTS</a:t>
            </a:r>
            <a:endParaRPr lang="en-US" sz="900">
              <a:solidFill>
                <a:schemeClr val="accent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747076" y="4434211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</p:sp>
      <p:sp>
        <p:nvSpPr>
          <p:cNvPr id="12" name="AutoShape 12"/>
          <p:cNvSpPr/>
          <p:nvPr/>
        </p:nvSpPr>
        <p:spPr>
          <a:xfrm>
            <a:off x="8803664" y="148021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8803665" y="148359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14" name="TextBox 14"/>
          <p:cNvSpPr txBox="1"/>
          <p:nvPr/>
        </p:nvSpPr>
        <p:spPr>
          <a:xfrm>
            <a:off x="8920151" y="193869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升级多光谱传感器，融合3D人脸建模技术，将弱光识别率提升至98%以上。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803664" y="156193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增强识别算法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75560" y="515458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375561" y="5157967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8" name="TextBox 18"/>
          <p:cNvSpPr txBox="1"/>
          <p:nvPr/>
        </p:nvSpPr>
        <p:spPr>
          <a:xfrm>
            <a:off x="492047" y="561306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基础功能与竞品差异小，缺乏具有市场竞争力的创新功能设计。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75560" y="5226368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问题4.功能同质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803664" y="515458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1" name="AutoShape 21"/>
          <p:cNvSpPr/>
          <p:nvPr/>
        </p:nvSpPr>
        <p:spPr>
          <a:xfrm>
            <a:off x="8803665" y="515796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22" name="TextBox 22"/>
          <p:cNvSpPr txBox="1"/>
          <p:nvPr/>
        </p:nvSpPr>
        <p:spPr>
          <a:xfrm>
            <a:off x="8920151" y="561306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集成居家安全监测系统，新增燃气泄漏预警与紧急联系人联动功能。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803664" y="523630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开发增值功能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375562" y="272627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5" name="AutoShape 25"/>
          <p:cNvSpPr/>
          <p:nvPr/>
        </p:nvSpPr>
        <p:spPr>
          <a:xfrm>
            <a:off x="375563" y="2733144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26" name="TextBox 26"/>
          <p:cNvSpPr txBox="1"/>
          <p:nvPr/>
        </p:nvSpPr>
        <p:spPr>
          <a:xfrm>
            <a:off x="492049" y="3188242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部分型号电池续航时间未达行业标准，频繁充电增加用户负担。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75560" y="2788920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问题2.续航不足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375562" y="3940431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>
            <a:off x="375563" y="3943809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30" name="TextBox 30"/>
          <p:cNvSpPr txBox="1"/>
          <p:nvPr/>
        </p:nvSpPr>
        <p:spPr>
          <a:xfrm>
            <a:off x="492049" y="4398907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传统机械锁体改造需专业工具，普通用户自主安装成功率不足60%。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75560" y="4012882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问题3.安装复杂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803664" y="270500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3" name="AutoShape 33"/>
          <p:cNvSpPr/>
          <p:nvPr/>
        </p:nvSpPr>
        <p:spPr>
          <a:xfrm>
            <a:off x="8803665" y="270838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4" name="TextBox 34"/>
          <p:cNvSpPr txBox="1"/>
          <p:nvPr/>
        </p:nvSpPr>
        <p:spPr>
          <a:xfrm>
            <a:off x="8920151" y="3163485"/>
            <a:ext cx="2695575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采用双电池仓设计，支持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Type-C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快充，使续航时间延长至12个月。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803664" y="278672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改进电源管理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8803664" y="3940432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7" name="AutoShape 37"/>
          <p:cNvSpPr/>
          <p:nvPr/>
        </p:nvSpPr>
        <p:spPr>
          <a:xfrm>
            <a:off x="8803665" y="3943810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8" name="TextBox 38"/>
          <p:cNvSpPr txBox="1"/>
          <p:nvPr/>
        </p:nvSpPr>
        <p:spPr>
          <a:xfrm>
            <a:off x="8920151" y="4398908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开发免工具安装套件，配套AR指导应用，实现用户自主安装率90%+。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803664" y="4022152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简化安装流程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改进建议与优化方向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375571" y="1512094"/>
            <a:ext cx="3023997" cy="100803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42" name="AutoShape 42"/>
          <p:cNvSpPr/>
          <p:nvPr/>
        </p:nvSpPr>
        <p:spPr>
          <a:xfrm>
            <a:off x="375571" y="1515523"/>
            <a:ext cx="2015966" cy="324041"/>
          </a:xfrm>
          <a:prstGeom prst="rect">
            <a:avLst/>
          </a:prstGeom>
          <a:solidFill>
            <a:schemeClr val="accent1">
              <a:alpha val="100000"/>
            </a:schemeClr>
          </a:solidFill>
          <a:ln w="22225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43" name="TextBox 43"/>
          <p:cNvSpPr txBox="1"/>
          <p:nvPr/>
        </p:nvSpPr>
        <p:spPr>
          <a:xfrm>
            <a:off x="492061" y="1970627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人脸识别功能在弱光环境下准确率下降明显，影响用户体验。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75560" y="1584008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问题1.识别率波动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45" name="Connector 45"/>
          <p:cNvCxnSpPr/>
          <p:nvPr/>
        </p:nvCxnSpPr>
        <p:spPr>
          <a:xfrm>
            <a:off x="3460202" y="1514912"/>
            <a:ext cx="3280788" cy="2326252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72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cxnSp>
        <p:nvCxnSpPr>
          <p:cNvPr id="46" name="Connector 46"/>
          <p:cNvCxnSpPr/>
          <p:nvPr/>
        </p:nvCxnSpPr>
        <p:spPr>
          <a:xfrm flipH="1">
            <a:off x="5452951" y="1490258"/>
            <a:ext cx="3274715" cy="2355153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  <a:lumMod val="45000"/>
                    <a:lumOff val="55000"/>
                  </a:schemeClr>
                </a:gs>
                <a:gs pos="66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sp>
        <p:nvSpPr>
          <p:cNvPr id="47" name="AutoShape 47"/>
          <p:cNvSpPr/>
          <p:nvPr/>
        </p:nvSpPr>
        <p:spPr>
          <a:xfrm>
            <a:off x="6996303" y="3354229"/>
            <a:ext cx="962120" cy="93326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3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优化方案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4191476" y="3244787"/>
            <a:ext cx="1077849" cy="11521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3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现存问题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6019991" y="3694366"/>
            <a:ext cx="180880" cy="252031"/>
          </a:xfrm>
          <a:prstGeom prst="chevron">
            <a:avLst/>
          </a:prstGeom>
          <a:solidFill>
            <a:schemeClr val="lt1">
              <a:alpha val="100000"/>
            </a:schemeClr>
          </a:solidFill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344" y="4175232"/>
            <a:ext cx="9197874" cy="235962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品牌是一种商业用语，品牌注册后形成商标，企业即获得法律保护拥有其专用权；品牌是企业长期努力经营的结果</a:t>
            </a:r>
            <a:endParaRPr lang="en-US" sz="1200">
              <a:solidFill>
                <a:srgbClr val="000000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29344" y="1817644"/>
            <a:ext cx="3302482" cy="235962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品牌体现了生产者的某些价值感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8438362" y="4742819"/>
            <a:ext cx="2728834" cy="1439997"/>
          </a:xfrm>
          <a:prstGeom prst="rect">
            <a:avLst/>
          </a:prstGeom>
          <a:solidFill>
            <a:schemeClr val="accent4">
              <a:alpha val="100000"/>
            </a:schemeClr>
          </a:solidFill>
        </p:spPr>
      </p:sp>
      <p:sp>
        <p:nvSpPr>
          <p:cNvPr id="5" name="AutoShape 5"/>
          <p:cNvSpPr/>
          <p:nvPr/>
        </p:nvSpPr>
        <p:spPr>
          <a:xfrm rot="5400000">
            <a:off x="10716724" y="5183766"/>
            <a:ext cx="1439995" cy="558100"/>
          </a:xfrm>
          <a:prstGeom prst="triangle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353489" y="4742813"/>
            <a:ext cx="2700000" cy="1439997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3053489" y="4742813"/>
            <a:ext cx="2700000" cy="1439997"/>
          </a:xfrm>
          <a:prstGeom prst="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5743389" y="4742813"/>
            <a:ext cx="2700000" cy="1439997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9" name="TextBox 9"/>
          <p:cNvSpPr txBox="1"/>
          <p:nvPr>
            <p:custDataLst>
              <p:tags r:id="rId6"/>
            </p:custDataLst>
          </p:nvPr>
        </p:nvSpPr>
        <p:spPr>
          <a:xfrm>
            <a:off x="650861" y="5398899"/>
            <a:ext cx="2049780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BF8F8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优化用户运营体系，客户留存率提升至75%，产品故障率降至0.5%以下</a:t>
            </a:r>
            <a:endParaRPr lang="en-US" sz="1000">
              <a:solidFill>
                <a:srgbClr val="FBF8F8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700278" y="5004721"/>
            <a:ext cx="2002631" cy="328136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11" name="TextBox 11"/>
          <p:cNvSpPr txBox="1"/>
          <p:nvPr>
            <p:custDataLst>
              <p:tags r:id="rId8"/>
            </p:custDataLst>
          </p:nvPr>
        </p:nvSpPr>
        <p:spPr>
          <a:xfrm>
            <a:off x="1075658" y="5082445"/>
            <a:ext cx="1546098" cy="1846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精耕细作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747998" y="5043107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13" name="Freeform 13"/>
          <p:cNvSpPr/>
          <p:nvPr>
            <p:custDataLst>
              <p:tags r:id="rId10"/>
            </p:custDataLst>
          </p:nvPr>
        </p:nvSpPr>
        <p:spPr>
          <a:xfrm rot="2700000">
            <a:off x="843725" y="509492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4" name="TextBox 14"/>
          <p:cNvSpPr txBox="1"/>
          <p:nvPr>
            <p:custDataLst>
              <p:tags r:id="rId11"/>
            </p:custDataLst>
          </p:nvPr>
        </p:nvSpPr>
        <p:spPr>
          <a:xfrm>
            <a:off x="5935783" y="5398899"/>
            <a:ext cx="2049780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DFAFA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研发掌静脉识别技术，探索无感通行解决方案，构建家居安全中台</a:t>
            </a:r>
            <a:endParaRPr lang="en-US" sz="1000">
              <a:solidFill>
                <a:srgbClr val="FDFAFA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5" name="TextBox 15"/>
          <p:cNvSpPr txBox="1"/>
          <p:nvPr>
            <p:custDataLst>
              <p:tags r:id="rId12"/>
            </p:custDataLst>
          </p:nvPr>
        </p:nvSpPr>
        <p:spPr>
          <a:xfrm>
            <a:off x="3316569" y="5398899"/>
            <a:ext cx="2049780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9F6F6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布局海外市场及商用领域，开发3D结构光技术，建立AI安全防护体系</a:t>
            </a:r>
            <a:endParaRPr lang="en-US" sz="1000">
              <a:solidFill>
                <a:srgbClr val="F9F6F6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6" name="TextBox 16"/>
          <p:cNvSpPr txBox="1"/>
          <p:nvPr>
            <p:custDataLst>
              <p:tags r:id="rId13"/>
            </p:custDataLst>
          </p:nvPr>
        </p:nvSpPr>
        <p:spPr>
          <a:xfrm>
            <a:off x="8643249" y="5398899"/>
            <a:ext cx="1964055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BF8F8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形成完整智能安防生态链，专利储备超500项，年营收突破50亿元</a:t>
            </a:r>
            <a:endParaRPr lang="en-US" sz="1000">
              <a:solidFill>
                <a:srgbClr val="FBF8F8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537123" y="1802150"/>
            <a:ext cx="253043" cy="253043"/>
          </a:xfrm>
          <a:custGeom>
            <a:avLst/>
            <a:gdLst/>
            <a:ahLst/>
            <a:cxnLst/>
            <a:rect l="l" t="t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</a:path>
              <a:path w="64" h="64"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</a:path>
              <a:path w="64" h="64"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</a:path>
              <a:path w="64" h="64"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</a:path>
              <a:path w="64" h="64"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</a:path>
              <a:path w="64" h="64"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</a:path>
              <a:path w="64" h="64"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</a:path>
              <a:path w="64" h="64"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8" name="Freeform 18"/>
          <p:cNvSpPr/>
          <p:nvPr/>
        </p:nvSpPr>
        <p:spPr>
          <a:xfrm>
            <a:off x="489918" y="4159360"/>
            <a:ext cx="251221" cy="225735"/>
          </a:xfrm>
          <a:custGeom>
            <a:avLst/>
            <a:gdLst/>
            <a:ahLst/>
            <a:cxnLst/>
            <a:rect l="l" t="t" r="r" b="b"/>
            <a:pathLst>
              <a:path w="64" h="57">
                <a:moveTo>
                  <a:pt x="23" y="39"/>
                </a:moveTo>
                <a:cubicBezTo>
                  <a:pt x="23" y="40"/>
                  <a:pt x="22" y="41"/>
                  <a:pt x="21" y="41"/>
                </a:cubicBezTo>
                <a:cubicBezTo>
                  <a:pt x="21" y="41"/>
                  <a:pt x="21" y="41"/>
                  <a:pt x="20" y="41"/>
                </a:cubicBezTo>
                <a:cubicBezTo>
                  <a:pt x="20" y="41"/>
                  <a:pt x="19" y="41"/>
                  <a:pt x="19" y="40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0" y="20"/>
                  <a:pt x="0" y="19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0"/>
                  <a:pt x="20" y="0"/>
                  <a:pt x="21" y="0"/>
                </a:cubicBezTo>
                <a:cubicBezTo>
                  <a:pt x="22" y="1"/>
                  <a:pt x="23" y="1"/>
                  <a:pt x="23" y="2"/>
                </a:cubicBezTo>
                <a:cubicBezTo>
                  <a:pt x="23" y="5"/>
                  <a:pt x="23" y="5"/>
                  <a:pt x="23" y="5"/>
                </a:cubicBezTo>
                <a:cubicBezTo>
                  <a:pt x="8" y="19"/>
                  <a:pt x="8" y="19"/>
                  <a:pt x="8" y="19"/>
                </a:cubicBezTo>
                <a:cubicBezTo>
                  <a:pt x="8" y="20"/>
                  <a:pt x="8" y="21"/>
                  <a:pt x="8" y="22"/>
                </a:cubicBezTo>
                <a:cubicBezTo>
                  <a:pt x="23" y="36"/>
                  <a:pt x="23" y="36"/>
                  <a:pt x="23" y="36"/>
                </a:cubicBezTo>
                <a:lnTo>
                  <a:pt x="23" y="39"/>
                </a:lnTo>
                <a:close/>
              </a:path>
              <a:path w="64" h="57">
                <a:moveTo>
                  <a:pt x="58" y="57"/>
                </a:moveTo>
                <a:cubicBezTo>
                  <a:pt x="58" y="57"/>
                  <a:pt x="57" y="57"/>
                  <a:pt x="57" y="57"/>
                </a:cubicBezTo>
                <a:cubicBezTo>
                  <a:pt x="57" y="57"/>
                  <a:pt x="57" y="57"/>
                  <a:pt x="57" y="57"/>
                </a:cubicBezTo>
                <a:cubicBezTo>
                  <a:pt x="56" y="57"/>
                  <a:pt x="56" y="56"/>
                  <a:pt x="56" y="56"/>
                </a:cubicBezTo>
                <a:cubicBezTo>
                  <a:pt x="57" y="46"/>
                  <a:pt x="56" y="40"/>
                  <a:pt x="52" y="36"/>
                </a:cubicBezTo>
                <a:cubicBezTo>
                  <a:pt x="49" y="32"/>
                  <a:pt x="44" y="31"/>
                  <a:pt x="36" y="3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1"/>
                  <a:pt x="35" y="41"/>
                </a:cubicBezTo>
                <a:cubicBezTo>
                  <a:pt x="35" y="41"/>
                  <a:pt x="34" y="41"/>
                  <a:pt x="34" y="41"/>
                </a:cubicBezTo>
                <a:cubicBezTo>
                  <a:pt x="33" y="41"/>
                  <a:pt x="33" y="41"/>
                  <a:pt x="32" y="40"/>
                </a:cubicBezTo>
                <a:cubicBezTo>
                  <a:pt x="14" y="22"/>
                  <a:pt x="14" y="22"/>
                  <a:pt x="14" y="22"/>
                </a:cubicBezTo>
                <a:cubicBezTo>
                  <a:pt x="13" y="21"/>
                  <a:pt x="13" y="20"/>
                  <a:pt x="14" y="19"/>
                </a:cubicBezTo>
                <a:cubicBezTo>
                  <a:pt x="32" y="1"/>
                  <a:pt x="32" y="1"/>
                  <a:pt x="32" y="1"/>
                </a:cubicBezTo>
                <a:cubicBezTo>
                  <a:pt x="33" y="0"/>
                  <a:pt x="34" y="0"/>
                  <a:pt x="35" y="0"/>
                </a:cubicBezTo>
                <a:cubicBezTo>
                  <a:pt x="36" y="1"/>
                  <a:pt x="36" y="1"/>
                  <a:pt x="36" y="2"/>
                </a:cubicBezTo>
                <a:cubicBezTo>
                  <a:pt x="36" y="12"/>
                  <a:pt x="36" y="12"/>
                  <a:pt x="36" y="12"/>
                </a:cubicBezTo>
                <a:cubicBezTo>
                  <a:pt x="46" y="12"/>
                  <a:pt x="53" y="15"/>
                  <a:pt x="58" y="20"/>
                </a:cubicBezTo>
                <a:cubicBezTo>
                  <a:pt x="63" y="25"/>
                  <a:pt x="64" y="33"/>
                  <a:pt x="64" y="38"/>
                </a:cubicBezTo>
                <a:cubicBezTo>
                  <a:pt x="64" y="45"/>
                  <a:pt x="58" y="56"/>
                  <a:pt x="58" y="57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9" name="Freeform 19"/>
          <p:cNvSpPr/>
          <p:nvPr/>
        </p:nvSpPr>
        <p:spPr>
          <a:xfrm>
            <a:off x="365433" y="3590108"/>
            <a:ext cx="10223060" cy="1008000"/>
          </a:xfrm>
          <a:custGeom>
            <a:avLst/>
            <a:gdLst/>
            <a:ahLst/>
            <a:cxnLst/>
            <a:rect l="l" t="t" r="r" b="b"/>
            <a:pathLst>
              <a:path w="10223060" h="1008000">
                <a:moveTo>
                  <a:pt x="0" y="0"/>
                </a:moveTo>
                <a:lnTo>
                  <a:pt x="9784687" y="0"/>
                </a:lnTo>
                <a:lnTo>
                  <a:pt x="10223060" y="504000"/>
                </a:lnTo>
                <a:lnTo>
                  <a:pt x="9784687" y="1008000"/>
                </a:lnTo>
                <a:lnTo>
                  <a:pt x="0" y="1008000"/>
                </a:lnTo>
                <a:lnTo>
                  <a:pt x="0" y="0"/>
                </a:ln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20" name="Freeform 20"/>
          <p:cNvSpPr/>
          <p:nvPr/>
        </p:nvSpPr>
        <p:spPr>
          <a:xfrm>
            <a:off x="353489" y="2413198"/>
            <a:ext cx="9088228" cy="1008000"/>
          </a:xfrm>
          <a:custGeom>
            <a:avLst/>
            <a:gdLst/>
            <a:ahLst/>
            <a:cxnLst/>
            <a:rect l="l" t="t" r="r" b="b"/>
            <a:pathLst>
              <a:path w="9088228" h="1008000">
                <a:moveTo>
                  <a:pt x="0" y="0"/>
                </a:moveTo>
                <a:lnTo>
                  <a:pt x="8649855" y="0"/>
                </a:lnTo>
                <a:lnTo>
                  <a:pt x="9088228" y="504000"/>
                </a:lnTo>
                <a:lnTo>
                  <a:pt x="8649855" y="1008000"/>
                </a:lnTo>
                <a:lnTo>
                  <a:pt x="0" y="1008000"/>
                </a:lnTo>
                <a:lnTo>
                  <a:pt x="0" y="0"/>
                </a:ln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21" name="Freeform 21"/>
          <p:cNvSpPr/>
          <p:nvPr/>
        </p:nvSpPr>
        <p:spPr>
          <a:xfrm>
            <a:off x="360337" y="1284698"/>
            <a:ext cx="8083052" cy="1008000"/>
          </a:xfrm>
          <a:custGeom>
            <a:avLst/>
            <a:gdLst/>
            <a:ahLst/>
            <a:cxnLst/>
            <a:rect l="l" t="t" r="r" b="b"/>
            <a:pathLst>
              <a:path w="8083052" h="1008000">
                <a:moveTo>
                  <a:pt x="0" y="0"/>
                </a:moveTo>
                <a:lnTo>
                  <a:pt x="7644679" y="0"/>
                </a:lnTo>
                <a:lnTo>
                  <a:pt x="8083052" y="504000"/>
                </a:lnTo>
                <a:lnTo>
                  <a:pt x="7644679" y="1008000"/>
                </a:lnTo>
                <a:lnTo>
                  <a:pt x="0" y="1008000"/>
                </a:lnTo>
                <a:lnTo>
                  <a:pt x="0" y="0"/>
                </a:ln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22" name="TextBox 22"/>
          <p:cNvSpPr txBox="1"/>
          <p:nvPr/>
        </p:nvSpPr>
        <p:spPr>
          <a:xfrm flipH="1">
            <a:off x="747639" y="3763768"/>
            <a:ext cx="11811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生态爆发</a:t>
            </a:r>
            <a:endParaRPr lang="en-US" sz="15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56260" y="4133078"/>
            <a:ext cx="6088380" cy="266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接入主流智能家居平台，推出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AIoT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套装产品，年销量增长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80%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，建立云服务平台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4" name="TextBox 24"/>
          <p:cNvSpPr txBox="1"/>
          <p:nvPr/>
        </p:nvSpPr>
        <p:spPr>
          <a:xfrm flipH="1">
            <a:off x="747639" y="2641550"/>
            <a:ext cx="11811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市场扩张</a:t>
            </a:r>
            <a:endParaRPr lang="en-US" sz="15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56260" y="2917198"/>
            <a:ext cx="6088380" cy="4533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实现全国300城渠道覆盖，推出5款SKU，市占率达15%，建立500家线下体验店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6" name="TextBox 26"/>
          <p:cNvSpPr txBox="1"/>
          <p:nvPr/>
        </p:nvSpPr>
        <p:spPr>
          <a:xfrm flipH="1">
            <a:off x="747639" y="1477768"/>
            <a:ext cx="11811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技术筑基</a:t>
            </a:r>
            <a:endParaRPr lang="en-US" sz="15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56260" y="1847079"/>
            <a:ext cx="6088380" cy="266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完成生物识别算法优化与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NB-IoT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模组研发，建立供应链体系，年产能突破200万台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10944580" y="1318293"/>
            <a:ext cx="901817" cy="9018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0573" y="8675"/>
                </a:moveTo>
                <a:cubicBezTo>
                  <a:pt x="19576" y="7884"/>
                  <a:pt x="19068" y="6656"/>
                  <a:pt x="19213" y="5391"/>
                </a:cubicBezTo>
                <a:cubicBezTo>
                  <a:pt x="19309" y="4564"/>
                  <a:pt x="19026" y="3752"/>
                  <a:pt x="18437" y="3163"/>
                </a:cubicBezTo>
                <a:cubicBezTo>
                  <a:pt x="17848" y="2574"/>
                  <a:pt x="17036" y="2291"/>
                  <a:pt x="16208" y="2387"/>
                </a:cubicBezTo>
                <a:cubicBezTo>
                  <a:pt x="14943" y="2532"/>
                  <a:pt x="13716" y="2024"/>
                  <a:pt x="12925" y="1027"/>
                </a:cubicBezTo>
                <a:cubicBezTo>
                  <a:pt x="12407" y="374"/>
                  <a:pt x="11633" y="0"/>
                  <a:pt x="10800" y="0"/>
                </a:cubicBezTo>
                <a:cubicBezTo>
                  <a:pt x="9967" y="0"/>
                  <a:pt x="9193" y="374"/>
                  <a:pt x="8675" y="1027"/>
                </a:cubicBezTo>
                <a:cubicBezTo>
                  <a:pt x="7884" y="2024"/>
                  <a:pt x="6657" y="2532"/>
                  <a:pt x="5392" y="2387"/>
                </a:cubicBezTo>
                <a:cubicBezTo>
                  <a:pt x="4564" y="2291"/>
                  <a:pt x="3752" y="2574"/>
                  <a:pt x="3163" y="3163"/>
                </a:cubicBezTo>
                <a:cubicBezTo>
                  <a:pt x="2574" y="3752"/>
                  <a:pt x="2291" y="4564"/>
                  <a:pt x="2387" y="5392"/>
                </a:cubicBezTo>
                <a:cubicBezTo>
                  <a:pt x="2532" y="6656"/>
                  <a:pt x="2024" y="7884"/>
                  <a:pt x="1026" y="8675"/>
                </a:cubicBezTo>
                <a:cubicBezTo>
                  <a:pt x="374" y="9193"/>
                  <a:pt x="0" y="9967"/>
                  <a:pt x="0" y="10800"/>
                </a:cubicBezTo>
                <a:cubicBezTo>
                  <a:pt x="0" y="11633"/>
                  <a:pt x="374" y="12407"/>
                  <a:pt x="1026" y="12925"/>
                </a:cubicBezTo>
                <a:cubicBezTo>
                  <a:pt x="2024" y="13716"/>
                  <a:pt x="2532" y="14944"/>
                  <a:pt x="2387" y="16209"/>
                </a:cubicBezTo>
                <a:cubicBezTo>
                  <a:pt x="2291" y="17036"/>
                  <a:pt x="2574" y="17848"/>
                  <a:pt x="3163" y="18437"/>
                </a:cubicBezTo>
                <a:cubicBezTo>
                  <a:pt x="3752" y="19026"/>
                  <a:pt x="4565" y="19309"/>
                  <a:pt x="5392" y="19213"/>
                </a:cubicBezTo>
                <a:cubicBezTo>
                  <a:pt x="6656" y="19068"/>
                  <a:pt x="7884" y="19576"/>
                  <a:pt x="8675" y="20573"/>
                </a:cubicBezTo>
                <a:cubicBezTo>
                  <a:pt x="9193" y="21226"/>
                  <a:pt x="9967" y="21600"/>
                  <a:pt x="10800" y="21600"/>
                </a:cubicBezTo>
                <a:cubicBezTo>
                  <a:pt x="11633" y="21600"/>
                  <a:pt x="12407" y="21226"/>
                  <a:pt x="12925" y="20573"/>
                </a:cubicBezTo>
                <a:cubicBezTo>
                  <a:pt x="13716" y="19576"/>
                  <a:pt x="14943" y="19068"/>
                  <a:pt x="16208" y="19213"/>
                </a:cubicBezTo>
                <a:cubicBezTo>
                  <a:pt x="17036" y="19308"/>
                  <a:pt x="17848" y="19026"/>
                  <a:pt x="18437" y="18437"/>
                </a:cubicBezTo>
                <a:cubicBezTo>
                  <a:pt x="19026" y="17848"/>
                  <a:pt x="19309" y="17036"/>
                  <a:pt x="19213" y="16208"/>
                </a:cubicBezTo>
                <a:cubicBezTo>
                  <a:pt x="19068" y="14944"/>
                  <a:pt x="19576" y="13716"/>
                  <a:pt x="20574" y="12925"/>
                </a:cubicBezTo>
                <a:cubicBezTo>
                  <a:pt x="21226" y="12407"/>
                  <a:pt x="21600" y="11633"/>
                  <a:pt x="21600" y="10800"/>
                </a:cubicBezTo>
                <a:cubicBezTo>
                  <a:pt x="21600" y="9967"/>
                  <a:pt x="21226" y="9193"/>
                  <a:pt x="20573" y="8675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>
            <a:off x="9835867" y="2505758"/>
            <a:ext cx="2033849" cy="5790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智能门锁未来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3-5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年技术路线与市场拓展规划，涵盖产品迭代、渠道建设及生态布局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8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未来发展规划</a:t>
            </a:r>
            <a:endParaRPr lang="en-US" sz="28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11172223" y="1604671"/>
            <a:ext cx="425254" cy="3309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1518" y="97841"/>
                </a:moveTo>
                <a:cubicBezTo>
                  <a:pt x="249460" y="74143"/>
                  <a:pt x="230657" y="55340"/>
                  <a:pt x="207655" y="43605"/>
                </a:cubicBezTo>
                <a:lnTo>
                  <a:pt x="206959" y="43282"/>
                </a:lnTo>
                <a:lnTo>
                  <a:pt x="186538" y="84277"/>
                </a:lnTo>
                <a:cubicBezTo>
                  <a:pt x="201292" y="91802"/>
                  <a:pt x="212998" y="103508"/>
                  <a:pt x="220323" y="117834"/>
                </a:cubicBezTo>
                <a:lnTo>
                  <a:pt x="220523" y="118262"/>
                </a:lnTo>
                <a:lnTo>
                  <a:pt x="261518" y="97841"/>
                </a:lnTo>
                <a:close/>
              </a:path>
              <a:path w="304800" h="304800">
                <a:moveTo>
                  <a:pt x="261518" y="206959"/>
                </a:moveTo>
                <a:lnTo>
                  <a:pt x="220523" y="186538"/>
                </a:lnTo>
                <a:cubicBezTo>
                  <a:pt x="212998" y="201292"/>
                  <a:pt x="201292" y="212998"/>
                  <a:pt x="186966" y="220323"/>
                </a:cubicBezTo>
                <a:lnTo>
                  <a:pt x="186538" y="220523"/>
                </a:lnTo>
                <a:lnTo>
                  <a:pt x="206959" y="261518"/>
                </a:lnTo>
                <a:cubicBezTo>
                  <a:pt x="230657" y="249460"/>
                  <a:pt x="249460" y="230657"/>
                  <a:pt x="261195" y="207655"/>
                </a:cubicBezTo>
                <a:lnTo>
                  <a:pt x="261518" y="206959"/>
                </a:lnTo>
                <a:close/>
              </a:path>
              <a:path w="304800" h="304800">
                <a:moveTo>
                  <a:pt x="97841" y="43282"/>
                </a:moveTo>
                <a:cubicBezTo>
                  <a:pt x="74143" y="55340"/>
                  <a:pt x="55340" y="74143"/>
                  <a:pt x="43605" y="97145"/>
                </a:cubicBezTo>
                <a:lnTo>
                  <a:pt x="43282" y="97841"/>
                </a:lnTo>
                <a:lnTo>
                  <a:pt x="84277" y="118262"/>
                </a:lnTo>
                <a:cubicBezTo>
                  <a:pt x="91802" y="103508"/>
                  <a:pt x="103508" y="91802"/>
                  <a:pt x="117834" y="84477"/>
                </a:cubicBezTo>
                <a:lnTo>
                  <a:pt x="118262" y="84277"/>
                </a:lnTo>
                <a:lnTo>
                  <a:pt x="97841" y="43282"/>
                </a:lnTo>
                <a:close/>
              </a:path>
              <a:path w="304800" h="304800">
                <a:moveTo>
                  <a:pt x="43282" y="206959"/>
                </a:moveTo>
                <a:cubicBezTo>
                  <a:pt x="55340" y="230657"/>
                  <a:pt x="74143" y="249460"/>
                  <a:pt x="97145" y="261195"/>
                </a:cubicBezTo>
                <a:lnTo>
                  <a:pt x="97841" y="261518"/>
                </a:lnTo>
                <a:lnTo>
                  <a:pt x="118262" y="220523"/>
                </a:lnTo>
                <a:cubicBezTo>
                  <a:pt x="103508" y="212998"/>
                  <a:pt x="91802" y="201292"/>
                  <a:pt x="84477" y="186966"/>
                </a:cubicBezTo>
                <a:lnTo>
                  <a:pt x="84277" y="186538"/>
                </a:lnTo>
                <a:lnTo>
                  <a:pt x="43282" y="206959"/>
                </a:lnTo>
                <a:close/>
              </a:path>
              <a:path w="304800" h="304800">
                <a:moveTo>
                  <a:pt x="152400" y="304800"/>
                </a:moveTo>
                <a:cubicBezTo>
                  <a:pt x="68228" y="304800"/>
                  <a:pt x="0" y="236572"/>
                  <a:pt x="0" y="152400"/>
                </a:cubicBezTo>
                <a:cubicBezTo>
                  <a:pt x="0" y="68228"/>
                  <a:pt x="68228" y="0"/>
                  <a:pt x="152400" y="0"/>
                </a:cubicBezTo>
                <a:lnTo>
                  <a:pt x="152400" y="0"/>
                </a:lnTo>
                <a:cubicBezTo>
                  <a:pt x="236572" y="0"/>
                  <a:pt x="304800" y="68228"/>
                  <a:pt x="304800" y="152400"/>
                </a:cubicBezTo>
                <a:cubicBezTo>
                  <a:pt x="304800" y="236572"/>
                  <a:pt x="236572" y="304800"/>
                  <a:pt x="152400" y="304800"/>
                </a:cubicBezTo>
                <a:lnTo>
                  <a:pt x="152400" y="304800"/>
                </a:lnTo>
                <a:close/>
              </a:path>
              <a:path w="304800" h="304800">
                <a:moveTo>
                  <a:pt x="152400" y="198120"/>
                </a:moveTo>
                <a:cubicBezTo>
                  <a:pt x="177651" y="198120"/>
                  <a:pt x="198120" y="177651"/>
                  <a:pt x="198120" y="152400"/>
                </a:cubicBezTo>
                <a:cubicBezTo>
                  <a:pt x="198120" y="127149"/>
                  <a:pt x="177651" y="106680"/>
                  <a:pt x="152400" y="106680"/>
                </a:cubicBezTo>
                <a:lnTo>
                  <a:pt x="152400" y="106680"/>
                </a:lnTo>
                <a:cubicBezTo>
                  <a:pt x="127149" y="106680"/>
                  <a:pt x="106680" y="127149"/>
                  <a:pt x="106680" y="152400"/>
                </a:cubicBezTo>
                <a:cubicBezTo>
                  <a:pt x="106680" y="177651"/>
                  <a:pt x="127149" y="198120"/>
                  <a:pt x="152400" y="198120"/>
                </a:cubicBezTo>
                <a:lnTo>
                  <a:pt x="152400" y="198120"/>
                </a:lnTo>
              </a:path>
            </a:pathLst>
          </a:custGeom>
          <a:solidFill>
            <a:srgbClr val="F7F7F9">
              <a:alpha val="100000"/>
            </a:srgbClr>
          </a:solidFill>
        </p:spPr>
      </p:sp>
      <p:sp>
        <p:nvSpPr>
          <p:cNvPr id="32" name="Freeform 32"/>
          <p:cNvSpPr/>
          <p:nvPr/>
        </p:nvSpPr>
        <p:spPr>
          <a:xfrm>
            <a:off x="9776292" y="3942287"/>
            <a:ext cx="350926" cy="35092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33" name="Freeform 33"/>
          <p:cNvSpPr/>
          <p:nvPr/>
        </p:nvSpPr>
        <p:spPr>
          <a:xfrm>
            <a:off x="8643249" y="2725187"/>
            <a:ext cx="348943" cy="38402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304800" y="152400"/>
                </a:lnTo>
                <a:lnTo>
                  <a:pt x="152400" y="304800"/>
                </a:lnTo>
                <a:lnTo>
                  <a:pt x="0" y="152400"/>
                </a:lnTo>
                <a:lnTo>
                  <a:pt x="152400" y="0"/>
                </a:lnTo>
                <a:close/>
              </a:path>
              <a:path w="304800" h="304800">
                <a:moveTo>
                  <a:pt x="91440" y="152400"/>
                </a:moveTo>
                <a:lnTo>
                  <a:pt x="91440" y="198120"/>
                </a:lnTo>
                <a:lnTo>
                  <a:pt x="121920" y="198120"/>
                </a:lnTo>
                <a:lnTo>
                  <a:pt x="121920" y="152400"/>
                </a:lnTo>
                <a:lnTo>
                  <a:pt x="167640" y="152400"/>
                </a:lnTo>
                <a:lnTo>
                  <a:pt x="167640" y="198120"/>
                </a:lnTo>
                <a:lnTo>
                  <a:pt x="228600" y="137160"/>
                </a:lnTo>
                <a:lnTo>
                  <a:pt x="167640" y="76200"/>
                </a:lnTo>
                <a:lnTo>
                  <a:pt x="167640" y="121920"/>
                </a:lnTo>
                <a:lnTo>
                  <a:pt x="121920" y="121920"/>
                </a:lnTo>
                <a:cubicBezTo>
                  <a:pt x="105089" y="121920"/>
                  <a:pt x="91440" y="135569"/>
                  <a:pt x="91440" y="152400"/>
                </a:cubicBezTo>
                <a:lnTo>
                  <a:pt x="91440" y="1524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34" name="Freeform 34"/>
          <p:cNvSpPr/>
          <p:nvPr>
            <p:custDataLst>
              <p:tags r:id="rId14"/>
            </p:custDataLst>
          </p:nvPr>
        </p:nvSpPr>
        <p:spPr>
          <a:xfrm>
            <a:off x="11012428" y="5303016"/>
            <a:ext cx="319591" cy="31959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35" name="Freeform 35"/>
          <p:cNvSpPr/>
          <p:nvPr/>
        </p:nvSpPr>
        <p:spPr>
          <a:xfrm>
            <a:off x="7634637" y="1584699"/>
            <a:ext cx="350926" cy="35092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36" name="TextBox 36"/>
          <p:cNvSpPr txBox="1"/>
          <p:nvPr>
            <p:custDataLst>
              <p:tags r:id="rId15"/>
            </p:custDataLst>
          </p:nvPr>
        </p:nvSpPr>
        <p:spPr>
          <a:xfrm>
            <a:off x="3741420" y="5082445"/>
            <a:ext cx="1546098" cy="1846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战略转型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7" name="AutoShape 37"/>
          <p:cNvSpPr/>
          <p:nvPr>
            <p:custDataLst>
              <p:tags r:id="rId16"/>
            </p:custDataLst>
          </p:nvPr>
        </p:nvSpPr>
        <p:spPr>
          <a:xfrm>
            <a:off x="3420510" y="5061871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38" name="Freeform 38"/>
          <p:cNvSpPr/>
          <p:nvPr>
            <p:custDataLst>
              <p:tags r:id="rId17"/>
            </p:custDataLst>
          </p:nvPr>
        </p:nvSpPr>
        <p:spPr>
          <a:xfrm rot="2700000">
            <a:off x="3509486" y="511397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2">
                <a:alpha val="100000"/>
              </a:schemeClr>
            </a:solidFill>
            <a:prstDash val="solid"/>
          </a:ln>
        </p:spPr>
      </p:sp>
      <p:sp>
        <p:nvSpPr>
          <p:cNvPr id="39" name="TextBox 39"/>
          <p:cNvSpPr txBox="1"/>
          <p:nvPr>
            <p:custDataLst>
              <p:tags r:id="rId18"/>
            </p:custDataLst>
          </p:nvPr>
        </p:nvSpPr>
        <p:spPr>
          <a:xfrm>
            <a:off x="6360605" y="5082445"/>
            <a:ext cx="15430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BFCFD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技术革命</a:t>
            </a:r>
            <a:endParaRPr lang="en-US" sz="1200">
              <a:solidFill>
                <a:srgbClr val="FBFCFD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0" name="AutoShape 40"/>
          <p:cNvSpPr/>
          <p:nvPr>
            <p:custDataLst>
              <p:tags r:id="rId19"/>
            </p:custDataLst>
          </p:nvPr>
        </p:nvSpPr>
        <p:spPr>
          <a:xfrm>
            <a:off x="6032945" y="5043107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41" name="Freeform 41"/>
          <p:cNvSpPr/>
          <p:nvPr>
            <p:custDataLst>
              <p:tags r:id="rId20"/>
            </p:custDataLst>
          </p:nvPr>
        </p:nvSpPr>
        <p:spPr>
          <a:xfrm rot="2700000">
            <a:off x="6128671" y="509492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42" name="TextBox 42"/>
          <p:cNvSpPr txBox="1"/>
          <p:nvPr>
            <p:custDataLst>
              <p:tags r:id="rId21"/>
            </p:custDataLst>
          </p:nvPr>
        </p:nvSpPr>
        <p:spPr>
          <a:xfrm>
            <a:off x="9068086" y="5082445"/>
            <a:ext cx="1546098" cy="1846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生态共赢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3" name="AutoShape 43"/>
          <p:cNvSpPr/>
          <p:nvPr>
            <p:custDataLst>
              <p:tags r:id="rId22"/>
            </p:custDataLst>
          </p:nvPr>
        </p:nvSpPr>
        <p:spPr>
          <a:xfrm>
            <a:off x="8744081" y="5052917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44" name="Freeform 44"/>
          <p:cNvSpPr/>
          <p:nvPr>
            <p:custDataLst>
              <p:tags r:id="rId23"/>
            </p:custDataLst>
          </p:nvPr>
        </p:nvSpPr>
        <p:spPr>
          <a:xfrm rot="2700000">
            <a:off x="8836152" y="509492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4">
                <a:alpha val="100000"/>
              </a:schemeClr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AutoShape 20"/>
          <p:cNvSpPr/>
          <p:nvPr/>
        </p:nvSpPr>
        <p:spPr>
          <a:xfrm>
            <a:off x="8727464" y="550447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" name="Freeform 2"/>
          <p:cNvSpPr/>
          <p:nvPr/>
        </p:nvSpPr>
        <p:spPr>
          <a:xfrm rot="5400000" flipH="1">
            <a:off x="3449955" y="2133029"/>
            <a:ext cx="3245644" cy="3385185"/>
          </a:xfrm>
          <a:custGeom>
            <a:avLst/>
            <a:gdLst/>
            <a:ahLst/>
            <a:cxnLst/>
            <a:rect l="l" t="t" r="r" b="b"/>
            <a:pathLst>
              <a:path w="3402972" h="3183330">
                <a:moveTo>
                  <a:pt x="3402972" y="2951292"/>
                </a:moveTo>
                <a:lnTo>
                  <a:pt x="3401339" y="2946878"/>
                </a:lnTo>
                <a:lnTo>
                  <a:pt x="3401913" y="2946879"/>
                </a:lnTo>
                <a:lnTo>
                  <a:pt x="3400314" y="2944104"/>
                </a:lnTo>
                <a:lnTo>
                  <a:pt x="3394198" y="2927568"/>
                </a:lnTo>
                <a:lnTo>
                  <a:pt x="3387149" y="2921261"/>
                </a:lnTo>
                <a:lnTo>
                  <a:pt x="1703616" y="0"/>
                </a:lnTo>
                <a:lnTo>
                  <a:pt x="0" y="2937942"/>
                </a:lnTo>
                <a:lnTo>
                  <a:pt x="9186" y="2937966"/>
                </a:lnTo>
                <a:lnTo>
                  <a:pt x="4258" y="2951292"/>
                </a:lnTo>
                <a:cubicBezTo>
                  <a:pt x="4258" y="3079443"/>
                  <a:pt x="765086" y="3183330"/>
                  <a:pt x="1703615" y="3183330"/>
                </a:cubicBezTo>
                <a:cubicBezTo>
                  <a:pt x="2642144" y="3183330"/>
                  <a:pt x="3402972" y="3079443"/>
                  <a:pt x="3402972" y="2951292"/>
                </a:cubicBezTo>
              </a:path>
            </a:pathLst>
          </a:custGeom>
          <a:gradFill>
            <a:gsLst>
              <a:gs pos="10000">
                <a:schemeClr val="lt1">
                  <a:alpha val="100000"/>
                </a:schemeClr>
              </a:gs>
              <a:gs pos="38000">
                <a:schemeClr val="accent1">
                  <a:alpha val="100000"/>
                </a:schemeClr>
              </a:gs>
            </a:gsLst>
            <a:lin ang="16140000"/>
          </a:gradFill>
        </p:spPr>
      </p:sp>
      <p:sp>
        <p:nvSpPr>
          <p:cNvPr id="3" name="Freeform 3"/>
          <p:cNvSpPr/>
          <p:nvPr/>
        </p:nvSpPr>
        <p:spPr>
          <a:xfrm>
            <a:off x="5640419" y="1926050"/>
            <a:ext cx="2928938" cy="3799237"/>
          </a:xfrm>
          <a:custGeom>
            <a:avLst/>
            <a:gdLst/>
            <a:ahLst/>
            <a:cxnLst/>
            <a:rect l="l" t="t" r="r" b="b"/>
            <a:pathLst>
              <a:path w="3183330" h="3402972">
                <a:moveTo>
                  <a:pt x="2951292" y="0"/>
                </a:moveTo>
                <a:cubicBezTo>
                  <a:pt x="3079443" y="0"/>
                  <a:pt x="3183330" y="760828"/>
                  <a:pt x="3183330" y="1699357"/>
                </a:cubicBezTo>
                <a:cubicBezTo>
                  <a:pt x="3183330" y="2637886"/>
                  <a:pt x="3079443" y="3398714"/>
                  <a:pt x="2951292" y="3398714"/>
                </a:cubicBezTo>
                <a:lnTo>
                  <a:pt x="2937966" y="3393786"/>
                </a:lnTo>
                <a:lnTo>
                  <a:pt x="2937942" y="3402972"/>
                </a:lnTo>
                <a:lnTo>
                  <a:pt x="0" y="1699356"/>
                </a:lnTo>
                <a:lnTo>
                  <a:pt x="2921261" y="15823"/>
                </a:lnTo>
                <a:lnTo>
                  <a:pt x="2927568" y="8774"/>
                </a:lnTo>
                <a:lnTo>
                  <a:pt x="2944104" y="2658"/>
                </a:lnTo>
                <a:lnTo>
                  <a:pt x="2946879" y="1059"/>
                </a:lnTo>
                <a:lnTo>
                  <a:pt x="2946878" y="1633"/>
                </a:lnTo>
              </a:path>
            </a:pathLst>
          </a:custGeom>
          <a:gradFill>
            <a:gsLst>
              <a:gs pos="0">
                <a:schemeClr val="l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10800000"/>
          </a:gradFill>
        </p:spPr>
        <p:txBody>
          <a:bodyPr vert="horz" wrap="square" rtlCol="0" anchor="t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flipV="1">
            <a:off x="3460202" y="3842118"/>
            <a:ext cx="3262396" cy="2320470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72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cxnSp>
        <p:nvCxnSpPr>
          <p:cNvPr id="5" name="Connector 5"/>
          <p:cNvCxnSpPr/>
          <p:nvPr/>
        </p:nvCxnSpPr>
        <p:spPr>
          <a:xfrm flipH="1" flipV="1">
            <a:off x="5582919" y="3914924"/>
            <a:ext cx="3144747" cy="2247664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  <a:lumMod val="45000"/>
                    <a:lumOff val="55000"/>
                  </a:schemeClr>
                </a:gs>
                <a:gs pos="66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sp>
        <p:nvSpPr>
          <p:cNvPr id="6" name="TextBox 6"/>
          <p:cNvSpPr txBox="1"/>
          <p:nvPr/>
        </p:nvSpPr>
        <p:spPr>
          <a:xfrm flipH="1">
            <a:off x="4191476" y="1578440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技术突破</a:t>
            </a:r>
            <a:endParaRPr lang="en-US" sz="16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7" name="TextBox 7"/>
          <p:cNvSpPr txBox="1"/>
          <p:nvPr/>
        </p:nvSpPr>
        <p:spPr>
          <a:xfrm flipH="1">
            <a:off x="4191476" y="5634699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体验升级</a:t>
            </a:r>
            <a:endParaRPr lang="en-US" sz="16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191476" y="5858933"/>
            <a:ext cx="3766947" cy="243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900">
                <a:solidFill>
                  <a:schemeClr val="accent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ENHANCE CORE TECH</a:t>
            </a:r>
            <a:endParaRPr lang="en-US" sz="900">
              <a:solidFill>
                <a:schemeClr val="accent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9" name="AutoShape 9"/>
          <p:cNvSpPr/>
          <p:nvPr/>
        </p:nvSpPr>
        <p:spPr>
          <a:xfrm rot="10800000">
            <a:off x="5747076" y="2090189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</p:sp>
      <p:sp>
        <p:nvSpPr>
          <p:cNvPr id="10" name="TextBox 10"/>
          <p:cNvSpPr txBox="1"/>
          <p:nvPr/>
        </p:nvSpPr>
        <p:spPr>
          <a:xfrm>
            <a:off x="4191476" y="1801250"/>
            <a:ext cx="3766947" cy="243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900">
                <a:solidFill>
                  <a:schemeClr val="accent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SOLVE PAIN POINTS</a:t>
            </a:r>
            <a:endParaRPr lang="en-US" sz="900">
              <a:solidFill>
                <a:schemeClr val="accent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747076" y="4434211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</p:sp>
      <p:sp>
        <p:nvSpPr>
          <p:cNvPr id="12" name="AutoShape 12"/>
          <p:cNvSpPr/>
          <p:nvPr/>
        </p:nvSpPr>
        <p:spPr>
          <a:xfrm>
            <a:off x="8763024" y="111382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8763025" y="1117202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14" name="TextBox 14"/>
          <p:cNvSpPr txBox="1"/>
          <p:nvPr/>
        </p:nvSpPr>
        <p:spPr>
          <a:xfrm>
            <a:off x="8879511" y="1572300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升级多光谱传感器，融合3D人脸建模技术，将弱光识别率提升至98%以上。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763024" y="1195544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增强识别算法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05075" y="449609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305076" y="4499472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8" name="TextBox 18"/>
          <p:cNvSpPr txBox="1"/>
          <p:nvPr/>
        </p:nvSpPr>
        <p:spPr>
          <a:xfrm>
            <a:off x="421562" y="4954570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基础功能与竞品差异小，缺乏具有市场竞争力的创新功能设计。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05075" y="4567873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问题4.功能同质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686824" y="446688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1" name="AutoShape 21"/>
          <p:cNvSpPr/>
          <p:nvPr/>
        </p:nvSpPr>
        <p:spPr>
          <a:xfrm>
            <a:off x="8686825" y="4470262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22" name="TextBox 22"/>
          <p:cNvSpPr txBox="1"/>
          <p:nvPr/>
        </p:nvSpPr>
        <p:spPr>
          <a:xfrm>
            <a:off x="8803311" y="4925360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集成居家安全监测系统，新增燃气泄漏预警与紧急联系人联动功能。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686824" y="4548604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开发增值功能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305077" y="222652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5" name="AutoShape 25"/>
          <p:cNvSpPr/>
          <p:nvPr/>
        </p:nvSpPr>
        <p:spPr>
          <a:xfrm>
            <a:off x="305078" y="2226414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26" name="TextBox 26"/>
          <p:cNvSpPr txBox="1"/>
          <p:nvPr/>
        </p:nvSpPr>
        <p:spPr>
          <a:xfrm>
            <a:off x="421564" y="2681512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部分型号电池续航时间未达行业标准，频繁充电增加用户负担。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05075" y="2282190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问题2.续航不足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305077" y="3354326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>
            <a:off x="305078" y="3357704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30" name="TextBox 30"/>
          <p:cNvSpPr txBox="1"/>
          <p:nvPr/>
        </p:nvSpPr>
        <p:spPr>
          <a:xfrm>
            <a:off x="421564" y="3812802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传统机械锁体改造需专业工具，普通用户自主安装成功率不足60%。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05075" y="3426777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问题3.安装复杂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727464" y="222685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3" name="AutoShape 33"/>
          <p:cNvSpPr/>
          <p:nvPr/>
        </p:nvSpPr>
        <p:spPr>
          <a:xfrm>
            <a:off x="8727465" y="2230232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4" name="TextBox 34"/>
          <p:cNvSpPr txBox="1"/>
          <p:nvPr/>
        </p:nvSpPr>
        <p:spPr>
          <a:xfrm>
            <a:off x="8843951" y="2685330"/>
            <a:ext cx="2695575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采用双电池仓设计，支持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Type-C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快充，使续航时间延长至12个月。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727464" y="2308574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改进电源管理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8691904" y="3353057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7" name="AutoShape 37"/>
          <p:cNvSpPr/>
          <p:nvPr/>
        </p:nvSpPr>
        <p:spPr>
          <a:xfrm>
            <a:off x="8691905" y="3356435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8" name="TextBox 38"/>
          <p:cNvSpPr txBox="1"/>
          <p:nvPr/>
        </p:nvSpPr>
        <p:spPr>
          <a:xfrm>
            <a:off x="8808391" y="3811533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开发免工具安装套件，配套AR指导应用，实现用户自主安装率90%+。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691904" y="3434777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简化安装流程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个人心得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356521" y="1124109"/>
            <a:ext cx="3023997" cy="100803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42" name="AutoShape 42"/>
          <p:cNvSpPr/>
          <p:nvPr/>
        </p:nvSpPr>
        <p:spPr>
          <a:xfrm>
            <a:off x="356521" y="1123728"/>
            <a:ext cx="2015966" cy="324041"/>
          </a:xfrm>
          <a:prstGeom prst="rect">
            <a:avLst/>
          </a:prstGeom>
          <a:solidFill>
            <a:schemeClr val="accent1">
              <a:alpha val="100000"/>
            </a:schemeClr>
          </a:solidFill>
          <a:ln w="22225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43" name="TextBox 43"/>
          <p:cNvSpPr txBox="1"/>
          <p:nvPr/>
        </p:nvSpPr>
        <p:spPr>
          <a:xfrm>
            <a:off x="438086" y="1521682"/>
            <a:ext cx="2695575" cy="6000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1.pixso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原型设计软件以及</a:t>
            </a:r>
            <a:r>
              <a:rPr lang="en-US" altLang="zh-CN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UI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设计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软件</a:t>
            </a:r>
            <a:endParaRPr lang="zh-CN" alt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2.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产品原型文档</a:t>
            </a:r>
            <a:endParaRPr lang="zh-CN" alt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3.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组织内部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协同开发</a:t>
            </a:r>
            <a:endParaRPr lang="zh-CN" alt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438425" y="1166178"/>
            <a:ext cx="533400" cy="21526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万佳萌</a:t>
            </a:r>
            <a:endParaRPr lang="zh-CN" alt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45" name="Connector 45"/>
          <p:cNvCxnSpPr/>
          <p:nvPr/>
        </p:nvCxnSpPr>
        <p:spPr>
          <a:xfrm>
            <a:off x="3460202" y="1514912"/>
            <a:ext cx="3280788" cy="2326252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72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cxnSp>
        <p:nvCxnSpPr>
          <p:cNvPr id="46" name="Connector 46"/>
          <p:cNvCxnSpPr/>
          <p:nvPr/>
        </p:nvCxnSpPr>
        <p:spPr>
          <a:xfrm flipH="1">
            <a:off x="5452951" y="1490258"/>
            <a:ext cx="3274715" cy="2355153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  <a:lumMod val="45000"/>
                    <a:lumOff val="55000"/>
                  </a:schemeClr>
                </a:gs>
                <a:gs pos="66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sp>
        <p:nvSpPr>
          <p:cNvPr id="47" name="AutoShape 47"/>
          <p:cNvSpPr/>
          <p:nvPr/>
        </p:nvSpPr>
        <p:spPr>
          <a:xfrm>
            <a:off x="6996303" y="3354229"/>
            <a:ext cx="962120" cy="93326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100"/>
              <a:t>心得体会</a:t>
            </a:r>
            <a:endParaRPr lang="zh-CN" altLang="en-US" sz="1100"/>
          </a:p>
        </p:txBody>
      </p:sp>
      <p:sp>
        <p:nvSpPr>
          <p:cNvPr id="48" name="AutoShape 48"/>
          <p:cNvSpPr/>
          <p:nvPr/>
        </p:nvSpPr>
        <p:spPr>
          <a:xfrm>
            <a:off x="4191476" y="3244787"/>
            <a:ext cx="1077849" cy="11521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  <a:defRPr/>
            </a:pPr>
            <a:r>
              <a:rPr lang="en-US" sz="3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实习成果</a:t>
            </a:r>
            <a:endParaRPr lang="en-US" sz="3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9" name="AutoShape 49"/>
          <p:cNvSpPr/>
          <p:nvPr/>
        </p:nvSpPr>
        <p:spPr>
          <a:xfrm>
            <a:off x="6019991" y="3694366"/>
            <a:ext cx="180880" cy="252031"/>
          </a:xfrm>
          <a:prstGeom prst="chevron">
            <a:avLst/>
          </a:prstGeom>
          <a:solidFill>
            <a:schemeClr val="lt1">
              <a:alpha val="100000"/>
            </a:schemeClr>
          </a:solidFill>
        </p:spPr>
      </p:sp>
      <p:sp>
        <p:nvSpPr>
          <p:cNvPr id="50" name="AutoShape 16"/>
          <p:cNvSpPr/>
          <p:nvPr/>
        </p:nvSpPr>
        <p:spPr>
          <a:xfrm>
            <a:off x="305710" y="571084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51" name="AutoShape 17"/>
          <p:cNvSpPr/>
          <p:nvPr/>
        </p:nvSpPr>
        <p:spPr>
          <a:xfrm>
            <a:off x="305711" y="5714227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52" name="TextBox 18"/>
          <p:cNvSpPr txBox="1"/>
          <p:nvPr/>
        </p:nvSpPr>
        <p:spPr>
          <a:xfrm>
            <a:off x="422197" y="616932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基础功能与竞品差异小，缺乏具有市场竞争力的创新功能设计。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3" name="TextBox 19"/>
          <p:cNvSpPr txBox="1"/>
          <p:nvPr/>
        </p:nvSpPr>
        <p:spPr>
          <a:xfrm>
            <a:off x="305710" y="5782628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问题4.功能同质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54" name="AutoShape 21"/>
          <p:cNvSpPr/>
          <p:nvPr/>
        </p:nvSpPr>
        <p:spPr>
          <a:xfrm>
            <a:off x="8727465" y="548435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55" name="TextBox 22"/>
          <p:cNvSpPr txBox="1"/>
          <p:nvPr/>
        </p:nvSpPr>
        <p:spPr>
          <a:xfrm>
            <a:off x="8843951" y="593945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集成居家安全监测系统，新增燃气泄漏预警与紧急联系人联动功能。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6" name="TextBox 23"/>
          <p:cNvSpPr txBox="1"/>
          <p:nvPr/>
        </p:nvSpPr>
        <p:spPr>
          <a:xfrm>
            <a:off x="8727464" y="556269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开发增值功能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59531" y="3798186"/>
            <a:ext cx="7924800" cy="186690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9225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THANKS</a:t>
            </a:r>
            <a:endParaRPr lang="en-US" sz="9225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75713" y="5506933"/>
            <a:ext cx="10708618" cy="49530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20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感谢观看</a:t>
            </a:r>
            <a:endParaRPr lang="en-US" sz="20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2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3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4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5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6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7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8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9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0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1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2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3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4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5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6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7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8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9.xml><?xml version="1.0" encoding="utf-8"?>
<p:tagLst xmlns:p="http://schemas.openxmlformats.org/presentationml/2006/main">
  <p:tag name="KSO_WM_DIAGRAM_VIRTUALLY_FRAME" val="{&quot;height&quot;:615.5,&quot;left&quot;:66.07204724409448,&quot;top&quot;:102.82503937007873,&quot;width&quot;:960.9529921259843}"/>
</p:tagLst>
</file>

<file path=ppt/tags/tag20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21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22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23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24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25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26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27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28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29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30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31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32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33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34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35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36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37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38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39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0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1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2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3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4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5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6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7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8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9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0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51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52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53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54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55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56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57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58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59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60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61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62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63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64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65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66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67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68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69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70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71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72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73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74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75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76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77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78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79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80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81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82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83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84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85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86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87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88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89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90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91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92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93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94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95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96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97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98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99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0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1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2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3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4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5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6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7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8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9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0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11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12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13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14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15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16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17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18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19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20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21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22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23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24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25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26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27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28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29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30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31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F0F26"/>
      </a:lt1>
      <a:dk2>
        <a:srgbClr val="7DFBFC"/>
      </a:dk2>
      <a:lt2>
        <a:srgbClr val="1C173C"/>
      </a:lt2>
      <a:accent1>
        <a:srgbClr val="45B9BB"/>
      </a:accent1>
      <a:accent2>
        <a:srgbClr val="45B9BB"/>
      </a:accent2>
      <a:accent3>
        <a:srgbClr val="0988C7"/>
      </a:accent3>
      <a:accent4>
        <a:srgbClr val="0988C7"/>
      </a:accent4>
      <a:accent5>
        <a:srgbClr val="0073AC"/>
      </a:accent5>
      <a:accent6>
        <a:srgbClr val="3F5EC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F0F26"/>
      </a:lt1>
      <a:dk2>
        <a:srgbClr val="7DFBFC"/>
      </a:dk2>
      <a:lt2>
        <a:srgbClr val="1C173C"/>
      </a:lt2>
      <a:accent1>
        <a:srgbClr val="45B9BB"/>
      </a:accent1>
      <a:accent2>
        <a:srgbClr val="45B9BB"/>
      </a:accent2>
      <a:accent3>
        <a:srgbClr val="0988C7"/>
      </a:accent3>
      <a:accent4>
        <a:srgbClr val="0988C7"/>
      </a:accent4>
      <a:accent5>
        <a:srgbClr val="0073AC"/>
      </a:accent5>
      <a:accent6>
        <a:srgbClr val="3F5EC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4798</Words>
  <Application>WPS 演示</Application>
  <PresentationFormat>On-screen Show (4:3)</PresentationFormat>
  <Paragraphs>733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9" baseType="lpstr">
      <vt:lpstr>Arial</vt:lpstr>
      <vt:lpstr>宋体</vt:lpstr>
      <vt:lpstr>Wingdings</vt:lpstr>
      <vt:lpstr>Noto Sans SC</vt:lpstr>
      <vt:lpstr>Arial</vt:lpstr>
      <vt:lpstr>OPPOSans M</vt:lpstr>
      <vt:lpstr>AMGDT</vt:lpstr>
      <vt:lpstr>OPPOSans R</vt:lpstr>
      <vt:lpstr>OPPOSans B</vt:lpstr>
      <vt:lpstr>微软雅黑</vt:lpstr>
      <vt:lpstr>Arial Unicode MS</vt:lpstr>
      <vt:lpstr>Calibri</vt:lpstr>
      <vt:lpstr>HarmonyOS Sans SC Medium</vt:lpstr>
      <vt:lpstr>华文琥珀</vt:lpstr>
      <vt:lpstr>Times New Roman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萌萌要躺赢</cp:lastModifiedBy>
  <cp:revision>3</cp:revision>
  <dcterms:created xsi:type="dcterms:W3CDTF">2006-08-16T00:00:00Z</dcterms:created>
  <dcterms:modified xsi:type="dcterms:W3CDTF">2025-07-23T09:36:10Z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D04DEDB4CE884236ABC242C19F1FBFFA_12</vt:lpwstr>
  </property>
  <property fmtid="{D5CDD505-2E9C-101B-9397-08002B2CF9AE}" pid="3" name="KSOProductBuildVer">
    <vt:lpwstr>2052-12.1.0.20784</vt:lpwstr>
  </property>
</Properties>
</file>